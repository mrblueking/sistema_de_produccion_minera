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EBD8-5675-4A8A-B08E-80BD1FCE4AD0}" type="datetimeFigureOut">
              <a:rPr lang="es-ES" smtClean="0"/>
              <a:t>09/06/2026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72978B-283C-4B3B-8C94-38514BD7006C}" type="slidenum">
              <a:rPr lang="es-ES" smtClean="0"/>
              <a:t>‹Nº›</a:t>
            </a:fld>
            <a:endParaRPr lang="es-ES"/>
          </a:p>
        </p:txBody>
      </p:sp>
    </p:spTree>
    <p:extLst>
      <p:ext uri="{BB962C8B-B14F-4D97-AF65-F5344CB8AC3E}">
        <p14:creationId xmlns:p14="http://schemas.microsoft.com/office/powerpoint/2010/main" val="804621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572978B-283C-4B3B-8C94-38514BD7006C}" type="slidenum">
              <a:rPr lang="es-ES" smtClean="0"/>
              <a:t>2</a:t>
            </a:fld>
            <a:endParaRPr lang="es-ES"/>
          </a:p>
        </p:txBody>
      </p:sp>
    </p:spTree>
    <p:extLst>
      <p:ext uri="{BB962C8B-B14F-4D97-AF65-F5344CB8AC3E}">
        <p14:creationId xmlns:p14="http://schemas.microsoft.com/office/powerpoint/2010/main" val="2601690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46120"/>
            <a:ext cx="12188952" cy="3611880"/>
          </a:xfrm>
          <a:prstGeom prst="rect">
            <a:avLst/>
          </a:prstGeom>
          <a:solidFill>
            <a:srgbClr val="B045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71600" y="3154680"/>
            <a:ext cx="941832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1097280"/>
            <a:ext cx="12188952" cy="769441"/>
          </a:xfrm>
          <a:prstGeom prst="rect">
            <a:avLst/>
          </a:prstGeom>
          <a:noFill/>
        </p:spPr>
        <p:txBody>
          <a:bodyPr wrap="square">
            <a:spAutoFit/>
          </a:bodyPr>
          <a:lstStyle/>
          <a:p>
            <a:pPr algn="ctr"/>
            <a:r>
              <a:rPr lang="es-CL" sz="4400" b="1" dirty="0">
                <a:solidFill>
                  <a:schemeClr val="bg1"/>
                </a:solidFill>
              </a:rPr>
              <a:t>Sistema de Producción Minera</a:t>
            </a:r>
            <a:endParaRPr sz="4400" b="1" dirty="0">
              <a:solidFill>
                <a:schemeClr val="bg1"/>
              </a:solidFill>
            </a:endParaRPr>
          </a:p>
        </p:txBody>
      </p:sp>
      <p:sp>
        <p:nvSpPr>
          <p:cNvPr id="6" name="TextBox 5"/>
          <p:cNvSpPr txBox="1"/>
          <p:nvPr/>
        </p:nvSpPr>
        <p:spPr>
          <a:xfrm>
            <a:off x="0" y="1783080"/>
            <a:ext cx="12188952" cy="731520"/>
          </a:xfrm>
          <a:prstGeom prst="rect">
            <a:avLst/>
          </a:prstGeom>
          <a:noFill/>
        </p:spPr>
        <p:txBody>
          <a:bodyPr wrap="square">
            <a:spAutoFit/>
          </a:bodyPr>
          <a:lstStyle/>
          <a:p>
            <a:pPr algn="ctr"/>
            <a:r>
              <a:rPr sz="4400" b="1" i="0">
                <a:solidFill>
                  <a:srgbClr val="FFFFFF"/>
                </a:solidFill>
              </a:rPr>
              <a:t>Flujo del Dato</a:t>
            </a:r>
          </a:p>
        </p:txBody>
      </p:sp>
      <p:sp>
        <p:nvSpPr>
          <p:cNvPr id="7" name="TextBox 6"/>
          <p:cNvSpPr txBox="1"/>
          <p:nvPr/>
        </p:nvSpPr>
        <p:spPr>
          <a:xfrm>
            <a:off x="0" y="2560320"/>
            <a:ext cx="12188952" cy="548640"/>
          </a:xfrm>
          <a:prstGeom prst="rect">
            <a:avLst/>
          </a:prstGeom>
          <a:noFill/>
        </p:spPr>
        <p:txBody>
          <a:bodyPr wrap="square">
            <a:spAutoFit/>
          </a:bodyPr>
          <a:lstStyle/>
          <a:p>
            <a:pPr algn="ctr"/>
            <a:r>
              <a:rPr sz="3000" b="0" i="0">
                <a:solidFill>
                  <a:srgbClr val="FFF0D0"/>
                </a:solidFill>
              </a:rPr>
              <a:t>Sistema de Dispatch</a:t>
            </a:r>
          </a:p>
        </p:txBody>
      </p:sp>
      <p:sp>
        <p:nvSpPr>
          <p:cNvPr id="8" name="TextBox 7"/>
          <p:cNvSpPr txBox="1"/>
          <p:nvPr/>
        </p:nvSpPr>
        <p:spPr>
          <a:xfrm>
            <a:off x="0" y="3749039"/>
            <a:ext cx="12188952" cy="365760"/>
          </a:xfrm>
          <a:prstGeom prst="rect">
            <a:avLst/>
          </a:prstGeom>
          <a:noFill/>
        </p:spPr>
        <p:txBody>
          <a:bodyPr wrap="square">
            <a:spAutoFit/>
          </a:bodyPr>
          <a:lstStyle/>
          <a:p>
            <a:pPr algn="ctr"/>
            <a:r>
              <a:rPr sz="1200" b="0" i="0">
                <a:solidFill>
                  <a:srgbClr val="FFF0D0"/>
                </a:solidFill>
              </a:rPr>
              <a:t>Modulo: Dispatch + Laboratorio     |     Version: 1.0     |     Junio 2026</a:t>
            </a:r>
          </a:p>
        </p:txBody>
      </p:sp>
      <p:pic>
        <p:nvPicPr>
          <p:cNvPr id="17" name="Imagen 16">
            <a:extLst>
              <a:ext uri="{FF2B5EF4-FFF2-40B4-BE49-F238E27FC236}">
                <a16:creationId xmlns:a16="http://schemas.microsoft.com/office/drawing/2014/main" id="{31223886-283A-4FD4-9510-E8881FFBD4B3}"/>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dirty="0">
                <a:solidFill>
                  <a:srgbClr val="FFFFFF"/>
                </a:solidFill>
              </a:rPr>
              <a:t>Vision General del </a:t>
            </a:r>
            <a:r>
              <a:rPr sz="2600" b="1" i="0" dirty="0" err="1">
                <a:solidFill>
                  <a:srgbClr val="FFFFFF"/>
                </a:solidFill>
              </a:rPr>
              <a:t>Flujo</a:t>
            </a:r>
            <a:endParaRPr sz="2600" b="1" i="0" dirty="0">
              <a:solidFill>
                <a:srgbClr val="FFFFFF"/>
              </a:solidFill>
            </a:endParaRPr>
          </a:p>
        </p:txBody>
      </p:sp>
      <p:sp>
        <p:nvSpPr>
          <p:cNvPr id="5" name="TextBox 4"/>
          <p:cNvSpPr txBox="1"/>
          <p:nvPr/>
        </p:nvSpPr>
        <p:spPr>
          <a:xfrm>
            <a:off x="320040" y="566928"/>
            <a:ext cx="9144000" cy="347472"/>
          </a:xfrm>
          <a:prstGeom prst="rect">
            <a:avLst/>
          </a:prstGeom>
          <a:noFill/>
        </p:spPr>
        <p:txBody>
          <a:bodyPr wrap="square">
            <a:spAutoFit/>
          </a:bodyPr>
          <a:lstStyle/>
          <a:p>
            <a:pPr algn="l"/>
            <a:r>
              <a:rPr sz="1600" b="0" i="0" dirty="0">
                <a:solidFill>
                  <a:srgbClr val="FFF0E0"/>
                </a:solidFill>
              </a:rPr>
              <a:t>Estado actual: Pasos 1-3 </a:t>
            </a:r>
            <a:r>
              <a:rPr sz="1600" b="0" i="0" dirty="0" err="1">
                <a:solidFill>
                  <a:srgbClr val="FFF0E0"/>
                </a:solidFill>
              </a:rPr>
              <a:t>completados</a:t>
            </a:r>
            <a:r>
              <a:rPr sz="1600" b="0" i="0" dirty="0">
                <a:solidFill>
                  <a:srgbClr val="FFF0E0"/>
                </a:solidFill>
              </a:rPr>
              <a:t> — Paso 4 proximo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sz="900" b="0" i="0" dirty="0">
                <a:solidFill>
                  <a:srgbClr val="FFFFFF"/>
                </a:solidFill>
              </a:rPr>
              <a:t>Sistema de </a:t>
            </a:r>
            <a:r>
              <a:rPr sz="900" b="0" i="0" dirty="0" err="1">
                <a:solidFill>
                  <a:srgbClr val="FFFFFF"/>
                </a:solidFill>
              </a:rPr>
              <a:t>Produccion</a:t>
            </a:r>
            <a:r>
              <a:rPr sz="900" b="0" i="0" dirty="0">
                <a:solidFill>
                  <a:srgbClr val="FFFFFF"/>
                </a:solidFill>
              </a:rPr>
              <a:t> M3H  |  </a:t>
            </a:r>
            <a:r>
              <a:rPr sz="900" b="0" i="0" dirty="0" err="1">
                <a:solidFill>
                  <a:srgbClr val="FFFFFF"/>
                </a:solidFill>
              </a:rPr>
              <a:t>Flujo</a:t>
            </a:r>
            <a:r>
              <a:rPr sz="900" b="0" i="0" dirty="0">
                <a:solidFill>
                  <a:srgbClr val="FFFFFF"/>
                </a:solidFill>
              </a:rPr>
              <a:t> del Dato — Dispatch  |  Junio 2026  </a:t>
            </a:r>
          </a:p>
        </p:txBody>
      </p:sp>
      <p:sp>
        <p:nvSpPr>
          <p:cNvPr id="8" name="Rectangle 7"/>
          <p:cNvSpPr/>
          <p:nvPr/>
        </p:nvSpPr>
        <p:spPr>
          <a:xfrm>
            <a:off x="274321"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1" y="1650492"/>
            <a:ext cx="1554480" cy="400110"/>
          </a:xfrm>
          <a:prstGeom prst="rect">
            <a:avLst/>
          </a:prstGeom>
          <a:noFill/>
        </p:spPr>
        <p:txBody>
          <a:bodyPr wrap="square">
            <a:spAutoFit/>
          </a:bodyPr>
          <a:lstStyle/>
          <a:p>
            <a:pPr algn="ctr"/>
            <a:r>
              <a:rPr sz="2000" b="1" i="0">
                <a:solidFill>
                  <a:srgbClr val="FFFF99"/>
                </a:solidFill>
              </a:rPr>
              <a:t>1</a:t>
            </a:r>
          </a:p>
        </p:txBody>
      </p:sp>
      <p:sp>
        <p:nvSpPr>
          <p:cNvPr id="10" name="TextBox 9"/>
          <p:cNvSpPr txBox="1"/>
          <p:nvPr/>
        </p:nvSpPr>
        <p:spPr>
          <a:xfrm>
            <a:off x="274321" y="1961388"/>
            <a:ext cx="1554480" cy="646331"/>
          </a:xfrm>
          <a:prstGeom prst="rect">
            <a:avLst/>
          </a:prstGeom>
          <a:noFill/>
        </p:spPr>
        <p:txBody>
          <a:bodyPr wrap="square">
            <a:spAutoFit/>
          </a:bodyPr>
          <a:lstStyle/>
          <a:p>
            <a:pPr algn="ctr"/>
            <a:r>
              <a:rPr lang="es-CL" b="1" i="0" dirty="0">
                <a:solidFill>
                  <a:srgbClr val="FFFFFF"/>
                </a:solidFill>
              </a:rPr>
              <a:t>Ingreso </a:t>
            </a:r>
            <a:r>
              <a:rPr lang="es-CL" b="1" i="0" dirty="0" err="1">
                <a:solidFill>
                  <a:srgbClr val="FFFFFF"/>
                </a:solidFill>
              </a:rPr>
              <a:t>Dumpada</a:t>
            </a:r>
            <a:endParaRPr lang="es-CL" b="1" i="0" dirty="0">
              <a:solidFill>
                <a:srgbClr val="FFFFFF"/>
              </a:solidFill>
            </a:endParaRPr>
          </a:p>
        </p:txBody>
      </p:sp>
      <p:sp>
        <p:nvSpPr>
          <p:cNvPr id="11" name="TextBox 10"/>
          <p:cNvSpPr txBox="1"/>
          <p:nvPr/>
        </p:nvSpPr>
        <p:spPr>
          <a:xfrm>
            <a:off x="265177" y="2515314"/>
            <a:ext cx="1554480" cy="523220"/>
          </a:xfrm>
          <a:prstGeom prst="rect">
            <a:avLst/>
          </a:prstGeom>
          <a:noFill/>
        </p:spPr>
        <p:txBody>
          <a:bodyPr wrap="square">
            <a:spAutoFit/>
          </a:bodyPr>
          <a:lstStyle/>
          <a:p>
            <a:pPr algn="ctr"/>
            <a:r>
              <a:rPr sz="1400" b="0" i="0">
                <a:solidFill>
                  <a:srgbClr val="FFEEDD"/>
                </a:solidFill>
              </a:rPr>
              <a:t>Ingreso
mineral</a:t>
            </a:r>
          </a:p>
        </p:txBody>
      </p:sp>
      <p:sp>
        <p:nvSpPr>
          <p:cNvPr id="12" name="TextBox 11"/>
          <p:cNvSpPr txBox="1"/>
          <p:nvPr/>
        </p:nvSpPr>
        <p:spPr>
          <a:xfrm>
            <a:off x="1865377" y="2052828"/>
            <a:ext cx="402336" cy="461665"/>
          </a:xfrm>
          <a:prstGeom prst="rect">
            <a:avLst/>
          </a:prstGeom>
          <a:noFill/>
        </p:spPr>
        <p:txBody>
          <a:bodyPr wrap="square">
            <a:spAutoFit/>
          </a:bodyPr>
          <a:lstStyle/>
          <a:p>
            <a:pPr algn="ctr"/>
            <a:r>
              <a:rPr sz="2400" b="1" i="0" dirty="0">
                <a:solidFill>
                  <a:srgbClr val="E06010"/>
                </a:solidFill>
              </a:rPr>
              <a:t>&gt;</a:t>
            </a:r>
          </a:p>
        </p:txBody>
      </p:sp>
      <p:sp>
        <p:nvSpPr>
          <p:cNvPr id="13" name="Rectangle 12"/>
          <p:cNvSpPr/>
          <p:nvPr/>
        </p:nvSpPr>
        <p:spPr>
          <a:xfrm>
            <a:off x="274321"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1" y="3122676"/>
            <a:ext cx="1554480" cy="307777"/>
          </a:xfrm>
          <a:prstGeom prst="rect">
            <a:avLst/>
          </a:prstGeom>
          <a:noFill/>
        </p:spPr>
        <p:txBody>
          <a:bodyPr wrap="square">
            <a:spAutoFit/>
          </a:bodyPr>
          <a:lstStyle/>
          <a:p>
            <a:pPr algn="ctr"/>
            <a:r>
              <a:rPr sz="1400" b="1" i="0" dirty="0">
                <a:solidFill>
                  <a:srgbClr val="155724"/>
                </a:solidFill>
              </a:rPr>
              <a:t>COMPLETADO</a:t>
            </a:r>
          </a:p>
        </p:txBody>
      </p:sp>
      <p:sp>
        <p:nvSpPr>
          <p:cNvPr id="15" name="Rectangle 14"/>
          <p:cNvSpPr/>
          <p:nvPr/>
        </p:nvSpPr>
        <p:spPr>
          <a:xfrm>
            <a:off x="2258569"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58569" y="1650492"/>
            <a:ext cx="1554480" cy="400110"/>
          </a:xfrm>
          <a:prstGeom prst="rect">
            <a:avLst/>
          </a:prstGeom>
          <a:noFill/>
        </p:spPr>
        <p:txBody>
          <a:bodyPr wrap="square">
            <a:spAutoFit/>
          </a:bodyPr>
          <a:lstStyle/>
          <a:p>
            <a:pPr algn="ctr"/>
            <a:r>
              <a:rPr sz="2000" b="1" i="0">
                <a:solidFill>
                  <a:srgbClr val="FFFF99"/>
                </a:solidFill>
              </a:rPr>
              <a:t>2</a:t>
            </a:r>
          </a:p>
        </p:txBody>
      </p:sp>
      <p:sp>
        <p:nvSpPr>
          <p:cNvPr id="17" name="TextBox 16"/>
          <p:cNvSpPr txBox="1"/>
          <p:nvPr/>
        </p:nvSpPr>
        <p:spPr>
          <a:xfrm>
            <a:off x="2258569" y="1961388"/>
            <a:ext cx="1554480" cy="646331"/>
          </a:xfrm>
          <a:prstGeom prst="rect">
            <a:avLst/>
          </a:prstGeom>
          <a:noFill/>
        </p:spPr>
        <p:txBody>
          <a:bodyPr wrap="square">
            <a:spAutoFit/>
          </a:bodyPr>
          <a:lstStyle/>
          <a:p>
            <a:pPr algn="ctr"/>
            <a:r>
              <a:rPr lang="es-CL" b="1" i="0" dirty="0" err="1">
                <a:solidFill>
                  <a:srgbClr val="FFFFFF"/>
                </a:solidFill>
              </a:rPr>
              <a:t>Envio</a:t>
            </a:r>
            <a:r>
              <a:rPr lang="es-CL" b="1" i="0" dirty="0">
                <a:solidFill>
                  <a:srgbClr val="FFFFFF"/>
                </a:solidFill>
              </a:rPr>
              <a:t> de Muestras</a:t>
            </a:r>
            <a:endParaRPr b="1" i="0" dirty="0">
              <a:solidFill>
                <a:srgbClr val="FFFFFF"/>
              </a:solidFill>
            </a:endParaRPr>
          </a:p>
        </p:txBody>
      </p:sp>
      <p:sp>
        <p:nvSpPr>
          <p:cNvPr id="18" name="TextBox 17"/>
          <p:cNvSpPr txBox="1"/>
          <p:nvPr/>
        </p:nvSpPr>
        <p:spPr>
          <a:xfrm>
            <a:off x="2249425" y="2515314"/>
            <a:ext cx="1554480" cy="523220"/>
          </a:xfrm>
          <a:prstGeom prst="rect">
            <a:avLst/>
          </a:prstGeom>
          <a:noFill/>
        </p:spPr>
        <p:txBody>
          <a:bodyPr wrap="square">
            <a:spAutoFit/>
          </a:bodyPr>
          <a:lstStyle/>
          <a:p>
            <a:pPr algn="ctr"/>
            <a:r>
              <a:rPr sz="1400" b="0" i="0">
                <a:solidFill>
                  <a:srgbClr val="FFEEDD"/>
                </a:solidFill>
              </a:rPr>
              <a:t>Muestra al
laboratorio</a:t>
            </a:r>
          </a:p>
        </p:txBody>
      </p:sp>
      <p:sp>
        <p:nvSpPr>
          <p:cNvPr id="19" name="TextBox 18"/>
          <p:cNvSpPr txBox="1"/>
          <p:nvPr/>
        </p:nvSpPr>
        <p:spPr>
          <a:xfrm>
            <a:off x="3849625" y="2052828"/>
            <a:ext cx="402336" cy="461665"/>
          </a:xfrm>
          <a:prstGeom prst="rect">
            <a:avLst/>
          </a:prstGeom>
          <a:noFill/>
        </p:spPr>
        <p:txBody>
          <a:bodyPr wrap="square">
            <a:spAutoFit/>
          </a:bodyPr>
          <a:lstStyle/>
          <a:p>
            <a:pPr algn="ctr"/>
            <a:r>
              <a:rPr sz="2400" b="1" i="0" dirty="0">
                <a:solidFill>
                  <a:srgbClr val="E06010"/>
                </a:solidFill>
              </a:rPr>
              <a:t>&gt;</a:t>
            </a:r>
          </a:p>
        </p:txBody>
      </p:sp>
      <p:sp>
        <p:nvSpPr>
          <p:cNvPr id="20" name="Rectangle 19"/>
          <p:cNvSpPr/>
          <p:nvPr/>
        </p:nvSpPr>
        <p:spPr>
          <a:xfrm>
            <a:off x="2258569"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58569" y="3122676"/>
            <a:ext cx="1554480" cy="307777"/>
          </a:xfrm>
          <a:prstGeom prst="rect">
            <a:avLst/>
          </a:prstGeom>
          <a:noFill/>
        </p:spPr>
        <p:txBody>
          <a:bodyPr wrap="square">
            <a:spAutoFit/>
          </a:bodyPr>
          <a:lstStyle/>
          <a:p>
            <a:pPr algn="ctr"/>
            <a:r>
              <a:rPr sz="1400" b="1" i="0" dirty="0">
                <a:solidFill>
                  <a:srgbClr val="155724"/>
                </a:solidFill>
              </a:rPr>
              <a:t>COMPLETADO</a:t>
            </a:r>
          </a:p>
        </p:txBody>
      </p:sp>
      <p:sp>
        <p:nvSpPr>
          <p:cNvPr id="22" name="Rectangle 21"/>
          <p:cNvSpPr/>
          <p:nvPr/>
        </p:nvSpPr>
        <p:spPr>
          <a:xfrm>
            <a:off x="4242817" y="1613916"/>
            <a:ext cx="1554480" cy="146304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42817" y="1650492"/>
            <a:ext cx="1554480" cy="400110"/>
          </a:xfrm>
          <a:prstGeom prst="rect">
            <a:avLst/>
          </a:prstGeom>
          <a:noFill/>
        </p:spPr>
        <p:txBody>
          <a:bodyPr wrap="square">
            <a:spAutoFit/>
          </a:bodyPr>
          <a:lstStyle/>
          <a:p>
            <a:pPr algn="ctr"/>
            <a:r>
              <a:rPr sz="2000" b="1" i="0">
                <a:solidFill>
                  <a:srgbClr val="FFFF99"/>
                </a:solidFill>
              </a:rPr>
              <a:t>3</a:t>
            </a:r>
          </a:p>
        </p:txBody>
      </p:sp>
      <p:sp>
        <p:nvSpPr>
          <p:cNvPr id="24" name="TextBox 23"/>
          <p:cNvSpPr txBox="1"/>
          <p:nvPr/>
        </p:nvSpPr>
        <p:spPr>
          <a:xfrm>
            <a:off x="4242817" y="1961388"/>
            <a:ext cx="1554480" cy="646331"/>
          </a:xfrm>
          <a:prstGeom prst="rect">
            <a:avLst/>
          </a:prstGeom>
          <a:noFill/>
        </p:spPr>
        <p:txBody>
          <a:bodyPr wrap="square">
            <a:spAutoFit/>
          </a:bodyPr>
          <a:lstStyle/>
          <a:p>
            <a:pPr algn="ctr"/>
            <a:r>
              <a:rPr lang="es-CL" b="1" i="0" dirty="0">
                <a:solidFill>
                  <a:srgbClr val="FFFFFF"/>
                </a:solidFill>
              </a:rPr>
              <a:t>Análisis Laboratorio</a:t>
            </a:r>
          </a:p>
        </p:txBody>
      </p:sp>
      <p:sp>
        <p:nvSpPr>
          <p:cNvPr id="25" name="TextBox 24"/>
          <p:cNvSpPr txBox="1"/>
          <p:nvPr/>
        </p:nvSpPr>
        <p:spPr>
          <a:xfrm>
            <a:off x="4233673" y="2515314"/>
            <a:ext cx="1554480" cy="523220"/>
          </a:xfrm>
          <a:prstGeom prst="rect">
            <a:avLst/>
          </a:prstGeom>
          <a:noFill/>
        </p:spPr>
        <p:txBody>
          <a:bodyPr wrap="square">
            <a:spAutoFit/>
          </a:bodyPr>
          <a:lstStyle/>
          <a:p>
            <a:pPr algn="ctr"/>
            <a:r>
              <a:rPr sz="1400" b="0" i="0">
                <a:solidFill>
                  <a:srgbClr val="FFEEDD"/>
                </a:solidFill>
              </a:rPr>
              <a:t>Ley Cu
disponible</a:t>
            </a:r>
          </a:p>
        </p:txBody>
      </p:sp>
      <p:sp>
        <p:nvSpPr>
          <p:cNvPr id="26" name="TextBox 25"/>
          <p:cNvSpPr txBox="1"/>
          <p:nvPr/>
        </p:nvSpPr>
        <p:spPr>
          <a:xfrm>
            <a:off x="5833873" y="2052828"/>
            <a:ext cx="402336" cy="461665"/>
          </a:xfrm>
          <a:prstGeom prst="rect">
            <a:avLst/>
          </a:prstGeom>
          <a:noFill/>
        </p:spPr>
        <p:txBody>
          <a:bodyPr wrap="square">
            <a:spAutoFit/>
          </a:bodyPr>
          <a:lstStyle/>
          <a:p>
            <a:pPr algn="ctr"/>
            <a:r>
              <a:rPr sz="2400" b="1" i="0">
                <a:solidFill>
                  <a:srgbClr val="E06010"/>
                </a:solidFill>
              </a:rPr>
              <a:t>&gt;</a:t>
            </a:r>
          </a:p>
        </p:txBody>
      </p:sp>
      <p:sp>
        <p:nvSpPr>
          <p:cNvPr id="27" name="Rectangle 26"/>
          <p:cNvSpPr/>
          <p:nvPr/>
        </p:nvSpPr>
        <p:spPr>
          <a:xfrm>
            <a:off x="4242817" y="3122676"/>
            <a:ext cx="1554480" cy="25603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42817" y="3122676"/>
            <a:ext cx="1554480" cy="307777"/>
          </a:xfrm>
          <a:prstGeom prst="rect">
            <a:avLst/>
          </a:prstGeom>
          <a:noFill/>
        </p:spPr>
        <p:txBody>
          <a:bodyPr wrap="square">
            <a:spAutoFit/>
          </a:bodyPr>
          <a:lstStyle/>
          <a:p>
            <a:pPr algn="ctr"/>
            <a:r>
              <a:rPr sz="1400" b="1" i="0">
                <a:solidFill>
                  <a:srgbClr val="155724"/>
                </a:solidFill>
              </a:rPr>
              <a:t>COMPLETADO</a:t>
            </a:r>
          </a:p>
        </p:txBody>
      </p:sp>
      <p:sp>
        <p:nvSpPr>
          <p:cNvPr id="29" name="Rectangle 28"/>
          <p:cNvSpPr/>
          <p:nvPr/>
        </p:nvSpPr>
        <p:spPr>
          <a:xfrm>
            <a:off x="6227065" y="1613916"/>
            <a:ext cx="1554480" cy="14630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27065" y="1650492"/>
            <a:ext cx="1554480" cy="400110"/>
          </a:xfrm>
          <a:prstGeom prst="rect">
            <a:avLst/>
          </a:prstGeom>
          <a:noFill/>
        </p:spPr>
        <p:txBody>
          <a:bodyPr wrap="square">
            <a:spAutoFit/>
          </a:bodyPr>
          <a:lstStyle/>
          <a:p>
            <a:pPr algn="ctr"/>
            <a:r>
              <a:rPr sz="2000" b="1" i="0">
                <a:solidFill>
                  <a:srgbClr val="FFFF99"/>
                </a:solidFill>
              </a:rPr>
              <a:t>4</a:t>
            </a:r>
          </a:p>
        </p:txBody>
      </p:sp>
      <p:sp>
        <p:nvSpPr>
          <p:cNvPr id="31" name="TextBox 30"/>
          <p:cNvSpPr txBox="1"/>
          <p:nvPr/>
        </p:nvSpPr>
        <p:spPr>
          <a:xfrm>
            <a:off x="6227065" y="1961388"/>
            <a:ext cx="1554480" cy="646331"/>
          </a:xfrm>
          <a:prstGeom prst="rect">
            <a:avLst/>
          </a:prstGeom>
          <a:noFill/>
        </p:spPr>
        <p:txBody>
          <a:bodyPr wrap="square">
            <a:spAutoFit/>
          </a:bodyPr>
          <a:lstStyle/>
          <a:p>
            <a:pPr algn="ctr"/>
            <a:r>
              <a:rPr lang="es-CL" b="1" i="0" dirty="0">
                <a:solidFill>
                  <a:srgbClr val="FFFFFF"/>
                </a:solidFill>
              </a:rPr>
              <a:t>Creación de Mezcla</a:t>
            </a:r>
          </a:p>
        </p:txBody>
      </p:sp>
      <p:sp>
        <p:nvSpPr>
          <p:cNvPr id="32" name="TextBox 31"/>
          <p:cNvSpPr txBox="1"/>
          <p:nvPr/>
        </p:nvSpPr>
        <p:spPr>
          <a:xfrm>
            <a:off x="6217921" y="2515314"/>
            <a:ext cx="1554480" cy="523220"/>
          </a:xfrm>
          <a:prstGeom prst="rect">
            <a:avLst/>
          </a:prstGeom>
          <a:noFill/>
        </p:spPr>
        <p:txBody>
          <a:bodyPr wrap="square">
            <a:spAutoFit/>
          </a:bodyPr>
          <a:lstStyle/>
          <a:p>
            <a:pPr algn="ctr"/>
            <a:r>
              <a:rPr sz="1400" b="0" i="0">
                <a:solidFill>
                  <a:srgbClr val="FFEEDD"/>
                </a:solidFill>
              </a:rPr>
              <a:t>Dumpadas
agrupadas</a:t>
            </a:r>
          </a:p>
        </p:txBody>
      </p:sp>
      <p:sp>
        <p:nvSpPr>
          <p:cNvPr id="33" name="TextBox 32"/>
          <p:cNvSpPr txBox="1"/>
          <p:nvPr/>
        </p:nvSpPr>
        <p:spPr>
          <a:xfrm>
            <a:off x="7818120" y="2052828"/>
            <a:ext cx="402336" cy="461665"/>
          </a:xfrm>
          <a:prstGeom prst="rect">
            <a:avLst/>
          </a:prstGeom>
          <a:noFill/>
        </p:spPr>
        <p:txBody>
          <a:bodyPr wrap="square">
            <a:spAutoFit/>
          </a:bodyPr>
          <a:lstStyle/>
          <a:p>
            <a:pPr algn="ctr"/>
            <a:r>
              <a:rPr sz="2400" b="1" i="0">
                <a:solidFill>
                  <a:srgbClr val="E06010"/>
                </a:solidFill>
              </a:rPr>
              <a:t>&gt;</a:t>
            </a:r>
          </a:p>
        </p:txBody>
      </p:sp>
      <p:sp>
        <p:nvSpPr>
          <p:cNvPr id="34" name="Rectangle 33"/>
          <p:cNvSpPr/>
          <p:nvPr/>
        </p:nvSpPr>
        <p:spPr>
          <a:xfrm>
            <a:off x="6227065" y="3122676"/>
            <a:ext cx="1554480" cy="25603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27065" y="3122676"/>
            <a:ext cx="1554480" cy="307777"/>
          </a:xfrm>
          <a:prstGeom prst="rect">
            <a:avLst/>
          </a:prstGeom>
          <a:noFill/>
        </p:spPr>
        <p:txBody>
          <a:bodyPr wrap="square">
            <a:spAutoFit/>
          </a:bodyPr>
          <a:lstStyle/>
          <a:p>
            <a:pPr algn="ctr"/>
            <a:r>
              <a:rPr sz="1400" b="1" i="0">
                <a:solidFill>
                  <a:srgbClr val="E06010"/>
                </a:solidFill>
              </a:rPr>
              <a:t>PROXIMO</a:t>
            </a:r>
          </a:p>
        </p:txBody>
      </p:sp>
      <p:sp>
        <p:nvSpPr>
          <p:cNvPr id="36" name="Rectangle 35"/>
          <p:cNvSpPr/>
          <p:nvPr/>
        </p:nvSpPr>
        <p:spPr>
          <a:xfrm>
            <a:off x="8211312" y="1613916"/>
            <a:ext cx="1554480" cy="146304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11312" y="1650492"/>
            <a:ext cx="1554480" cy="400110"/>
          </a:xfrm>
          <a:prstGeom prst="rect">
            <a:avLst/>
          </a:prstGeom>
          <a:noFill/>
        </p:spPr>
        <p:txBody>
          <a:bodyPr wrap="square">
            <a:spAutoFit/>
          </a:bodyPr>
          <a:lstStyle/>
          <a:p>
            <a:pPr algn="ctr"/>
            <a:r>
              <a:rPr sz="2000" b="1" i="0">
                <a:solidFill>
                  <a:srgbClr val="FFFF99"/>
                </a:solidFill>
              </a:rPr>
              <a:t>5</a:t>
            </a:r>
          </a:p>
        </p:txBody>
      </p:sp>
      <p:sp>
        <p:nvSpPr>
          <p:cNvPr id="38" name="TextBox 37"/>
          <p:cNvSpPr txBox="1"/>
          <p:nvPr/>
        </p:nvSpPr>
        <p:spPr>
          <a:xfrm>
            <a:off x="8211312" y="1961388"/>
            <a:ext cx="1554480" cy="369332"/>
          </a:xfrm>
          <a:prstGeom prst="rect">
            <a:avLst/>
          </a:prstGeom>
          <a:noFill/>
        </p:spPr>
        <p:txBody>
          <a:bodyPr wrap="square">
            <a:spAutoFit/>
          </a:bodyPr>
          <a:lstStyle/>
          <a:p>
            <a:pPr algn="ctr"/>
            <a:r>
              <a:rPr b="1" i="0">
                <a:solidFill>
                  <a:srgbClr val="FFFFFF"/>
                </a:solidFill>
              </a:rPr>
              <a:t>Despacho</a:t>
            </a:r>
          </a:p>
        </p:txBody>
      </p:sp>
      <p:sp>
        <p:nvSpPr>
          <p:cNvPr id="39" name="TextBox 38"/>
          <p:cNvSpPr txBox="1"/>
          <p:nvPr/>
        </p:nvSpPr>
        <p:spPr>
          <a:xfrm>
            <a:off x="8192643" y="2343245"/>
            <a:ext cx="1554480" cy="738664"/>
          </a:xfrm>
          <a:prstGeom prst="rect">
            <a:avLst/>
          </a:prstGeom>
          <a:noFill/>
        </p:spPr>
        <p:txBody>
          <a:bodyPr wrap="square">
            <a:spAutoFit/>
          </a:bodyPr>
          <a:lstStyle/>
          <a:p>
            <a:pPr algn="ctr"/>
            <a:r>
              <a:rPr lang="es-CL" sz="1400" b="0" i="0" dirty="0">
                <a:solidFill>
                  <a:srgbClr val="FFEEDD"/>
                </a:solidFill>
              </a:rPr>
              <a:t>Creación de lote</a:t>
            </a:r>
          </a:p>
          <a:p>
            <a:pPr algn="ctr"/>
            <a:r>
              <a:rPr lang="es-CL" sz="1400" dirty="0">
                <a:solidFill>
                  <a:srgbClr val="FFEEDD"/>
                </a:solidFill>
              </a:rPr>
              <a:t>Despacho de camionadas</a:t>
            </a:r>
          </a:p>
        </p:txBody>
      </p:sp>
      <p:sp>
        <p:nvSpPr>
          <p:cNvPr id="40" name="TextBox 39"/>
          <p:cNvSpPr txBox="1"/>
          <p:nvPr/>
        </p:nvSpPr>
        <p:spPr>
          <a:xfrm>
            <a:off x="9802368" y="2052828"/>
            <a:ext cx="402336" cy="461665"/>
          </a:xfrm>
          <a:prstGeom prst="rect">
            <a:avLst/>
          </a:prstGeom>
          <a:noFill/>
        </p:spPr>
        <p:txBody>
          <a:bodyPr wrap="square">
            <a:spAutoFit/>
          </a:bodyPr>
          <a:lstStyle/>
          <a:p>
            <a:pPr algn="ctr"/>
            <a:r>
              <a:rPr sz="2400" b="1" i="0">
                <a:solidFill>
                  <a:srgbClr val="888888"/>
                </a:solidFill>
              </a:rPr>
              <a:t>&gt;</a:t>
            </a:r>
          </a:p>
        </p:txBody>
      </p:sp>
      <p:sp>
        <p:nvSpPr>
          <p:cNvPr id="41" name="Rectangle 40"/>
          <p:cNvSpPr/>
          <p:nvPr/>
        </p:nvSpPr>
        <p:spPr>
          <a:xfrm>
            <a:off x="8211312" y="3122676"/>
            <a:ext cx="1554480" cy="2560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11312" y="3122676"/>
            <a:ext cx="1554480" cy="307777"/>
          </a:xfrm>
          <a:prstGeom prst="rect">
            <a:avLst/>
          </a:prstGeom>
          <a:noFill/>
        </p:spPr>
        <p:txBody>
          <a:bodyPr wrap="square">
            <a:spAutoFit/>
          </a:bodyPr>
          <a:lstStyle/>
          <a:p>
            <a:pPr algn="ctr"/>
            <a:r>
              <a:rPr sz="1400" b="1" i="0">
                <a:solidFill>
                  <a:srgbClr val="666666"/>
                </a:solidFill>
              </a:rPr>
              <a:t>PENDIENTE</a:t>
            </a:r>
          </a:p>
        </p:txBody>
      </p:sp>
      <p:sp>
        <p:nvSpPr>
          <p:cNvPr id="43" name="Rectangle 42"/>
          <p:cNvSpPr/>
          <p:nvPr/>
        </p:nvSpPr>
        <p:spPr>
          <a:xfrm>
            <a:off x="10195560" y="1613916"/>
            <a:ext cx="1554480" cy="146304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195560" y="1650492"/>
            <a:ext cx="1554480" cy="400110"/>
          </a:xfrm>
          <a:prstGeom prst="rect">
            <a:avLst/>
          </a:prstGeom>
          <a:noFill/>
        </p:spPr>
        <p:txBody>
          <a:bodyPr wrap="square">
            <a:spAutoFit/>
          </a:bodyPr>
          <a:lstStyle/>
          <a:p>
            <a:pPr algn="ctr"/>
            <a:r>
              <a:rPr sz="2000" b="1" i="0">
                <a:solidFill>
                  <a:srgbClr val="FFFF99"/>
                </a:solidFill>
              </a:rPr>
              <a:t>6</a:t>
            </a:r>
          </a:p>
        </p:txBody>
      </p:sp>
      <p:sp>
        <p:nvSpPr>
          <p:cNvPr id="45" name="TextBox 44"/>
          <p:cNvSpPr txBox="1"/>
          <p:nvPr/>
        </p:nvSpPr>
        <p:spPr>
          <a:xfrm>
            <a:off x="10195560" y="1961388"/>
            <a:ext cx="1554480" cy="369332"/>
          </a:xfrm>
          <a:prstGeom prst="rect">
            <a:avLst/>
          </a:prstGeom>
          <a:noFill/>
        </p:spPr>
        <p:txBody>
          <a:bodyPr wrap="square">
            <a:spAutoFit/>
          </a:bodyPr>
          <a:lstStyle/>
          <a:p>
            <a:pPr algn="ctr"/>
            <a:r>
              <a:rPr b="1" i="0">
                <a:solidFill>
                  <a:srgbClr val="FFFFFF"/>
                </a:solidFill>
              </a:rPr>
              <a:t>Lote Cerrado</a:t>
            </a:r>
          </a:p>
        </p:txBody>
      </p:sp>
      <p:sp>
        <p:nvSpPr>
          <p:cNvPr id="46" name="TextBox 45"/>
          <p:cNvSpPr txBox="1"/>
          <p:nvPr/>
        </p:nvSpPr>
        <p:spPr>
          <a:xfrm>
            <a:off x="10186416" y="2515314"/>
            <a:ext cx="1554480" cy="523220"/>
          </a:xfrm>
          <a:prstGeom prst="rect">
            <a:avLst/>
          </a:prstGeom>
          <a:noFill/>
        </p:spPr>
        <p:txBody>
          <a:bodyPr wrap="square">
            <a:spAutoFit/>
          </a:bodyPr>
          <a:lstStyle/>
          <a:p>
            <a:pPr algn="ctr"/>
            <a:r>
              <a:rPr sz="1400" b="0" i="0">
                <a:solidFill>
                  <a:srgbClr val="FFEEDD"/>
                </a:solidFill>
              </a:rPr>
              <a:t>Peso real
confirmado</a:t>
            </a:r>
          </a:p>
        </p:txBody>
      </p:sp>
      <p:sp>
        <p:nvSpPr>
          <p:cNvPr id="47" name="Rectangle 46"/>
          <p:cNvSpPr/>
          <p:nvPr/>
        </p:nvSpPr>
        <p:spPr>
          <a:xfrm>
            <a:off x="10195560" y="3122676"/>
            <a:ext cx="1554480" cy="25603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195560" y="3122676"/>
            <a:ext cx="1554480" cy="307777"/>
          </a:xfrm>
          <a:prstGeom prst="rect">
            <a:avLst/>
          </a:prstGeom>
          <a:noFill/>
        </p:spPr>
        <p:txBody>
          <a:bodyPr wrap="square">
            <a:spAutoFit/>
          </a:bodyPr>
          <a:lstStyle/>
          <a:p>
            <a:pPr algn="ctr"/>
            <a:r>
              <a:rPr sz="1400" b="1" i="0">
                <a:solidFill>
                  <a:srgbClr val="666666"/>
                </a:solidFill>
              </a:rPr>
              <a:t>PENDIENTE</a:t>
            </a:r>
          </a:p>
        </p:txBody>
      </p:sp>
      <p:sp>
        <p:nvSpPr>
          <p:cNvPr id="49" name="Rectangle 48"/>
          <p:cNvSpPr/>
          <p:nvPr/>
        </p:nvSpPr>
        <p:spPr>
          <a:xfrm>
            <a:off x="274321" y="3625596"/>
            <a:ext cx="1133856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65177" y="3678670"/>
            <a:ext cx="5486400" cy="338554"/>
          </a:xfrm>
          <a:prstGeom prst="rect">
            <a:avLst/>
          </a:prstGeom>
          <a:noFill/>
        </p:spPr>
        <p:txBody>
          <a:bodyPr wrap="square">
            <a:spAutoFit/>
          </a:bodyPr>
          <a:lstStyle/>
          <a:p>
            <a:pPr algn="l"/>
            <a:r>
              <a:rPr sz="1600" b="1" i="0" dirty="0" err="1">
                <a:solidFill>
                  <a:srgbClr val="8B3A00"/>
                </a:solidFill>
              </a:rPr>
              <a:t>Progreso</a:t>
            </a:r>
            <a:r>
              <a:rPr sz="1600" b="1" i="0" dirty="0">
                <a:solidFill>
                  <a:srgbClr val="8B3A00"/>
                </a:solidFill>
              </a:rPr>
              <a:t> del </a:t>
            </a:r>
            <a:r>
              <a:rPr sz="1600" b="1" i="0" dirty="0" err="1">
                <a:solidFill>
                  <a:srgbClr val="8B3A00"/>
                </a:solidFill>
              </a:rPr>
              <a:t>ingreso</a:t>
            </a:r>
            <a:r>
              <a:rPr sz="1600" b="1" i="0" dirty="0">
                <a:solidFill>
                  <a:srgbClr val="8B3A00"/>
                </a:solidFill>
              </a:rPr>
              <a:t> de </a:t>
            </a:r>
            <a:r>
              <a:rPr sz="1600" b="1" i="0" dirty="0" err="1">
                <a:solidFill>
                  <a:srgbClr val="8B3A00"/>
                </a:solidFill>
              </a:rPr>
              <a:t>datos</a:t>
            </a:r>
            <a:r>
              <a:rPr sz="1600" b="1" i="0" dirty="0">
                <a:solidFill>
                  <a:srgbClr val="8B3A00"/>
                </a:solidFill>
              </a:rPr>
              <a:t> — Mayo 2026:</a:t>
            </a:r>
          </a:p>
        </p:txBody>
      </p:sp>
      <p:sp>
        <p:nvSpPr>
          <p:cNvPr id="51" name="Rectangle 50"/>
          <p:cNvSpPr/>
          <p:nvPr/>
        </p:nvSpPr>
        <p:spPr>
          <a:xfrm>
            <a:off x="274321" y="4035172"/>
            <a:ext cx="11338560"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74321" y="4035172"/>
            <a:ext cx="5669280" cy="347472"/>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57201" y="4053460"/>
            <a:ext cx="5303520" cy="338554"/>
          </a:xfrm>
          <a:prstGeom prst="rect">
            <a:avLst/>
          </a:prstGeom>
          <a:noFill/>
        </p:spPr>
        <p:txBody>
          <a:bodyPr wrap="square">
            <a:spAutoFit/>
          </a:bodyPr>
          <a:lstStyle/>
          <a:p>
            <a:pPr algn="l"/>
            <a:r>
              <a:rPr sz="1600" b="1" i="0">
                <a:solidFill>
                  <a:srgbClr val="FFFFFF"/>
                </a:solidFill>
              </a:rPr>
              <a:t>Pasos 1, 2 y 3 completados</a:t>
            </a:r>
          </a:p>
        </p:txBody>
      </p:sp>
      <p:sp>
        <p:nvSpPr>
          <p:cNvPr id="54" name="TextBox 53"/>
          <p:cNvSpPr txBox="1"/>
          <p:nvPr/>
        </p:nvSpPr>
        <p:spPr>
          <a:xfrm>
            <a:off x="6126481" y="4053460"/>
            <a:ext cx="5303520" cy="338554"/>
          </a:xfrm>
          <a:prstGeom prst="rect">
            <a:avLst/>
          </a:prstGeom>
          <a:noFill/>
        </p:spPr>
        <p:txBody>
          <a:bodyPr wrap="square">
            <a:spAutoFit/>
          </a:bodyPr>
          <a:lstStyle/>
          <a:p>
            <a:pPr algn="l"/>
            <a:r>
              <a:rPr sz="1600" b="0" i="0">
                <a:solidFill>
                  <a:srgbClr val="666666"/>
                </a:solidFill>
              </a:rPr>
              <a:t>Pasos 4, 5 y 6 pendientes</a:t>
            </a:r>
          </a:p>
        </p:txBody>
      </p:sp>
      <p:sp>
        <p:nvSpPr>
          <p:cNvPr id="55" name="Rectangle 54"/>
          <p:cNvSpPr/>
          <p:nvPr/>
        </p:nvSpPr>
        <p:spPr>
          <a:xfrm>
            <a:off x="254798" y="4548225"/>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6" name="TextBox 55"/>
          <p:cNvSpPr txBox="1"/>
          <p:nvPr/>
        </p:nvSpPr>
        <p:spPr>
          <a:xfrm>
            <a:off x="254798" y="4548225"/>
            <a:ext cx="1080000" cy="310896"/>
          </a:xfrm>
          <a:prstGeom prst="rect">
            <a:avLst/>
          </a:prstGeom>
          <a:noFill/>
        </p:spPr>
        <p:txBody>
          <a:bodyPr wrap="square">
            <a:spAutoFit/>
          </a:bodyPr>
          <a:lstStyle/>
          <a:p>
            <a:pPr algn="ctr"/>
            <a:r>
              <a:rPr sz="1400" b="1" i="0" dirty="0">
                <a:solidFill>
                  <a:srgbClr val="FFFFFF"/>
                </a:solidFill>
              </a:rPr>
              <a:t>Paso 1</a:t>
            </a:r>
          </a:p>
        </p:txBody>
      </p:sp>
      <p:sp>
        <p:nvSpPr>
          <p:cNvPr id="58" name="Rectangle 57"/>
          <p:cNvSpPr/>
          <p:nvPr/>
        </p:nvSpPr>
        <p:spPr>
          <a:xfrm>
            <a:off x="254798" y="4846319"/>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9" name="TextBox 58"/>
          <p:cNvSpPr txBox="1"/>
          <p:nvPr/>
        </p:nvSpPr>
        <p:spPr>
          <a:xfrm>
            <a:off x="254798" y="4846319"/>
            <a:ext cx="1080000" cy="310896"/>
          </a:xfrm>
          <a:prstGeom prst="rect">
            <a:avLst/>
          </a:prstGeom>
          <a:noFill/>
        </p:spPr>
        <p:txBody>
          <a:bodyPr wrap="square">
            <a:spAutoFit/>
          </a:bodyPr>
          <a:lstStyle/>
          <a:p>
            <a:pPr algn="ctr"/>
            <a:r>
              <a:rPr sz="1400" b="1" i="0" dirty="0">
                <a:solidFill>
                  <a:srgbClr val="FFFFFF"/>
                </a:solidFill>
              </a:rPr>
              <a:t>Paso 2</a:t>
            </a:r>
          </a:p>
        </p:txBody>
      </p:sp>
      <p:sp>
        <p:nvSpPr>
          <p:cNvPr id="61" name="Rectangle 60"/>
          <p:cNvSpPr/>
          <p:nvPr/>
        </p:nvSpPr>
        <p:spPr>
          <a:xfrm>
            <a:off x="254798" y="5144413"/>
            <a:ext cx="1080000" cy="310896"/>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2" name="TextBox 61"/>
          <p:cNvSpPr txBox="1"/>
          <p:nvPr/>
        </p:nvSpPr>
        <p:spPr>
          <a:xfrm>
            <a:off x="254798" y="5144413"/>
            <a:ext cx="1080000" cy="310896"/>
          </a:xfrm>
          <a:prstGeom prst="rect">
            <a:avLst/>
          </a:prstGeom>
          <a:noFill/>
        </p:spPr>
        <p:txBody>
          <a:bodyPr wrap="square">
            <a:spAutoFit/>
          </a:bodyPr>
          <a:lstStyle/>
          <a:p>
            <a:pPr algn="ctr"/>
            <a:r>
              <a:rPr sz="1400" b="1" i="0">
                <a:solidFill>
                  <a:srgbClr val="FFFFFF"/>
                </a:solidFill>
              </a:rPr>
              <a:t>Paso 3</a:t>
            </a:r>
          </a:p>
        </p:txBody>
      </p:sp>
      <p:sp>
        <p:nvSpPr>
          <p:cNvPr id="64" name="Rectangle 63"/>
          <p:cNvSpPr/>
          <p:nvPr/>
        </p:nvSpPr>
        <p:spPr>
          <a:xfrm>
            <a:off x="254798" y="5442507"/>
            <a:ext cx="1080000" cy="310896"/>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5" name="TextBox 64"/>
          <p:cNvSpPr txBox="1"/>
          <p:nvPr/>
        </p:nvSpPr>
        <p:spPr>
          <a:xfrm>
            <a:off x="254798" y="5442507"/>
            <a:ext cx="1080000" cy="310896"/>
          </a:xfrm>
          <a:prstGeom prst="rect">
            <a:avLst/>
          </a:prstGeom>
          <a:noFill/>
        </p:spPr>
        <p:txBody>
          <a:bodyPr wrap="square">
            <a:spAutoFit/>
          </a:bodyPr>
          <a:lstStyle/>
          <a:p>
            <a:pPr algn="ctr"/>
            <a:r>
              <a:rPr sz="1400" b="1" i="0">
                <a:solidFill>
                  <a:srgbClr val="FFFFFF"/>
                </a:solidFill>
              </a:rPr>
              <a:t>Paso 4</a:t>
            </a:r>
          </a:p>
        </p:txBody>
      </p:sp>
      <p:sp>
        <p:nvSpPr>
          <p:cNvPr id="67" name="Rectangle 66"/>
          <p:cNvSpPr/>
          <p:nvPr/>
        </p:nvSpPr>
        <p:spPr>
          <a:xfrm>
            <a:off x="254798" y="5740601"/>
            <a:ext cx="1080000" cy="31089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8" name="TextBox 67"/>
          <p:cNvSpPr txBox="1"/>
          <p:nvPr/>
        </p:nvSpPr>
        <p:spPr>
          <a:xfrm>
            <a:off x="254798" y="5740601"/>
            <a:ext cx="1080000" cy="310896"/>
          </a:xfrm>
          <a:prstGeom prst="rect">
            <a:avLst/>
          </a:prstGeom>
          <a:noFill/>
        </p:spPr>
        <p:txBody>
          <a:bodyPr wrap="square">
            <a:spAutoFit/>
          </a:bodyPr>
          <a:lstStyle/>
          <a:p>
            <a:pPr algn="ctr"/>
            <a:r>
              <a:rPr sz="1400" b="1" i="0">
                <a:solidFill>
                  <a:srgbClr val="FFFFFF"/>
                </a:solidFill>
              </a:rPr>
              <a:t>Paso 5</a:t>
            </a:r>
          </a:p>
        </p:txBody>
      </p:sp>
      <p:sp>
        <p:nvSpPr>
          <p:cNvPr id="70" name="Rectangle 69"/>
          <p:cNvSpPr/>
          <p:nvPr/>
        </p:nvSpPr>
        <p:spPr>
          <a:xfrm>
            <a:off x="254798" y="6038695"/>
            <a:ext cx="1080000" cy="31089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1" name="TextBox 70"/>
          <p:cNvSpPr txBox="1"/>
          <p:nvPr/>
        </p:nvSpPr>
        <p:spPr>
          <a:xfrm>
            <a:off x="254798" y="6038695"/>
            <a:ext cx="1080000" cy="310896"/>
          </a:xfrm>
          <a:prstGeom prst="rect">
            <a:avLst/>
          </a:prstGeom>
          <a:noFill/>
        </p:spPr>
        <p:txBody>
          <a:bodyPr wrap="square">
            <a:spAutoFit/>
          </a:bodyPr>
          <a:lstStyle/>
          <a:p>
            <a:pPr algn="ctr"/>
            <a:r>
              <a:rPr sz="1400" b="1" i="0">
                <a:solidFill>
                  <a:srgbClr val="FFFFFF"/>
                </a:solidFill>
              </a:rPr>
              <a:t>Paso 6</a:t>
            </a:r>
          </a:p>
        </p:txBody>
      </p:sp>
      <p:sp>
        <p:nvSpPr>
          <p:cNvPr id="74" name="Rectangle 7">
            <a:extLst>
              <a:ext uri="{FF2B5EF4-FFF2-40B4-BE49-F238E27FC236}">
                <a16:creationId xmlns:a16="http://schemas.microsoft.com/office/drawing/2014/main" id="{1D43D6FC-5D53-476E-821F-C83F0E808A67}"/>
              </a:ext>
            </a:extLst>
          </p:cNvPr>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8">
            <a:extLst>
              <a:ext uri="{FF2B5EF4-FFF2-40B4-BE49-F238E27FC236}">
                <a16:creationId xmlns:a16="http://schemas.microsoft.com/office/drawing/2014/main" id="{3AB4CF1A-0A17-4A92-A09A-07AE1A391A62}"/>
              </a:ext>
            </a:extLst>
          </p:cNvPr>
          <p:cNvSpPr txBox="1"/>
          <p:nvPr/>
        </p:nvSpPr>
        <p:spPr>
          <a:xfrm>
            <a:off x="4041648" y="173736"/>
            <a:ext cx="2039112" cy="307777"/>
          </a:xfrm>
          <a:prstGeom prst="rect">
            <a:avLst/>
          </a:prstGeom>
          <a:noFill/>
        </p:spPr>
        <p:txBody>
          <a:bodyPr wrap="square">
            <a:spAutoFit/>
          </a:bodyPr>
          <a:lstStyle/>
          <a:p>
            <a:pPr algn="ctr"/>
            <a:r>
              <a:rPr sz="1400" b="1" i="0" dirty="0">
                <a:solidFill>
                  <a:srgbClr val="155724"/>
                </a:solidFill>
              </a:rPr>
              <a:t>COMPLETADO</a:t>
            </a:r>
          </a:p>
        </p:txBody>
      </p:sp>
      <p:pic>
        <p:nvPicPr>
          <p:cNvPr id="78" name="Imagen 77">
            <a:extLst>
              <a:ext uri="{FF2B5EF4-FFF2-40B4-BE49-F238E27FC236}">
                <a16:creationId xmlns:a16="http://schemas.microsoft.com/office/drawing/2014/main" id="{0CFBE231-4D02-4469-9C26-E99F0095BA52}"/>
              </a:ext>
            </a:extLst>
          </p:cNvPr>
          <p:cNvPicPr>
            <a:picLocks noChangeAspect="1"/>
          </p:cNvPicPr>
          <p:nvPr/>
        </p:nvPicPr>
        <p:blipFill>
          <a:blip r:embed="rId3"/>
          <a:stretch>
            <a:fillRect/>
          </a:stretch>
        </p:blipFill>
        <p:spPr>
          <a:xfrm>
            <a:off x="11263313" y="30088"/>
            <a:ext cx="790574" cy="907565"/>
          </a:xfrm>
          <a:prstGeom prst="rect">
            <a:avLst/>
          </a:prstGeom>
        </p:spPr>
      </p:pic>
      <p:sp>
        <p:nvSpPr>
          <p:cNvPr id="93" name="Rectangle 54">
            <a:extLst>
              <a:ext uri="{FF2B5EF4-FFF2-40B4-BE49-F238E27FC236}">
                <a16:creationId xmlns:a16="http://schemas.microsoft.com/office/drawing/2014/main" id="{6F0AC609-FC08-4E2C-9361-BECB2895382D}"/>
              </a:ext>
            </a:extLst>
          </p:cNvPr>
          <p:cNvSpPr/>
          <p:nvPr/>
        </p:nvSpPr>
        <p:spPr>
          <a:xfrm>
            <a:off x="1338000" y="4548225"/>
            <a:ext cx="10274882"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94" name="TextBox 55">
            <a:extLst>
              <a:ext uri="{FF2B5EF4-FFF2-40B4-BE49-F238E27FC236}">
                <a16:creationId xmlns:a16="http://schemas.microsoft.com/office/drawing/2014/main" id="{EFA84297-44C8-4FD9-94A3-B5235F50247D}"/>
              </a:ext>
            </a:extLst>
          </p:cNvPr>
          <p:cNvSpPr txBox="1"/>
          <p:nvPr/>
        </p:nvSpPr>
        <p:spPr>
          <a:xfrm>
            <a:off x="1347524" y="4548225"/>
            <a:ext cx="10028870" cy="310896"/>
          </a:xfrm>
          <a:prstGeom prst="rect">
            <a:avLst/>
          </a:prstGeom>
          <a:noFill/>
        </p:spPr>
        <p:txBody>
          <a:bodyPr wrap="square">
            <a:spAutoFit/>
          </a:bodyPr>
          <a:lstStyle/>
          <a:p>
            <a:pPr algn="l"/>
            <a:r>
              <a:rPr lang="es-ES" sz="1400" b="0" i="0" dirty="0">
                <a:solidFill>
                  <a:schemeClr val="bg1"/>
                </a:solidFill>
              </a:rPr>
              <a:t>Operador registra cada vaciado del </a:t>
            </a:r>
            <a:r>
              <a:rPr lang="es-ES" sz="1400" b="0" i="0" dirty="0" err="1">
                <a:solidFill>
                  <a:schemeClr val="bg1"/>
                </a:solidFill>
              </a:rPr>
              <a:t>dumper</a:t>
            </a:r>
            <a:r>
              <a:rPr lang="es-ES" sz="1400" b="0" i="0" dirty="0">
                <a:solidFill>
                  <a:schemeClr val="bg1"/>
                </a:solidFill>
              </a:rPr>
              <a:t> en la cancha de acopio.(ROL: ENCARGADO DISPATCH)</a:t>
            </a:r>
          </a:p>
        </p:txBody>
      </p:sp>
      <p:sp>
        <p:nvSpPr>
          <p:cNvPr id="97" name="Rectangle 54">
            <a:extLst>
              <a:ext uri="{FF2B5EF4-FFF2-40B4-BE49-F238E27FC236}">
                <a16:creationId xmlns:a16="http://schemas.microsoft.com/office/drawing/2014/main" id="{156DD155-86E3-44DD-9173-3A73AC02CC0E}"/>
              </a:ext>
            </a:extLst>
          </p:cNvPr>
          <p:cNvSpPr/>
          <p:nvPr/>
        </p:nvSpPr>
        <p:spPr>
          <a:xfrm>
            <a:off x="1334798" y="4846319"/>
            <a:ext cx="10278083"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98" name="TextBox 55">
            <a:extLst>
              <a:ext uri="{FF2B5EF4-FFF2-40B4-BE49-F238E27FC236}">
                <a16:creationId xmlns:a16="http://schemas.microsoft.com/office/drawing/2014/main" id="{89092BF1-3971-4247-A5B2-E40BAA106033}"/>
              </a:ext>
            </a:extLst>
          </p:cNvPr>
          <p:cNvSpPr txBox="1"/>
          <p:nvPr/>
        </p:nvSpPr>
        <p:spPr>
          <a:xfrm>
            <a:off x="1334798" y="4846319"/>
            <a:ext cx="10028870" cy="310896"/>
          </a:xfrm>
          <a:prstGeom prst="rect">
            <a:avLst/>
          </a:prstGeom>
          <a:noFill/>
        </p:spPr>
        <p:txBody>
          <a:bodyPr wrap="square">
            <a:spAutoFit/>
          </a:bodyPr>
          <a:lstStyle/>
          <a:p>
            <a:pPr algn="l"/>
            <a:r>
              <a:rPr lang="es-ES" sz="1400" b="0" i="0" dirty="0">
                <a:solidFill>
                  <a:schemeClr val="bg1"/>
                </a:solidFill>
              </a:rPr>
              <a:t>Personal de muestreo toma muestra </a:t>
            </a:r>
            <a:r>
              <a:rPr lang="es-ES" sz="1400" b="0" i="0" dirty="0" err="1">
                <a:solidFill>
                  <a:schemeClr val="bg1"/>
                </a:solidFill>
              </a:rPr>
              <a:t>fisica</a:t>
            </a:r>
            <a:r>
              <a:rPr lang="es-ES" sz="1400" b="0" i="0" dirty="0">
                <a:solidFill>
                  <a:schemeClr val="bg1"/>
                </a:solidFill>
              </a:rPr>
              <a:t> y la </a:t>
            </a:r>
            <a:r>
              <a:rPr lang="es-ES" sz="1400" b="0" i="0" dirty="0" err="1">
                <a:solidFill>
                  <a:schemeClr val="bg1"/>
                </a:solidFill>
              </a:rPr>
              <a:t>envia</a:t>
            </a:r>
            <a:r>
              <a:rPr lang="es-ES" sz="1400" b="0" i="0" dirty="0">
                <a:solidFill>
                  <a:schemeClr val="bg1"/>
                </a:solidFill>
              </a:rPr>
              <a:t> al laboratorio.(ROL: ENCARGADO DISPATCH)</a:t>
            </a:r>
          </a:p>
        </p:txBody>
      </p:sp>
      <p:sp>
        <p:nvSpPr>
          <p:cNvPr id="99" name="Rectangle 54">
            <a:extLst>
              <a:ext uri="{FF2B5EF4-FFF2-40B4-BE49-F238E27FC236}">
                <a16:creationId xmlns:a16="http://schemas.microsoft.com/office/drawing/2014/main" id="{516E0076-06F1-4EBC-BB3F-68ED92255979}"/>
              </a:ext>
            </a:extLst>
          </p:cNvPr>
          <p:cNvSpPr/>
          <p:nvPr/>
        </p:nvSpPr>
        <p:spPr>
          <a:xfrm>
            <a:off x="1334798" y="5144413"/>
            <a:ext cx="10278083"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01" name="TextBox 55">
            <a:extLst>
              <a:ext uri="{FF2B5EF4-FFF2-40B4-BE49-F238E27FC236}">
                <a16:creationId xmlns:a16="http://schemas.microsoft.com/office/drawing/2014/main" id="{51542A2C-3347-436A-89F8-89D4F350DBB4}"/>
              </a:ext>
            </a:extLst>
          </p:cNvPr>
          <p:cNvSpPr txBox="1"/>
          <p:nvPr/>
        </p:nvSpPr>
        <p:spPr>
          <a:xfrm>
            <a:off x="1334798" y="5144413"/>
            <a:ext cx="10028870" cy="310896"/>
          </a:xfrm>
          <a:prstGeom prst="rect">
            <a:avLst/>
          </a:prstGeom>
          <a:noFill/>
        </p:spPr>
        <p:txBody>
          <a:bodyPr wrap="square">
            <a:spAutoFit/>
          </a:bodyPr>
          <a:lstStyle/>
          <a:p>
            <a:pPr algn="l"/>
            <a:r>
              <a:rPr lang="es-ES" sz="1400" b="0" i="0" dirty="0">
                <a:solidFill>
                  <a:schemeClr val="bg1"/>
                </a:solidFill>
              </a:rPr>
              <a:t>Laboratorio analiza Cu Total, Cu Soluble. Cu insoluble (ROL: LABORATORIO)</a:t>
            </a:r>
          </a:p>
        </p:txBody>
      </p:sp>
      <p:sp>
        <p:nvSpPr>
          <p:cNvPr id="110" name="Rectangle 54">
            <a:extLst>
              <a:ext uri="{FF2B5EF4-FFF2-40B4-BE49-F238E27FC236}">
                <a16:creationId xmlns:a16="http://schemas.microsoft.com/office/drawing/2014/main" id="{284E4D82-57FC-45EF-949C-7C2CE42AE7E7}"/>
              </a:ext>
            </a:extLst>
          </p:cNvPr>
          <p:cNvSpPr/>
          <p:nvPr/>
        </p:nvSpPr>
        <p:spPr>
          <a:xfrm>
            <a:off x="1334798" y="5442507"/>
            <a:ext cx="10278084"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1" name="TextBox 55">
            <a:extLst>
              <a:ext uri="{FF2B5EF4-FFF2-40B4-BE49-F238E27FC236}">
                <a16:creationId xmlns:a16="http://schemas.microsoft.com/office/drawing/2014/main" id="{84641543-7CF4-4E92-8BAC-16B5AA048ED0}"/>
              </a:ext>
            </a:extLst>
          </p:cNvPr>
          <p:cNvSpPr txBox="1"/>
          <p:nvPr/>
        </p:nvSpPr>
        <p:spPr>
          <a:xfrm>
            <a:off x="1365719" y="5442507"/>
            <a:ext cx="10028870" cy="310896"/>
          </a:xfrm>
          <a:prstGeom prst="rect">
            <a:avLst/>
          </a:prstGeom>
          <a:noFill/>
        </p:spPr>
        <p:txBody>
          <a:bodyPr wrap="square">
            <a:spAutoFit/>
          </a:bodyPr>
          <a:lstStyle/>
          <a:p>
            <a:pPr algn="l"/>
            <a:r>
              <a:rPr lang="es-ES" sz="1400" b="0" i="0" dirty="0" err="1">
                <a:solidFill>
                  <a:schemeClr val="bg1"/>
                </a:solidFill>
              </a:rPr>
              <a:t>Dispatch</a:t>
            </a:r>
            <a:r>
              <a:rPr lang="es-ES" sz="1400" b="0" i="0" dirty="0">
                <a:solidFill>
                  <a:schemeClr val="bg1"/>
                </a:solidFill>
              </a:rPr>
              <a:t> agrupa </a:t>
            </a:r>
            <a:r>
              <a:rPr lang="es-ES" sz="1400" b="0" i="0" dirty="0" err="1">
                <a:solidFill>
                  <a:schemeClr val="bg1"/>
                </a:solidFill>
              </a:rPr>
              <a:t>dumpadas</a:t>
            </a:r>
            <a:r>
              <a:rPr lang="es-ES" sz="1400" b="0" i="0" dirty="0">
                <a:solidFill>
                  <a:schemeClr val="bg1"/>
                </a:solidFill>
              </a:rPr>
              <a:t>, calcula promedio ponderado y verifica ley objetivo.(ROL: ENCARGADO DISPATCH)</a:t>
            </a:r>
          </a:p>
        </p:txBody>
      </p:sp>
      <p:sp>
        <p:nvSpPr>
          <p:cNvPr id="112" name="Rectangle 54">
            <a:extLst>
              <a:ext uri="{FF2B5EF4-FFF2-40B4-BE49-F238E27FC236}">
                <a16:creationId xmlns:a16="http://schemas.microsoft.com/office/drawing/2014/main" id="{D34902E1-4994-4ADF-9284-814E14016FCD}"/>
              </a:ext>
            </a:extLst>
          </p:cNvPr>
          <p:cNvSpPr/>
          <p:nvPr/>
        </p:nvSpPr>
        <p:spPr>
          <a:xfrm>
            <a:off x="1334798" y="5740601"/>
            <a:ext cx="10278084"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4" name="TextBox 55">
            <a:extLst>
              <a:ext uri="{FF2B5EF4-FFF2-40B4-BE49-F238E27FC236}">
                <a16:creationId xmlns:a16="http://schemas.microsoft.com/office/drawing/2014/main" id="{0E5B8554-B78D-4F63-BAD3-E658045F56EB}"/>
              </a:ext>
            </a:extLst>
          </p:cNvPr>
          <p:cNvSpPr txBox="1"/>
          <p:nvPr/>
        </p:nvSpPr>
        <p:spPr>
          <a:xfrm>
            <a:off x="1365719" y="5740601"/>
            <a:ext cx="10028870" cy="310896"/>
          </a:xfrm>
          <a:prstGeom prst="rect">
            <a:avLst/>
          </a:prstGeom>
          <a:noFill/>
        </p:spPr>
        <p:txBody>
          <a:bodyPr wrap="square">
            <a:spAutoFit/>
          </a:bodyPr>
          <a:lstStyle/>
          <a:p>
            <a:pPr algn="l"/>
            <a:r>
              <a:rPr lang="es-ES" sz="1400" b="0" i="0" dirty="0">
                <a:solidFill>
                  <a:schemeClr val="bg1"/>
                </a:solidFill>
              </a:rPr>
              <a:t>Encargado genera el lote y registra cada camionada despachada a planta.(ROL: ENCARGADO DISPATCH)</a:t>
            </a:r>
          </a:p>
        </p:txBody>
      </p:sp>
      <p:sp>
        <p:nvSpPr>
          <p:cNvPr id="115" name="Rectangle 54">
            <a:extLst>
              <a:ext uri="{FF2B5EF4-FFF2-40B4-BE49-F238E27FC236}">
                <a16:creationId xmlns:a16="http://schemas.microsoft.com/office/drawing/2014/main" id="{986FBC54-DB1F-40F7-A7A2-D6AE856F094B}"/>
              </a:ext>
            </a:extLst>
          </p:cNvPr>
          <p:cNvSpPr/>
          <p:nvPr/>
        </p:nvSpPr>
        <p:spPr>
          <a:xfrm>
            <a:off x="1334799" y="6038695"/>
            <a:ext cx="10278084" cy="31089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dirty="0"/>
          </a:p>
        </p:txBody>
      </p:sp>
      <p:sp>
        <p:nvSpPr>
          <p:cNvPr id="116" name="TextBox 55">
            <a:extLst>
              <a:ext uri="{FF2B5EF4-FFF2-40B4-BE49-F238E27FC236}">
                <a16:creationId xmlns:a16="http://schemas.microsoft.com/office/drawing/2014/main" id="{4A5EE92B-0F28-4D5F-91E1-BA056460AAE5}"/>
              </a:ext>
            </a:extLst>
          </p:cNvPr>
          <p:cNvSpPr txBox="1"/>
          <p:nvPr/>
        </p:nvSpPr>
        <p:spPr>
          <a:xfrm>
            <a:off x="1383246" y="6038695"/>
            <a:ext cx="10028870" cy="310896"/>
          </a:xfrm>
          <a:prstGeom prst="rect">
            <a:avLst/>
          </a:prstGeom>
          <a:noFill/>
        </p:spPr>
        <p:txBody>
          <a:bodyPr wrap="square">
            <a:spAutoFit/>
          </a:bodyPr>
          <a:lstStyle/>
          <a:p>
            <a:pPr algn="l"/>
            <a:r>
              <a:rPr lang="es-ES" sz="1400" b="0" i="0" dirty="0">
                <a:solidFill>
                  <a:schemeClr val="bg1"/>
                </a:solidFill>
              </a:rPr>
              <a:t>Planta entrega ticket con peso real. </a:t>
            </a:r>
            <a:r>
              <a:rPr lang="es-ES" sz="1400" b="0" i="0" dirty="0" err="1">
                <a:solidFill>
                  <a:schemeClr val="bg1"/>
                </a:solidFill>
              </a:rPr>
              <a:t>Dispatch</a:t>
            </a:r>
            <a:r>
              <a:rPr lang="es-ES" sz="1400" b="0" i="0" dirty="0">
                <a:solidFill>
                  <a:schemeClr val="bg1"/>
                </a:solidFill>
              </a:rPr>
              <a:t> confirma y cierra el lote.(ROL: ENCARGADO DISPATCH)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Dumpada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Ingreso del mineral a la cancha de acopio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1</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es una dumpada?</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Es el registro de cada vaciado de un equipo dumper en la cancha de acopio. Representa la unidad minima de trazabilidad del mineral desde el frente de trabajo hasta el despacho.</a:t>
            </a:r>
          </a:p>
        </p:txBody>
      </p:sp>
      <p:sp>
        <p:nvSpPr>
          <p:cNvPr id="14" name="Rectangle 13"/>
          <p:cNvSpPr/>
          <p:nvPr/>
        </p:nvSpPr>
        <p:spPr>
          <a:xfrm>
            <a:off x="1920240" y="2103120"/>
            <a:ext cx="3474720" cy="33832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4A5568"/>
                </a:solidFill>
              </a:rPr>
              <a:t>Estado resultante:  INGRESADO</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Datos capturados en el sistema:</a:t>
            </a:r>
          </a:p>
        </p:txBody>
      </p:sp>
      <p:sp>
        <p:nvSpPr>
          <p:cNvPr id="17" name="Rectangle 16"/>
          <p:cNvSpPr/>
          <p:nvPr/>
        </p:nvSpPr>
        <p:spPr>
          <a:xfrm>
            <a:off x="320040" y="3108960"/>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45536"/>
            <a:ext cx="2743200" cy="292608"/>
          </a:xfrm>
          <a:prstGeom prst="rect">
            <a:avLst/>
          </a:prstGeom>
          <a:noFill/>
        </p:spPr>
        <p:txBody>
          <a:bodyPr wrap="square">
            <a:spAutoFit/>
          </a:bodyPr>
          <a:lstStyle/>
          <a:p>
            <a:pPr algn="l"/>
            <a:r>
              <a:rPr sz="1100" b="1" i="0">
                <a:solidFill>
                  <a:srgbClr val="E06010"/>
                </a:solidFill>
              </a:rPr>
              <a:t>Frente de trabajo</a:t>
            </a:r>
          </a:p>
        </p:txBody>
      </p:sp>
      <p:sp>
        <p:nvSpPr>
          <p:cNvPr id="19" name="TextBox 18"/>
          <p:cNvSpPr txBox="1"/>
          <p:nvPr/>
        </p:nvSpPr>
        <p:spPr>
          <a:xfrm>
            <a:off x="3200400" y="3145536"/>
            <a:ext cx="8595360" cy="292608"/>
          </a:xfrm>
          <a:prstGeom prst="rect">
            <a:avLst/>
          </a:prstGeom>
          <a:noFill/>
        </p:spPr>
        <p:txBody>
          <a:bodyPr wrap="square">
            <a:spAutoFit/>
          </a:bodyPr>
          <a:lstStyle/>
          <a:p>
            <a:pPr algn="l"/>
            <a:r>
              <a:rPr sz="1100" b="0" i="0">
                <a:solidFill>
                  <a:srgbClr val="1A1A1A"/>
                </a:solidFill>
              </a:rPr>
              <a:t>Origen del mineral dentro de la mina</a:t>
            </a:r>
          </a:p>
        </p:txBody>
      </p:sp>
      <p:sp>
        <p:nvSpPr>
          <p:cNvPr id="20" name="Rectangle 19"/>
          <p:cNvSpPr/>
          <p:nvPr/>
        </p:nvSpPr>
        <p:spPr>
          <a:xfrm>
            <a:off x="320040" y="3493008"/>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3529584"/>
            <a:ext cx="2743200" cy="292608"/>
          </a:xfrm>
          <a:prstGeom prst="rect">
            <a:avLst/>
          </a:prstGeom>
          <a:noFill/>
        </p:spPr>
        <p:txBody>
          <a:bodyPr wrap="square">
            <a:spAutoFit/>
          </a:bodyPr>
          <a:lstStyle/>
          <a:p>
            <a:pPr algn="l"/>
            <a:r>
              <a:rPr sz="1100" b="1" i="0">
                <a:solidFill>
                  <a:srgbClr val="E06010"/>
                </a:solidFill>
              </a:rPr>
              <a:t>Jornada / Turno</a:t>
            </a:r>
          </a:p>
        </p:txBody>
      </p:sp>
      <p:sp>
        <p:nvSpPr>
          <p:cNvPr id="22" name="TextBox 21"/>
          <p:cNvSpPr txBox="1"/>
          <p:nvPr/>
        </p:nvSpPr>
        <p:spPr>
          <a:xfrm>
            <a:off x="3200400" y="3529584"/>
            <a:ext cx="8595360" cy="292608"/>
          </a:xfrm>
          <a:prstGeom prst="rect">
            <a:avLst/>
          </a:prstGeom>
          <a:noFill/>
        </p:spPr>
        <p:txBody>
          <a:bodyPr wrap="square">
            <a:spAutoFit/>
          </a:bodyPr>
          <a:lstStyle/>
          <a:p>
            <a:pPr algn="l"/>
            <a:r>
              <a:rPr sz="1100" b="0" i="0">
                <a:solidFill>
                  <a:srgbClr val="1A1A1A"/>
                </a:solidFill>
              </a:rPr>
              <a:t>Periodo del dia en que se realizo la dumpada</a:t>
            </a:r>
          </a:p>
        </p:txBody>
      </p:sp>
      <p:sp>
        <p:nvSpPr>
          <p:cNvPr id="23" name="Rectangle 22"/>
          <p:cNvSpPr/>
          <p:nvPr/>
        </p:nvSpPr>
        <p:spPr>
          <a:xfrm>
            <a:off x="320040" y="3877056"/>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913632"/>
            <a:ext cx="2743200" cy="292608"/>
          </a:xfrm>
          <a:prstGeom prst="rect">
            <a:avLst/>
          </a:prstGeom>
          <a:noFill/>
        </p:spPr>
        <p:txBody>
          <a:bodyPr wrap="square">
            <a:spAutoFit/>
          </a:bodyPr>
          <a:lstStyle/>
          <a:p>
            <a:pPr algn="l"/>
            <a:r>
              <a:rPr sz="1100" b="1" i="0">
                <a:solidFill>
                  <a:srgbClr val="E06010"/>
                </a:solidFill>
              </a:rPr>
              <a:t>Ley visual (%)</a:t>
            </a:r>
          </a:p>
        </p:txBody>
      </p:sp>
      <p:sp>
        <p:nvSpPr>
          <p:cNvPr id="25" name="TextBox 24"/>
          <p:cNvSpPr txBox="1"/>
          <p:nvPr/>
        </p:nvSpPr>
        <p:spPr>
          <a:xfrm>
            <a:off x="3200400" y="3913632"/>
            <a:ext cx="8595360" cy="292608"/>
          </a:xfrm>
          <a:prstGeom prst="rect">
            <a:avLst/>
          </a:prstGeom>
          <a:noFill/>
        </p:spPr>
        <p:txBody>
          <a:bodyPr wrap="square">
            <a:spAutoFit/>
          </a:bodyPr>
          <a:lstStyle/>
          <a:p>
            <a:pPr algn="l"/>
            <a:r>
              <a:rPr sz="1100" b="0" i="0">
                <a:solidFill>
                  <a:srgbClr val="1A1A1A"/>
                </a:solidFill>
              </a:rPr>
              <a:t>Estimacion visual de la ley de cobre</a:t>
            </a:r>
          </a:p>
        </p:txBody>
      </p:sp>
      <p:sp>
        <p:nvSpPr>
          <p:cNvPr id="26" name="Rectangle 25"/>
          <p:cNvSpPr/>
          <p:nvPr/>
        </p:nvSpPr>
        <p:spPr>
          <a:xfrm>
            <a:off x="320040" y="4261104"/>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297680"/>
            <a:ext cx="2743200" cy="292608"/>
          </a:xfrm>
          <a:prstGeom prst="rect">
            <a:avLst/>
          </a:prstGeom>
          <a:noFill/>
        </p:spPr>
        <p:txBody>
          <a:bodyPr wrap="square">
            <a:spAutoFit/>
          </a:bodyPr>
          <a:lstStyle/>
          <a:p>
            <a:pPr algn="l"/>
            <a:r>
              <a:rPr sz="1100" b="1" i="0">
                <a:solidFill>
                  <a:srgbClr val="E06010"/>
                </a:solidFill>
              </a:rPr>
              <a:t>Maquina dumper</a:t>
            </a:r>
          </a:p>
        </p:txBody>
      </p:sp>
      <p:sp>
        <p:nvSpPr>
          <p:cNvPr id="28" name="TextBox 27"/>
          <p:cNvSpPr txBox="1"/>
          <p:nvPr/>
        </p:nvSpPr>
        <p:spPr>
          <a:xfrm>
            <a:off x="3200400" y="4297680"/>
            <a:ext cx="8595360" cy="292608"/>
          </a:xfrm>
          <a:prstGeom prst="rect">
            <a:avLst/>
          </a:prstGeom>
          <a:noFill/>
        </p:spPr>
        <p:txBody>
          <a:bodyPr wrap="square">
            <a:spAutoFit/>
          </a:bodyPr>
          <a:lstStyle/>
          <a:p>
            <a:pPr algn="l"/>
            <a:r>
              <a:rPr sz="1100" b="0" i="0">
                <a:solidFill>
                  <a:srgbClr val="1A1A1A"/>
                </a:solidFill>
              </a:rPr>
              <a:t>Equipo que realizo el vaciado</a:t>
            </a:r>
          </a:p>
        </p:txBody>
      </p:sp>
      <p:sp>
        <p:nvSpPr>
          <p:cNvPr id="29" name="Rectangle 28"/>
          <p:cNvSpPr/>
          <p:nvPr/>
        </p:nvSpPr>
        <p:spPr>
          <a:xfrm>
            <a:off x="320040" y="4645152"/>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681728"/>
            <a:ext cx="2743200" cy="292608"/>
          </a:xfrm>
          <a:prstGeom prst="rect">
            <a:avLst/>
          </a:prstGeom>
          <a:noFill/>
        </p:spPr>
        <p:txBody>
          <a:bodyPr wrap="square">
            <a:spAutoFit/>
          </a:bodyPr>
          <a:lstStyle/>
          <a:p>
            <a:pPr algn="l"/>
            <a:r>
              <a:rPr sz="1100" b="1" i="0">
                <a:solidFill>
                  <a:srgbClr val="E06010"/>
                </a:solidFill>
              </a:rPr>
              <a:t>Tonelaje (t)</a:t>
            </a:r>
          </a:p>
        </p:txBody>
      </p:sp>
      <p:sp>
        <p:nvSpPr>
          <p:cNvPr id="31" name="TextBox 30"/>
          <p:cNvSpPr txBox="1"/>
          <p:nvPr/>
        </p:nvSpPr>
        <p:spPr>
          <a:xfrm>
            <a:off x="3200400" y="4681728"/>
            <a:ext cx="8595360" cy="292608"/>
          </a:xfrm>
          <a:prstGeom prst="rect">
            <a:avLst/>
          </a:prstGeom>
          <a:noFill/>
        </p:spPr>
        <p:txBody>
          <a:bodyPr wrap="square">
            <a:spAutoFit/>
          </a:bodyPr>
          <a:lstStyle/>
          <a:p>
            <a:pPr algn="l"/>
            <a:r>
              <a:rPr sz="1100" b="0" i="0">
                <a:solidFill>
                  <a:srgbClr val="1A1A1A"/>
                </a:solidFill>
              </a:rPr>
              <a:t>Peso estimado segun capacidad del dumper</a:t>
            </a:r>
          </a:p>
        </p:txBody>
      </p:sp>
      <p:sp>
        <p:nvSpPr>
          <p:cNvPr id="38" name="TextBox 37"/>
          <p:cNvSpPr txBox="1"/>
          <p:nvPr/>
        </p:nvSpPr>
        <p:spPr>
          <a:xfrm>
            <a:off x="320040" y="6099048"/>
            <a:ext cx="11521440" cy="246221"/>
          </a:xfrm>
          <a:prstGeom prst="rect">
            <a:avLst/>
          </a:prstGeom>
          <a:noFill/>
        </p:spPr>
        <p:txBody>
          <a:bodyPr wrap="square">
            <a:spAutoFit/>
          </a:bodyPr>
          <a:lstStyle/>
          <a:p>
            <a:pPr algn="l"/>
            <a:r>
              <a:rPr sz="1000" b="0" i="1" dirty="0">
                <a:solidFill>
                  <a:srgbClr val="888888"/>
                </a:solidFill>
              </a:rPr>
              <a:t>Vias de </a:t>
            </a:r>
            <a:r>
              <a:rPr sz="1000" b="0" i="1" dirty="0" err="1">
                <a:solidFill>
                  <a:srgbClr val="888888"/>
                </a:solidFill>
              </a:rPr>
              <a:t>ingreso</a:t>
            </a:r>
            <a:r>
              <a:rPr sz="1000" b="0" i="1" dirty="0">
                <a:solidFill>
                  <a:srgbClr val="888888"/>
                </a:solidFill>
              </a:rPr>
              <a:t>:  Manual (</a:t>
            </a:r>
            <a:r>
              <a:rPr sz="1000" b="0" i="1" dirty="0" err="1">
                <a:solidFill>
                  <a:srgbClr val="888888"/>
                </a:solidFill>
              </a:rPr>
              <a:t>formulario</a:t>
            </a:r>
            <a:r>
              <a:rPr sz="1000" b="0" i="1" dirty="0">
                <a:solidFill>
                  <a:srgbClr val="888888"/>
                </a:solidFill>
              </a:rPr>
              <a:t>)</a:t>
            </a:r>
          </a:p>
        </p:txBody>
      </p:sp>
      <p:sp>
        <p:nvSpPr>
          <p:cNvPr id="41" name="Rectangle 7">
            <a:extLst>
              <a:ext uri="{FF2B5EF4-FFF2-40B4-BE49-F238E27FC236}">
                <a16:creationId xmlns:a16="http://schemas.microsoft.com/office/drawing/2014/main" id="{9B60894E-421F-4201-9604-CD7E5E681AFE}"/>
              </a:ext>
            </a:extLst>
          </p:cNvPr>
          <p:cNvSpPr/>
          <p:nvPr/>
        </p:nvSpPr>
        <p:spPr>
          <a:xfrm>
            <a:off x="3022092" y="174117"/>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8">
            <a:extLst>
              <a:ext uri="{FF2B5EF4-FFF2-40B4-BE49-F238E27FC236}">
                <a16:creationId xmlns:a16="http://schemas.microsoft.com/office/drawing/2014/main" id="{4A7C4819-480B-47D3-831D-A447C5859D67}"/>
              </a:ext>
            </a:extLst>
          </p:cNvPr>
          <p:cNvSpPr txBox="1"/>
          <p:nvPr/>
        </p:nvSpPr>
        <p:spPr>
          <a:xfrm>
            <a:off x="3022092" y="192024"/>
            <a:ext cx="2039112" cy="347472"/>
          </a:xfrm>
          <a:prstGeom prst="rect">
            <a:avLst/>
          </a:prstGeom>
          <a:noFill/>
        </p:spPr>
        <p:txBody>
          <a:bodyPr wrap="square">
            <a:spAutoFit/>
          </a:bodyPr>
          <a:lstStyle/>
          <a:p>
            <a:pPr algn="ctr"/>
            <a:r>
              <a:rPr sz="1100" b="1" i="0" dirty="0">
                <a:solidFill>
                  <a:srgbClr val="155724"/>
                </a:solidFill>
              </a:rPr>
              <a:t>COMPLETADO</a:t>
            </a:r>
          </a:p>
        </p:txBody>
      </p:sp>
      <p:pic>
        <p:nvPicPr>
          <p:cNvPr id="47" name="Imagen 46">
            <a:extLst>
              <a:ext uri="{FF2B5EF4-FFF2-40B4-BE49-F238E27FC236}">
                <a16:creationId xmlns:a16="http://schemas.microsoft.com/office/drawing/2014/main" id="{663ECBE3-559D-4E79-AB78-31B6C4943FA4}"/>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1 -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dumpada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formulario permite registrar cada vaciado del dumper indicando: frente de trabajo, jornada, maquina dumper, conductor y empresa. El campo 'ley visual' es la estimacion inicial del operador, antes de recibir el resultado del laboratorio. Al guardar, la dumpada queda en estado INGRESADO y queda disponible para envio de muestra.</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registro de dumpada — ingreso manual</a:t>
            </a:r>
          </a:p>
        </p:txBody>
      </p:sp>
      <p:pic>
        <p:nvPicPr>
          <p:cNvPr id="15" name="Picture 14" descr="paso1_ingreso_dumpada.png"/>
          <p:cNvPicPr>
            <a:picLocks noChangeAspect="1"/>
          </p:cNvPicPr>
          <p:nvPr/>
        </p:nvPicPr>
        <p:blipFill>
          <a:blip r:embed="rId2"/>
          <a:stretch>
            <a:fillRect/>
          </a:stretch>
        </p:blipFill>
        <p:spPr>
          <a:xfrm>
            <a:off x="1628299" y="2231136"/>
            <a:ext cx="8932354" cy="4069080"/>
          </a:xfrm>
          <a:prstGeom prst="rect">
            <a:avLst/>
          </a:prstGeom>
        </p:spPr>
      </p:pic>
      <p:sp>
        <p:nvSpPr>
          <p:cNvPr id="18" name="Rectangle 7">
            <a:extLst>
              <a:ext uri="{FF2B5EF4-FFF2-40B4-BE49-F238E27FC236}">
                <a16:creationId xmlns:a16="http://schemas.microsoft.com/office/drawing/2014/main" id="{3D6CED44-7E35-46BA-8C17-4222FF78CA65}"/>
              </a:ext>
            </a:extLst>
          </p:cNvPr>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8">
            <a:extLst>
              <a:ext uri="{FF2B5EF4-FFF2-40B4-BE49-F238E27FC236}">
                <a16:creationId xmlns:a16="http://schemas.microsoft.com/office/drawing/2014/main" id="{8093FF16-0E74-40B6-BFC7-89A06BC2FDDB}"/>
              </a:ext>
            </a:extLst>
          </p:cNvPr>
          <p:cNvSpPr txBox="1"/>
          <p:nvPr/>
        </p:nvSpPr>
        <p:spPr>
          <a:xfrm>
            <a:off x="4041648" y="173736"/>
            <a:ext cx="2039112" cy="347472"/>
          </a:xfrm>
          <a:prstGeom prst="rect">
            <a:avLst/>
          </a:prstGeom>
          <a:noFill/>
        </p:spPr>
        <p:txBody>
          <a:bodyPr wrap="square">
            <a:spAutoFit/>
          </a:bodyPr>
          <a:lstStyle/>
          <a:p>
            <a:pPr algn="ctr"/>
            <a:r>
              <a:rPr sz="1100" b="1" i="0" dirty="0">
                <a:solidFill>
                  <a:srgbClr val="155724"/>
                </a:solidFill>
              </a:rPr>
              <a:t>COMPLETADO</a:t>
            </a:r>
          </a:p>
        </p:txBody>
      </p:sp>
      <p:pic>
        <p:nvPicPr>
          <p:cNvPr id="21" name="Imagen 20">
            <a:extLst>
              <a:ext uri="{FF2B5EF4-FFF2-40B4-BE49-F238E27FC236}">
                <a16:creationId xmlns:a16="http://schemas.microsoft.com/office/drawing/2014/main" id="{B32F113C-D5D1-4CFD-9336-18315E522421}"/>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Envio de Muestra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Toma fisica y registro del envio al laboratorio</a:t>
            </a:r>
          </a:p>
        </p:txBody>
      </p:sp>
      <p:sp>
        <p:nvSpPr>
          <p:cNvPr id="8" name="Rectangle 7"/>
          <p:cNvSpPr/>
          <p:nvPr/>
        </p:nvSpPr>
        <p:spPr>
          <a:xfrm>
            <a:off x="4041648"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41648" y="173736"/>
            <a:ext cx="2039112" cy="347472"/>
          </a:xfrm>
          <a:prstGeom prst="rect">
            <a:avLst/>
          </a:prstGeom>
          <a:noFill/>
        </p:spPr>
        <p:txBody>
          <a:bodyPr wrap="square">
            <a:spAutoFit/>
          </a:bodyPr>
          <a:lstStyle/>
          <a:p>
            <a:pPr algn="ctr"/>
            <a:r>
              <a:rPr sz="1100" b="1" i="0" dirty="0">
                <a:solidFill>
                  <a:srgbClr val="155724"/>
                </a:solidFill>
              </a:rPr>
              <a:t>COMPLETADO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015663"/>
          </a:xfrm>
          <a:prstGeom prst="rect">
            <a:avLst/>
          </a:prstGeom>
          <a:noFill/>
        </p:spPr>
        <p:txBody>
          <a:bodyPr wrap="square">
            <a:spAutoFit/>
          </a:bodyPr>
          <a:lstStyle/>
          <a:p>
            <a:pPr algn="ctr"/>
            <a:r>
              <a:rPr sz="6000" b="1" i="0" dirty="0">
                <a:solidFill>
                  <a:srgbClr val="FFFFFF"/>
                </a:solidFill>
              </a:rPr>
              <a:t>2</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ocurre en este paso?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El personal de muestreo toma una muestra fisica del material de la dumpada y la registra en el sistema como enviada al laboratorio para su analisis quimico.</a:t>
            </a:r>
          </a:p>
        </p:txBody>
      </p:sp>
      <p:sp>
        <p:nvSpPr>
          <p:cNvPr id="14" name="Rectangle 13"/>
          <p:cNvSpPr/>
          <p:nvPr/>
        </p:nvSpPr>
        <p:spPr>
          <a:xfrm>
            <a:off x="1920240" y="2103120"/>
            <a:ext cx="3474720" cy="338328"/>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0C5460"/>
                </a:solidFill>
              </a:rPr>
              <a:t>Estado resultante:  MUESTRA ENVIADA</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Acciones en Terreno (T):</a:t>
            </a:r>
          </a:p>
        </p:txBody>
      </p:sp>
      <p:sp>
        <p:nvSpPr>
          <p:cNvPr id="17" name="Rectangle 16"/>
          <p:cNvSpPr/>
          <p:nvPr/>
        </p:nvSpPr>
        <p:spPr>
          <a:xfrm>
            <a:off x="320040" y="3108960"/>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3127248"/>
            <a:ext cx="11338560" cy="347472"/>
          </a:xfrm>
          <a:prstGeom prst="rect">
            <a:avLst/>
          </a:prstGeom>
          <a:noFill/>
        </p:spPr>
        <p:txBody>
          <a:bodyPr wrap="square">
            <a:spAutoFit/>
          </a:bodyPr>
          <a:lstStyle/>
          <a:p>
            <a:pPr algn="l"/>
            <a:r>
              <a:rPr sz="1100" b="0" i="0">
                <a:solidFill>
                  <a:srgbClr val="1A1A1A"/>
                </a:solidFill>
              </a:rPr>
              <a:t>- Tomar muestra representativa del material de la dumpada</a:t>
            </a:r>
          </a:p>
        </p:txBody>
      </p:sp>
      <p:sp>
        <p:nvSpPr>
          <p:cNvPr id="19" name="Rectangle 18"/>
          <p:cNvSpPr/>
          <p:nvPr/>
        </p:nvSpPr>
        <p:spPr>
          <a:xfrm>
            <a:off x="320040" y="3520440"/>
            <a:ext cx="11521440" cy="38404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538728"/>
            <a:ext cx="11338560" cy="347472"/>
          </a:xfrm>
          <a:prstGeom prst="rect">
            <a:avLst/>
          </a:prstGeom>
          <a:noFill/>
        </p:spPr>
        <p:txBody>
          <a:bodyPr wrap="square">
            <a:spAutoFit/>
          </a:bodyPr>
          <a:lstStyle/>
          <a:p>
            <a:pPr algn="l"/>
            <a:r>
              <a:rPr sz="1100" b="0" i="0">
                <a:solidFill>
                  <a:srgbClr val="1A1A1A"/>
                </a:solidFill>
              </a:rPr>
              <a:t>- Etiquetar la muestra con el numero de dumpada correspondiente</a:t>
            </a:r>
          </a:p>
        </p:txBody>
      </p:sp>
      <p:sp>
        <p:nvSpPr>
          <p:cNvPr id="21" name="Rectangle 20"/>
          <p:cNvSpPr/>
          <p:nvPr/>
        </p:nvSpPr>
        <p:spPr>
          <a:xfrm>
            <a:off x="320040" y="3931920"/>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950208"/>
            <a:ext cx="11338560" cy="347472"/>
          </a:xfrm>
          <a:prstGeom prst="rect">
            <a:avLst/>
          </a:prstGeom>
          <a:noFill/>
        </p:spPr>
        <p:txBody>
          <a:bodyPr wrap="square">
            <a:spAutoFit/>
          </a:bodyPr>
          <a:lstStyle/>
          <a:p>
            <a:pPr algn="l"/>
            <a:r>
              <a:rPr sz="1100" b="0" i="0">
                <a:solidFill>
                  <a:srgbClr val="1A1A1A"/>
                </a:solidFill>
              </a:rPr>
              <a:t>- Preparar y transportar fisicamente las muestras al laboratorio</a:t>
            </a:r>
          </a:p>
        </p:txBody>
      </p:sp>
      <p:sp>
        <p:nvSpPr>
          <p:cNvPr id="23" name="TextBox 22"/>
          <p:cNvSpPr txBox="1"/>
          <p:nvPr/>
        </p:nvSpPr>
        <p:spPr>
          <a:xfrm>
            <a:off x="320040" y="4343400"/>
            <a:ext cx="11521440" cy="292608"/>
          </a:xfrm>
          <a:prstGeom prst="rect">
            <a:avLst/>
          </a:prstGeom>
          <a:noFill/>
        </p:spPr>
        <p:txBody>
          <a:bodyPr wrap="square">
            <a:spAutoFit/>
          </a:bodyPr>
          <a:lstStyle/>
          <a:p>
            <a:pPr algn="l"/>
            <a:r>
              <a:rPr sz="1300" b="1" i="0">
                <a:solidFill>
                  <a:srgbClr val="8B3A00"/>
                </a:solidFill>
              </a:rPr>
              <a:t>Acciones en Sistema (S):</a:t>
            </a:r>
          </a:p>
        </p:txBody>
      </p:sp>
      <p:sp>
        <p:nvSpPr>
          <p:cNvPr id="24" name="Rectangle 23"/>
          <p:cNvSpPr/>
          <p:nvPr/>
        </p:nvSpPr>
        <p:spPr>
          <a:xfrm>
            <a:off x="320040" y="4681728"/>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700016"/>
            <a:ext cx="11338560" cy="347472"/>
          </a:xfrm>
          <a:prstGeom prst="rect">
            <a:avLst/>
          </a:prstGeom>
          <a:noFill/>
        </p:spPr>
        <p:txBody>
          <a:bodyPr wrap="square">
            <a:spAutoFit/>
          </a:bodyPr>
          <a:lstStyle/>
          <a:p>
            <a:pPr algn="l"/>
            <a:r>
              <a:rPr sz="1100" b="0" i="0">
                <a:solidFill>
                  <a:srgbClr val="1A1A1A"/>
                </a:solidFill>
              </a:rPr>
              <a:t>- Seleccionar la(s) dumpada(s) a registrar como enviadas</a:t>
            </a:r>
          </a:p>
        </p:txBody>
      </p:sp>
      <p:sp>
        <p:nvSpPr>
          <p:cNvPr id="26" name="Rectangle 25"/>
          <p:cNvSpPr/>
          <p:nvPr/>
        </p:nvSpPr>
        <p:spPr>
          <a:xfrm>
            <a:off x="320040" y="5093208"/>
            <a:ext cx="11521440" cy="38404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5111496"/>
            <a:ext cx="11338560" cy="347472"/>
          </a:xfrm>
          <a:prstGeom prst="rect">
            <a:avLst/>
          </a:prstGeom>
          <a:noFill/>
        </p:spPr>
        <p:txBody>
          <a:bodyPr wrap="square">
            <a:spAutoFit/>
          </a:bodyPr>
          <a:lstStyle/>
          <a:p>
            <a:pPr algn="l"/>
            <a:r>
              <a:rPr sz="1100" b="0" i="0">
                <a:solidFill>
                  <a:srgbClr val="1A1A1A"/>
                </a:solidFill>
              </a:rPr>
              <a:t>- Registrar el envio en el modulo Laboratorio del sistema</a:t>
            </a:r>
          </a:p>
        </p:txBody>
      </p:sp>
      <p:sp>
        <p:nvSpPr>
          <p:cNvPr id="28" name="Rectangle 27"/>
          <p:cNvSpPr/>
          <p:nvPr/>
        </p:nvSpPr>
        <p:spPr>
          <a:xfrm>
            <a:off x="320040" y="5504688"/>
            <a:ext cx="11521440" cy="384048"/>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5522976"/>
            <a:ext cx="11338560" cy="347472"/>
          </a:xfrm>
          <a:prstGeom prst="rect">
            <a:avLst/>
          </a:prstGeom>
          <a:noFill/>
        </p:spPr>
        <p:txBody>
          <a:bodyPr wrap="square">
            <a:spAutoFit/>
          </a:bodyPr>
          <a:lstStyle/>
          <a:p>
            <a:pPr algn="l"/>
            <a:r>
              <a:rPr sz="1100" b="0" i="0">
                <a:solidFill>
                  <a:srgbClr val="1A1A1A"/>
                </a:solidFill>
              </a:rPr>
              <a:t>- El estado de la dumpada cambia automaticamente a MUESTRA ENVIADA</a:t>
            </a:r>
          </a:p>
        </p:txBody>
      </p:sp>
      <p:sp>
        <p:nvSpPr>
          <p:cNvPr id="30" name="Rectangle 29"/>
          <p:cNvSpPr/>
          <p:nvPr/>
        </p:nvSpPr>
        <p:spPr>
          <a:xfrm>
            <a:off x="320040" y="6053328"/>
            <a:ext cx="11521440" cy="32918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6071616"/>
            <a:ext cx="11338560" cy="292608"/>
          </a:xfrm>
          <a:prstGeom prst="rect">
            <a:avLst/>
          </a:prstGeom>
          <a:noFill/>
        </p:spPr>
        <p:txBody>
          <a:bodyPr wrap="square">
            <a:spAutoFit/>
          </a:bodyPr>
          <a:lstStyle/>
          <a:p>
            <a:pPr algn="l"/>
            <a:r>
              <a:rPr sz="1000" b="0" i="1">
                <a:solidFill>
                  <a:srgbClr val="856404"/>
                </a:solidFill>
              </a:rPr>
              <a:t>Mientras el laboratorio procesa, Dispatch puede seguir registrando nuevas dumpadas sin bloquear el flujo.</a:t>
            </a:r>
          </a:p>
        </p:txBody>
      </p:sp>
      <p:pic>
        <p:nvPicPr>
          <p:cNvPr id="32" name="Imagen 31">
            <a:extLst>
              <a:ext uri="{FF2B5EF4-FFF2-40B4-BE49-F238E27FC236}">
                <a16:creationId xmlns:a16="http://schemas.microsoft.com/office/drawing/2014/main" id="{96D035FC-6F82-4B27-BBBC-1FFA2DFAC440}"/>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2 - Vista del Sistema</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Modulo de envio de muestras al laboratorio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3988625" y="182880"/>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88625" y="182880"/>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La vista lista las dumpadas en estado INGRESADO que tienen muestra pendiente de envio. El operador selecciona las dumpadas correspondientes al envio del dia y confirma el despacho. El sistema actualiza automaticamente el estado de cada dumpada seleccionada a MUESTRA ENVIADA, registrando la fecha y hora del envio.</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Registro de envio de muestras al laboratorio</a:t>
            </a:r>
          </a:p>
        </p:txBody>
      </p:sp>
      <p:pic>
        <p:nvPicPr>
          <p:cNvPr id="15" name="Picture 14" descr="paso2_envio_muestras.png"/>
          <p:cNvPicPr>
            <a:picLocks noChangeAspect="1"/>
          </p:cNvPicPr>
          <p:nvPr/>
        </p:nvPicPr>
        <p:blipFill>
          <a:blip r:embed="rId2"/>
          <a:stretch>
            <a:fillRect/>
          </a:stretch>
        </p:blipFill>
        <p:spPr>
          <a:xfrm>
            <a:off x="1635853" y="2231136"/>
            <a:ext cx="8917245" cy="4069080"/>
          </a:xfrm>
          <a:prstGeom prst="rect">
            <a:avLst/>
          </a:prstGeom>
        </p:spPr>
      </p:pic>
      <p:pic>
        <p:nvPicPr>
          <p:cNvPr id="16" name="Imagen 15">
            <a:extLst>
              <a:ext uri="{FF2B5EF4-FFF2-40B4-BE49-F238E27FC236}">
                <a16:creationId xmlns:a16="http://schemas.microsoft.com/office/drawing/2014/main" id="{BA74BE29-8335-409E-9E07-FE1CD6E9CA48}"/>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Laboratorio</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Analisis de muestras e ingreso de resultados al sistema</a:t>
            </a:r>
          </a:p>
        </p:txBody>
      </p:sp>
      <p:sp>
        <p:nvSpPr>
          <p:cNvPr id="8" name="Rectangle 7"/>
          <p:cNvSpPr/>
          <p:nvPr/>
        </p:nvSpPr>
        <p:spPr>
          <a:xfrm>
            <a:off x="3200400"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0"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97280"/>
            <a:ext cx="1371600" cy="137160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3</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hace el laboratorio?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El analista recibe las muestras fisicas, realiza el analisis quimico e ingresa los resultados al sistema. El Cu Insoluble se calcula automaticamente como Cu Total menos Cu Soluble.</a:t>
            </a:r>
          </a:p>
        </p:txBody>
      </p:sp>
      <p:sp>
        <p:nvSpPr>
          <p:cNvPr id="14" name="Rectangle 13"/>
          <p:cNvSpPr/>
          <p:nvPr/>
        </p:nvSpPr>
        <p:spPr>
          <a:xfrm>
            <a:off x="1920240" y="2103120"/>
            <a:ext cx="3474720" cy="33832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856404"/>
                </a:solidFill>
              </a:rPr>
              <a:t>Estado resultante:  CON ANALISIS</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Parametros analizados:</a:t>
            </a:r>
          </a:p>
        </p:txBody>
      </p:sp>
      <p:sp>
        <p:nvSpPr>
          <p:cNvPr id="17" name="Rectangle 16"/>
          <p:cNvSpPr/>
          <p:nvPr/>
        </p:nvSpPr>
        <p:spPr>
          <a:xfrm>
            <a:off x="320040" y="3108960"/>
            <a:ext cx="11521440" cy="329184"/>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27248"/>
            <a:ext cx="2743200" cy="292608"/>
          </a:xfrm>
          <a:prstGeom prst="rect">
            <a:avLst/>
          </a:prstGeom>
          <a:noFill/>
        </p:spPr>
        <p:txBody>
          <a:bodyPr wrap="square">
            <a:spAutoFit/>
          </a:bodyPr>
          <a:lstStyle/>
          <a:p>
            <a:pPr algn="l"/>
            <a:r>
              <a:rPr sz="1100" b="1" i="0">
                <a:solidFill>
                  <a:srgbClr val="FFFFFF"/>
                </a:solidFill>
              </a:rPr>
              <a:t>Parametro</a:t>
            </a:r>
          </a:p>
        </p:txBody>
      </p:sp>
      <p:sp>
        <p:nvSpPr>
          <p:cNvPr id="19" name="TextBox 18"/>
          <p:cNvSpPr txBox="1"/>
          <p:nvPr/>
        </p:nvSpPr>
        <p:spPr>
          <a:xfrm>
            <a:off x="3200400" y="3127248"/>
            <a:ext cx="5029200" cy="292608"/>
          </a:xfrm>
          <a:prstGeom prst="rect">
            <a:avLst/>
          </a:prstGeom>
          <a:noFill/>
        </p:spPr>
        <p:txBody>
          <a:bodyPr wrap="square">
            <a:spAutoFit/>
          </a:bodyPr>
          <a:lstStyle/>
          <a:p>
            <a:pPr algn="l"/>
            <a:r>
              <a:rPr sz="1100" b="1" i="0">
                <a:solidFill>
                  <a:srgbClr val="FFFFFF"/>
                </a:solidFill>
              </a:rPr>
              <a:t>Descripcion</a:t>
            </a:r>
          </a:p>
        </p:txBody>
      </p:sp>
      <p:sp>
        <p:nvSpPr>
          <p:cNvPr id="20" name="TextBox 19"/>
          <p:cNvSpPr txBox="1"/>
          <p:nvPr/>
        </p:nvSpPr>
        <p:spPr>
          <a:xfrm>
            <a:off x="8321040" y="3127248"/>
            <a:ext cx="3474720" cy="292608"/>
          </a:xfrm>
          <a:prstGeom prst="rect">
            <a:avLst/>
          </a:prstGeom>
          <a:noFill/>
        </p:spPr>
        <p:txBody>
          <a:bodyPr wrap="square">
            <a:spAutoFit/>
          </a:bodyPr>
          <a:lstStyle/>
          <a:p>
            <a:pPr algn="l"/>
            <a:r>
              <a:rPr sz="1100" b="1" i="0">
                <a:solidFill>
                  <a:srgbClr val="FFFFFF"/>
                </a:solidFill>
              </a:rPr>
              <a:t>Origen del dato</a:t>
            </a:r>
          </a:p>
        </p:txBody>
      </p:sp>
      <p:sp>
        <p:nvSpPr>
          <p:cNvPr id="21" name="Rectangle 20"/>
          <p:cNvSpPr/>
          <p:nvPr/>
        </p:nvSpPr>
        <p:spPr>
          <a:xfrm>
            <a:off x="320040" y="3456432"/>
            <a:ext cx="11521440" cy="44805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3502151"/>
            <a:ext cx="2743200" cy="365760"/>
          </a:xfrm>
          <a:prstGeom prst="rect">
            <a:avLst/>
          </a:prstGeom>
          <a:noFill/>
        </p:spPr>
        <p:txBody>
          <a:bodyPr wrap="square">
            <a:spAutoFit/>
          </a:bodyPr>
          <a:lstStyle/>
          <a:p>
            <a:pPr algn="l"/>
            <a:r>
              <a:rPr sz="1100" b="1" i="0">
                <a:solidFill>
                  <a:srgbClr val="E06010"/>
                </a:solidFill>
              </a:rPr>
              <a:t>Cu Total (%)</a:t>
            </a:r>
          </a:p>
        </p:txBody>
      </p:sp>
      <p:sp>
        <p:nvSpPr>
          <p:cNvPr id="23" name="TextBox 22"/>
          <p:cNvSpPr txBox="1"/>
          <p:nvPr/>
        </p:nvSpPr>
        <p:spPr>
          <a:xfrm>
            <a:off x="3200400" y="3502151"/>
            <a:ext cx="5029200" cy="365760"/>
          </a:xfrm>
          <a:prstGeom prst="rect">
            <a:avLst/>
          </a:prstGeom>
          <a:noFill/>
        </p:spPr>
        <p:txBody>
          <a:bodyPr wrap="square">
            <a:spAutoFit/>
          </a:bodyPr>
          <a:lstStyle/>
          <a:p>
            <a:pPr algn="l"/>
            <a:r>
              <a:rPr sz="1100" b="0" i="0">
                <a:solidFill>
                  <a:srgbClr val="1A1A1A"/>
                </a:solidFill>
              </a:rPr>
              <a:t>Cobre total presente en la muestra</a:t>
            </a:r>
          </a:p>
        </p:txBody>
      </p:sp>
      <p:sp>
        <p:nvSpPr>
          <p:cNvPr id="24" name="TextBox 23"/>
          <p:cNvSpPr txBox="1"/>
          <p:nvPr/>
        </p:nvSpPr>
        <p:spPr>
          <a:xfrm>
            <a:off x="8321040" y="3502151"/>
            <a:ext cx="3474720" cy="365760"/>
          </a:xfrm>
          <a:prstGeom prst="rect">
            <a:avLst/>
          </a:prstGeom>
          <a:noFill/>
        </p:spPr>
        <p:txBody>
          <a:bodyPr wrap="square">
            <a:spAutoFit/>
          </a:bodyPr>
          <a:lstStyle/>
          <a:p>
            <a:pPr algn="l"/>
            <a:r>
              <a:rPr sz="1050" b="0" i="0">
                <a:solidFill>
                  <a:srgbClr val="888888"/>
                </a:solidFill>
              </a:rPr>
              <a:t>Ingresado por el analista</a:t>
            </a:r>
          </a:p>
        </p:txBody>
      </p:sp>
      <p:sp>
        <p:nvSpPr>
          <p:cNvPr id="25" name="Rectangle 24"/>
          <p:cNvSpPr/>
          <p:nvPr/>
        </p:nvSpPr>
        <p:spPr>
          <a:xfrm>
            <a:off x="320040" y="3931920"/>
            <a:ext cx="11521440" cy="44805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11480" y="3977639"/>
            <a:ext cx="2743200" cy="365760"/>
          </a:xfrm>
          <a:prstGeom prst="rect">
            <a:avLst/>
          </a:prstGeom>
          <a:noFill/>
        </p:spPr>
        <p:txBody>
          <a:bodyPr wrap="square">
            <a:spAutoFit/>
          </a:bodyPr>
          <a:lstStyle/>
          <a:p>
            <a:pPr algn="l"/>
            <a:r>
              <a:rPr sz="1100" b="1" i="0">
                <a:solidFill>
                  <a:srgbClr val="E06010"/>
                </a:solidFill>
              </a:rPr>
              <a:t>Cu Soluble (%)</a:t>
            </a:r>
          </a:p>
        </p:txBody>
      </p:sp>
      <p:sp>
        <p:nvSpPr>
          <p:cNvPr id="27" name="TextBox 26"/>
          <p:cNvSpPr txBox="1"/>
          <p:nvPr/>
        </p:nvSpPr>
        <p:spPr>
          <a:xfrm>
            <a:off x="3200400" y="3977639"/>
            <a:ext cx="5029200" cy="365760"/>
          </a:xfrm>
          <a:prstGeom prst="rect">
            <a:avLst/>
          </a:prstGeom>
          <a:noFill/>
        </p:spPr>
        <p:txBody>
          <a:bodyPr wrap="square">
            <a:spAutoFit/>
          </a:bodyPr>
          <a:lstStyle/>
          <a:p>
            <a:pPr algn="l"/>
            <a:r>
              <a:rPr sz="1100" b="0" i="0">
                <a:solidFill>
                  <a:srgbClr val="1A1A1A"/>
                </a:solidFill>
              </a:rPr>
              <a:t>Fraccion de cobre soluble en acido</a:t>
            </a:r>
          </a:p>
        </p:txBody>
      </p:sp>
      <p:sp>
        <p:nvSpPr>
          <p:cNvPr id="28" name="TextBox 27"/>
          <p:cNvSpPr txBox="1"/>
          <p:nvPr/>
        </p:nvSpPr>
        <p:spPr>
          <a:xfrm>
            <a:off x="8321040" y="3977639"/>
            <a:ext cx="3474720" cy="365760"/>
          </a:xfrm>
          <a:prstGeom prst="rect">
            <a:avLst/>
          </a:prstGeom>
          <a:noFill/>
        </p:spPr>
        <p:txBody>
          <a:bodyPr wrap="square">
            <a:spAutoFit/>
          </a:bodyPr>
          <a:lstStyle/>
          <a:p>
            <a:pPr algn="l"/>
            <a:r>
              <a:rPr sz="1050" b="0" i="0">
                <a:solidFill>
                  <a:srgbClr val="888888"/>
                </a:solidFill>
              </a:rPr>
              <a:t>Ingresado por el analista</a:t>
            </a:r>
          </a:p>
        </p:txBody>
      </p:sp>
      <p:sp>
        <p:nvSpPr>
          <p:cNvPr id="29" name="Rectangle 28"/>
          <p:cNvSpPr/>
          <p:nvPr/>
        </p:nvSpPr>
        <p:spPr>
          <a:xfrm>
            <a:off x="320040" y="4407408"/>
            <a:ext cx="11521440" cy="448056"/>
          </a:xfrm>
          <a:prstGeom prst="rect">
            <a:avLst/>
          </a:prstGeom>
          <a:solidFill>
            <a:srgbClr val="D4EDDA"/>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453128"/>
            <a:ext cx="2743200" cy="365760"/>
          </a:xfrm>
          <a:prstGeom prst="rect">
            <a:avLst/>
          </a:prstGeom>
          <a:noFill/>
        </p:spPr>
        <p:txBody>
          <a:bodyPr wrap="square">
            <a:spAutoFit/>
          </a:bodyPr>
          <a:lstStyle/>
          <a:p>
            <a:pPr algn="l"/>
            <a:r>
              <a:rPr sz="1100" b="1" i="0">
                <a:solidFill>
                  <a:srgbClr val="E06010"/>
                </a:solidFill>
              </a:rPr>
              <a:t>Cu Insoluble (%)</a:t>
            </a:r>
          </a:p>
        </p:txBody>
      </p:sp>
      <p:sp>
        <p:nvSpPr>
          <p:cNvPr id="31" name="TextBox 30"/>
          <p:cNvSpPr txBox="1"/>
          <p:nvPr/>
        </p:nvSpPr>
        <p:spPr>
          <a:xfrm>
            <a:off x="3200400" y="4453128"/>
            <a:ext cx="5029200" cy="365760"/>
          </a:xfrm>
          <a:prstGeom prst="rect">
            <a:avLst/>
          </a:prstGeom>
          <a:noFill/>
        </p:spPr>
        <p:txBody>
          <a:bodyPr wrap="square">
            <a:spAutoFit/>
          </a:bodyPr>
          <a:lstStyle/>
          <a:p>
            <a:pPr algn="l"/>
            <a:r>
              <a:rPr sz="1100" b="0" i="0">
                <a:solidFill>
                  <a:srgbClr val="1A1A1A"/>
                </a:solidFill>
              </a:rPr>
              <a:t>Fraccion de cobre insoluble</a:t>
            </a:r>
          </a:p>
        </p:txBody>
      </p:sp>
      <p:sp>
        <p:nvSpPr>
          <p:cNvPr id="32" name="TextBox 31"/>
          <p:cNvSpPr txBox="1"/>
          <p:nvPr/>
        </p:nvSpPr>
        <p:spPr>
          <a:xfrm>
            <a:off x="8321040" y="4453128"/>
            <a:ext cx="3474720" cy="365760"/>
          </a:xfrm>
          <a:prstGeom prst="rect">
            <a:avLst/>
          </a:prstGeom>
          <a:noFill/>
        </p:spPr>
        <p:txBody>
          <a:bodyPr wrap="square">
            <a:spAutoFit/>
          </a:bodyPr>
          <a:lstStyle/>
          <a:p>
            <a:pPr algn="l"/>
            <a:r>
              <a:rPr sz="1050" b="0" i="0">
                <a:solidFill>
                  <a:srgbClr val="155724"/>
                </a:solidFill>
              </a:rPr>
              <a:t>CALCULADO: Cu Total - Cu Soluble</a:t>
            </a:r>
          </a:p>
        </p:txBody>
      </p:sp>
      <p:sp>
        <p:nvSpPr>
          <p:cNvPr id="37" name="Rectangle 36"/>
          <p:cNvSpPr/>
          <p:nvPr/>
        </p:nvSpPr>
        <p:spPr>
          <a:xfrm>
            <a:off x="320040" y="4969763"/>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0" y="4988051"/>
            <a:ext cx="11338560" cy="310896"/>
          </a:xfrm>
          <a:prstGeom prst="rect">
            <a:avLst/>
          </a:prstGeom>
          <a:noFill/>
        </p:spPr>
        <p:txBody>
          <a:bodyPr wrap="square">
            <a:spAutoFit/>
          </a:bodyPr>
          <a:lstStyle/>
          <a:p>
            <a:pPr algn="l"/>
            <a:r>
              <a:rPr sz="1100" b="0" i="1" dirty="0">
                <a:solidFill>
                  <a:srgbClr val="155724"/>
                </a:solidFill>
              </a:rPr>
              <a:t>Con los </a:t>
            </a:r>
            <a:r>
              <a:rPr sz="1100" b="0" i="1" dirty="0" err="1">
                <a:solidFill>
                  <a:srgbClr val="155724"/>
                </a:solidFill>
              </a:rPr>
              <a:t>resultados</a:t>
            </a:r>
            <a:r>
              <a:rPr sz="1100" b="0" i="1" dirty="0">
                <a:solidFill>
                  <a:srgbClr val="155724"/>
                </a:solidFill>
              </a:rPr>
              <a:t> </a:t>
            </a:r>
            <a:r>
              <a:rPr sz="1100" b="0" i="1" dirty="0" err="1">
                <a:solidFill>
                  <a:srgbClr val="155724"/>
                </a:solidFill>
              </a:rPr>
              <a:t>cargados</a:t>
            </a:r>
            <a:r>
              <a:rPr sz="1100" b="0" i="1" dirty="0">
                <a:solidFill>
                  <a:srgbClr val="155724"/>
                </a:solidFill>
              </a:rPr>
              <a:t>, Dispatch </a:t>
            </a:r>
            <a:r>
              <a:rPr sz="1100" b="0" i="1" dirty="0" err="1">
                <a:solidFill>
                  <a:srgbClr val="155724"/>
                </a:solidFill>
              </a:rPr>
              <a:t>puede</a:t>
            </a:r>
            <a:r>
              <a:rPr sz="1100" b="0" i="1" dirty="0">
                <a:solidFill>
                  <a:srgbClr val="155724"/>
                </a:solidFill>
              </a:rPr>
              <a:t> </a:t>
            </a:r>
            <a:r>
              <a:rPr sz="1100" b="0" i="1" dirty="0" err="1">
                <a:solidFill>
                  <a:srgbClr val="155724"/>
                </a:solidFill>
              </a:rPr>
              <a:t>ver</a:t>
            </a:r>
            <a:r>
              <a:rPr sz="1100" b="0" i="1" dirty="0">
                <a:solidFill>
                  <a:srgbClr val="155724"/>
                </a:solidFill>
              </a:rPr>
              <a:t> las </a:t>
            </a:r>
            <a:r>
              <a:rPr sz="1100" b="0" i="1" dirty="0" err="1">
                <a:solidFill>
                  <a:srgbClr val="155724"/>
                </a:solidFill>
              </a:rPr>
              <a:t>leyes</a:t>
            </a:r>
            <a:r>
              <a:rPr sz="1100" b="0" i="1" dirty="0">
                <a:solidFill>
                  <a:srgbClr val="155724"/>
                </a:solidFill>
              </a:rPr>
              <a:t> y </a:t>
            </a:r>
            <a:r>
              <a:rPr sz="1100" b="0" i="1" dirty="0" err="1">
                <a:solidFill>
                  <a:srgbClr val="155724"/>
                </a:solidFill>
              </a:rPr>
              <a:t>crear</a:t>
            </a:r>
            <a:r>
              <a:rPr sz="1100" b="0" i="1" dirty="0">
                <a:solidFill>
                  <a:srgbClr val="155724"/>
                </a:solidFill>
              </a:rPr>
              <a:t> </a:t>
            </a:r>
            <a:r>
              <a:rPr sz="1100" b="0" i="1" dirty="0" err="1">
                <a:solidFill>
                  <a:srgbClr val="155724"/>
                </a:solidFill>
              </a:rPr>
              <a:t>mezclas</a:t>
            </a:r>
            <a:r>
              <a:rPr sz="1100" b="0" i="1" dirty="0">
                <a:solidFill>
                  <a:srgbClr val="155724"/>
                </a:solidFill>
              </a:rPr>
              <a:t>.</a:t>
            </a:r>
          </a:p>
        </p:txBody>
      </p:sp>
      <p:pic>
        <p:nvPicPr>
          <p:cNvPr id="39" name="Imagen 38">
            <a:extLst>
              <a:ext uri="{FF2B5EF4-FFF2-40B4-BE49-F238E27FC236}">
                <a16:creationId xmlns:a16="http://schemas.microsoft.com/office/drawing/2014/main" id="{A221FA8C-1615-4CE9-9719-32228C34EE45}"/>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Bandeja de muestras recibidas en laboratorio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33925"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33925"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modulo de laboratorio lista las muestras recibidas desde Dispatch, identificadas por numero de dumpada, frente y fecha de envio. El analista selecciona una muestra de la lista para proceder a ingresar los resultados del analisis quimico. Las muestras sin analisis aparecen resaltadas como pendientes.</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Listado de muestras recibidas del mes de mayo — vista del modulo Laboratorio</a:t>
            </a:r>
          </a:p>
        </p:txBody>
      </p:sp>
      <p:pic>
        <p:nvPicPr>
          <p:cNvPr id="15" name="Picture 14" descr="paso3_laboratorio.png"/>
          <p:cNvPicPr>
            <a:picLocks noChangeAspect="1"/>
          </p:cNvPicPr>
          <p:nvPr/>
        </p:nvPicPr>
        <p:blipFill>
          <a:blip r:embed="rId2"/>
          <a:stretch>
            <a:fillRect/>
          </a:stretch>
        </p:blipFill>
        <p:spPr>
          <a:xfrm>
            <a:off x="1836971" y="2231136"/>
            <a:ext cx="8515009" cy="4069080"/>
          </a:xfrm>
          <a:prstGeom prst="rect">
            <a:avLst/>
          </a:prstGeom>
        </p:spPr>
      </p:pic>
      <p:pic>
        <p:nvPicPr>
          <p:cNvPr id="16" name="Imagen 15">
            <a:extLst>
              <a:ext uri="{FF2B5EF4-FFF2-40B4-BE49-F238E27FC236}">
                <a16:creationId xmlns:a16="http://schemas.microsoft.com/office/drawing/2014/main" id="{2BEC2612-4642-43C0-97BC-B47743016245}"/>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3 -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Formulario de ingreso de resultados del analisis</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43450" y="164592"/>
            <a:ext cx="2039112"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43450" y="164592"/>
            <a:ext cx="2039112" cy="347472"/>
          </a:xfrm>
          <a:prstGeom prst="rect">
            <a:avLst/>
          </a:prstGeom>
          <a:noFill/>
        </p:spPr>
        <p:txBody>
          <a:bodyPr wrap="square">
            <a:spAutoFit/>
          </a:bodyPr>
          <a:lstStyle/>
          <a:p>
            <a:pPr algn="ctr"/>
            <a:r>
              <a:rPr sz="1100" b="1" i="0">
                <a:solidFill>
                  <a:srgbClr val="155724"/>
                </a:solidFill>
              </a:rPr>
              <a:t>COMPLETADO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analista completa el formulario con los valores obtenidos en el laboratorio: Cu Total (%), Cu Soluble (%) y Humedad (%). El sistema calcula automaticamente el Cu Insoluble (Cu Total - Cu Soluble). Al confirmar, la dumpada cambia a estado CON ANALISIS.</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analisis quimico — ingreso de Cu Total, Cu Soluble y Humedad</a:t>
            </a:r>
          </a:p>
        </p:txBody>
      </p:sp>
      <p:pic>
        <p:nvPicPr>
          <p:cNvPr id="15" name="Picture 14" descr="paso3_laboratorio_analisis.png"/>
          <p:cNvPicPr>
            <a:picLocks noChangeAspect="1"/>
          </p:cNvPicPr>
          <p:nvPr/>
        </p:nvPicPr>
        <p:blipFill>
          <a:blip r:embed="rId2"/>
          <a:stretch>
            <a:fillRect/>
          </a:stretch>
        </p:blipFill>
        <p:spPr>
          <a:xfrm>
            <a:off x="1834938" y="2231136"/>
            <a:ext cx="8519076" cy="4069080"/>
          </a:xfrm>
          <a:prstGeom prst="rect">
            <a:avLst/>
          </a:prstGeom>
        </p:spPr>
      </p:pic>
      <p:pic>
        <p:nvPicPr>
          <p:cNvPr id="16" name="Imagen 15">
            <a:extLst>
              <a:ext uri="{FF2B5EF4-FFF2-40B4-BE49-F238E27FC236}">
                <a16:creationId xmlns:a16="http://schemas.microsoft.com/office/drawing/2014/main" id="{CCD7424D-1A3D-44D8-AC27-7F5723ED15F9}"/>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Creacion de Mezcla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Dispatch agrupa dumpadas y verifica la ley objetivo</a:t>
            </a:r>
          </a:p>
        </p:txBody>
      </p:sp>
      <p:sp>
        <p:nvSpPr>
          <p:cNvPr id="8" name="Rectangle 7"/>
          <p:cNvSpPr/>
          <p:nvPr/>
        </p:nvSpPr>
        <p:spPr>
          <a:xfrm>
            <a:off x="4295775" y="164592"/>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5775" y="164592"/>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97280"/>
            <a:ext cx="1371600" cy="137160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4</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Como se crea una mezcla?</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Con las leyes del laboratorio disponibles, el encargado selecciona dumpadas, las agrupa en una mezcla y el sistema calcula el promedio ponderado de ley.</a:t>
            </a:r>
          </a:p>
        </p:txBody>
      </p:sp>
      <p:sp>
        <p:nvSpPr>
          <p:cNvPr id="14" name="Rectangle 13"/>
          <p:cNvSpPr/>
          <p:nvPr/>
        </p:nvSpPr>
        <p:spPr>
          <a:xfrm>
            <a:off x="1920240" y="2103120"/>
            <a:ext cx="3474720" cy="338328"/>
          </a:xfrm>
          <a:prstGeom prst="rect">
            <a:avLst/>
          </a:prstGeom>
          <a:solidFill>
            <a:srgbClr val="FF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7A3000"/>
                </a:solidFill>
              </a:rPr>
              <a:t>Estado resultante:  EN MEZCLA</a:t>
            </a:r>
          </a:p>
        </p:txBody>
      </p:sp>
      <p:sp>
        <p:nvSpPr>
          <p:cNvPr id="16" name="TextBox 15"/>
          <p:cNvSpPr txBox="1"/>
          <p:nvPr/>
        </p:nvSpPr>
        <p:spPr>
          <a:xfrm>
            <a:off x="320040" y="2761488"/>
            <a:ext cx="11521440" cy="292608"/>
          </a:xfrm>
          <a:prstGeom prst="rect">
            <a:avLst/>
          </a:prstGeom>
          <a:noFill/>
        </p:spPr>
        <p:txBody>
          <a:bodyPr wrap="square">
            <a:spAutoFit/>
          </a:bodyPr>
          <a:lstStyle/>
          <a:p>
            <a:pPr algn="l"/>
            <a:r>
              <a:rPr sz="1300" b="1" i="0">
                <a:solidFill>
                  <a:srgbClr val="8B3A00"/>
                </a:solidFill>
              </a:rPr>
              <a:t>Parametros y calculo:</a:t>
            </a:r>
          </a:p>
        </p:txBody>
      </p:sp>
      <p:sp>
        <p:nvSpPr>
          <p:cNvPr id="17" name="Rectangle 16"/>
          <p:cNvSpPr/>
          <p:nvPr/>
        </p:nvSpPr>
        <p:spPr>
          <a:xfrm>
            <a:off x="320040" y="3108960"/>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11480" y="3154679"/>
            <a:ext cx="2743200" cy="310896"/>
          </a:xfrm>
          <a:prstGeom prst="rect">
            <a:avLst/>
          </a:prstGeom>
          <a:noFill/>
        </p:spPr>
        <p:txBody>
          <a:bodyPr wrap="square">
            <a:spAutoFit/>
          </a:bodyPr>
          <a:lstStyle/>
          <a:p>
            <a:pPr algn="l"/>
            <a:r>
              <a:rPr sz="1100" b="1" i="0">
                <a:solidFill>
                  <a:srgbClr val="E06010"/>
                </a:solidFill>
              </a:rPr>
              <a:t>Ley objetivo</a:t>
            </a:r>
          </a:p>
        </p:txBody>
      </p:sp>
      <p:sp>
        <p:nvSpPr>
          <p:cNvPr id="19" name="TextBox 18"/>
          <p:cNvSpPr txBox="1"/>
          <p:nvPr/>
        </p:nvSpPr>
        <p:spPr>
          <a:xfrm>
            <a:off x="3200400" y="3154679"/>
            <a:ext cx="8595360" cy="310896"/>
          </a:xfrm>
          <a:prstGeom prst="rect">
            <a:avLst/>
          </a:prstGeom>
          <a:noFill/>
        </p:spPr>
        <p:txBody>
          <a:bodyPr wrap="square">
            <a:spAutoFit/>
          </a:bodyPr>
          <a:lstStyle/>
          <a:p>
            <a:pPr algn="l"/>
            <a:r>
              <a:rPr sz="1100" b="0" i="0">
                <a:solidFill>
                  <a:srgbClr val="1A1A1A"/>
                </a:solidFill>
              </a:rPr>
              <a:t>1,3% Cu Insoluble (meta de la mezcla para despacho)</a:t>
            </a:r>
          </a:p>
        </p:txBody>
      </p:sp>
      <p:sp>
        <p:nvSpPr>
          <p:cNvPr id="20" name="Rectangle 19"/>
          <p:cNvSpPr/>
          <p:nvPr/>
        </p:nvSpPr>
        <p:spPr>
          <a:xfrm>
            <a:off x="320040" y="3529584"/>
            <a:ext cx="11521440" cy="39319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3575303"/>
            <a:ext cx="2743200" cy="310896"/>
          </a:xfrm>
          <a:prstGeom prst="rect">
            <a:avLst/>
          </a:prstGeom>
          <a:noFill/>
        </p:spPr>
        <p:txBody>
          <a:bodyPr wrap="square">
            <a:spAutoFit/>
          </a:bodyPr>
          <a:lstStyle/>
          <a:p>
            <a:pPr algn="l"/>
            <a:r>
              <a:rPr sz="1100" b="1" i="0">
                <a:solidFill>
                  <a:srgbClr val="E06010"/>
                </a:solidFill>
              </a:rPr>
              <a:t>Tonelaje maximo</a:t>
            </a:r>
          </a:p>
        </p:txBody>
      </p:sp>
      <p:sp>
        <p:nvSpPr>
          <p:cNvPr id="22" name="TextBox 21"/>
          <p:cNvSpPr txBox="1"/>
          <p:nvPr/>
        </p:nvSpPr>
        <p:spPr>
          <a:xfrm>
            <a:off x="3200400" y="3575303"/>
            <a:ext cx="8595360" cy="310896"/>
          </a:xfrm>
          <a:prstGeom prst="rect">
            <a:avLst/>
          </a:prstGeom>
          <a:noFill/>
        </p:spPr>
        <p:txBody>
          <a:bodyPr wrap="square">
            <a:spAutoFit/>
          </a:bodyPr>
          <a:lstStyle/>
          <a:p>
            <a:pPr algn="l"/>
            <a:r>
              <a:rPr sz="1100" b="0" i="0">
                <a:solidFill>
                  <a:srgbClr val="1A1A1A"/>
                </a:solidFill>
              </a:rPr>
              <a:t>100 toneladas por lote</a:t>
            </a:r>
          </a:p>
        </p:txBody>
      </p:sp>
      <p:sp>
        <p:nvSpPr>
          <p:cNvPr id="23" name="Rectangle 22"/>
          <p:cNvSpPr/>
          <p:nvPr/>
        </p:nvSpPr>
        <p:spPr>
          <a:xfrm>
            <a:off x="320040" y="3950208"/>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995928"/>
            <a:ext cx="2743200" cy="310896"/>
          </a:xfrm>
          <a:prstGeom prst="rect">
            <a:avLst/>
          </a:prstGeom>
          <a:noFill/>
        </p:spPr>
        <p:txBody>
          <a:bodyPr wrap="square">
            <a:spAutoFit/>
          </a:bodyPr>
          <a:lstStyle/>
          <a:p>
            <a:pPr algn="l"/>
            <a:r>
              <a:rPr sz="1100" b="1" i="0">
                <a:solidFill>
                  <a:srgbClr val="E06010"/>
                </a:solidFill>
              </a:rPr>
              <a:t>Error de muestreo</a:t>
            </a:r>
          </a:p>
        </p:txBody>
      </p:sp>
      <p:sp>
        <p:nvSpPr>
          <p:cNvPr id="25" name="TextBox 24"/>
          <p:cNvSpPr txBox="1"/>
          <p:nvPr/>
        </p:nvSpPr>
        <p:spPr>
          <a:xfrm>
            <a:off x="3200400" y="3995928"/>
            <a:ext cx="8595360" cy="310896"/>
          </a:xfrm>
          <a:prstGeom prst="rect">
            <a:avLst/>
          </a:prstGeom>
          <a:noFill/>
        </p:spPr>
        <p:txBody>
          <a:bodyPr wrap="square">
            <a:spAutoFit/>
          </a:bodyPr>
          <a:lstStyle/>
          <a:p>
            <a:pPr algn="l"/>
            <a:r>
              <a:rPr sz="1100" b="0" i="0">
                <a:solidFill>
                  <a:srgbClr val="1A1A1A"/>
                </a:solidFill>
              </a:rPr>
              <a:t>19% (margen historico aplicado en la evaluacion)</a:t>
            </a:r>
          </a:p>
        </p:txBody>
      </p:sp>
      <p:sp>
        <p:nvSpPr>
          <p:cNvPr id="26" name="Rectangle 25"/>
          <p:cNvSpPr/>
          <p:nvPr/>
        </p:nvSpPr>
        <p:spPr>
          <a:xfrm>
            <a:off x="320040" y="4370832"/>
            <a:ext cx="11521440" cy="393192"/>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416552"/>
            <a:ext cx="2743200" cy="310896"/>
          </a:xfrm>
          <a:prstGeom prst="rect">
            <a:avLst/>
          </a:prstGeom>
          <a:noFill/>
        </p:spPr>
        <p:txBody>
          <a:bodyPr wrap="square">
            <a:spAutoFit/>
          </a:bodyPr>
          <a:lstStyle/>
          <a:p>
            <a:pPr algn="l"/>
            <a:r>
              <a:rPr sz="1100" b="1" i="0">
                <a:solidFill>
                  <a:srgbClr val="E06010"/>
                </a:solidFill>
              </a:rPr>
              <a:t>Seleccion de ley</a:t>
            </a:r>
          </a:p>
        </p:txBody>
      </p:sp>
      <p:sp>
        <p:nvSpPr>
          <p:cNvPr id="28" name="TextBox 27"/>
          <p:cNvSpPr txBox="1"/>
          <p:nvPr/>
        </p:nvSpPr>
        <p:spPr>
          <a:xfrm>
            <a:off x="3200400" y="4416552"/>
            <a:ext cx="8595360" cy="310896"/>
          </a:xfrm>
          <a:prstGeom prst="rect">
            <a:avLst/>
          </a:prstGeom>
          <a:noFill/>
        </p:spPr>
        <p:txBody>
          <a:bodyPr wrap="square">
            <a:spAutoFit/>
          </a:bodyPr>
          <a:lstStyle/>
          <a:p>
            <a:pPr algn="l"/>
            <a:r>
              <a:rPr sz="1100" b="0" i="0">
                <a:solidFill>
                  <a:srgbClr val="1A1A1A"/>
                </a:solidFill>
              </a:rPr>
              <a:t>Cu Soluble / Cu Insoluble / Cu Total / Auto (MAX)</a:t>
            </a:r>
          </a:p>
        </p:txBody>
      </p:sp>
      <p:sp>
        <p:nvSpPr>
          <p:cNvPr id="29" name="Rectangle 28"/>
          <p:cNvSpPr/>
          <p:nvPr/>
        </p:nvSpPr>
        <p:spPr>
          <a:xfrm>
            <a:off x="320040" y="4791456"/>
            <a:ext cx="11521440" cy="393192"/>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4837176"/>
            <a:ext cx="2743200" cy="310896"/>
          </a:xfrm>
          <a:prstGeom prst="rect">
            <a:avLst/>
          </a:prstGeom>
          <a:noFill/>
        </p:spPr>
        <p:txBody>
          <a:bodyPr wrap="square">
            <a:spAutoFit/>
          </a:bodyPr>
          <a:lstStyle/>
          <a:p>
            <a:pPr algn="l"/>
            <a:r>
              <a:rPr sz="1100" b="1" i="0">
                <a:solidFill>
                  <a:srgbClr val="E06010"/>
                </a:solidFill>
              </a:rPr>
              <a:t>Calculo ley mezcla</a:t>
            </a:r>
          </a:p>
        </p:txBody>
      </p:sp>
      <p:sp>
        <p:nvSpPr>
          <p:cNvPr id="31" name="TextBox 30"/>
          <p:cNvSpPr txBox="1"/>
          <p:nvPr/>
        </p:nvSpPr>
        <p:spPr>
          <a:xfrm>
            <a:off x="3200400" y="4837176"/>
            <a:ext cx="8595360" cy="310896"/>
          </a:xfrm>
          <a:prstGeom prst="rect">
            <a:avLst/>
          </a:prstGeom>
          <a:noFill/>
        </p:spPr>
        <p:txBody>
          <a:bodyPr wrap="square">
            <a:spAutoFit/>
          </a:bodyPr>
          <a:lstStyle/>
          <a:p>
            <a:pPr algn="l"/>
            <a:r>
              <a:rPr sz="1100" b="0" i="0">
                <a:solidFill>
                  <a:srgbClr val="1A1A1A"/>
                </a:solidFill>
              </a:rPr>
              <a:t>Promedio ponderado: Suma(Ley x Peso) / Suma(Peso)</a:t>
            </a:r>
          </a:p>
        </p:txBody>
      </p:sp>
      <p:sp>
        <p:nvSpPr>
          <p:cNvPr id="32" name="Rectangle 31"/>
          <p:cNvSpPr/>
          <p:nvPr/>
        </p:nvSpPr>
        <p:spPr>
          <a:xfrm>
            <a:off x="320040" y="5257800"/>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0040" y="5358384"/>
            <a:ext cx="1005840" cy="256032"/>
          </a:xfrm>
          <a:prstGeom prst="rect">
            <a:avLst/>
          </a:prstGeom>
          <a:noFill/>
        </p:spPr>
        <p:txBody>
          <a:bodyPr wrap="square">
            <a:spAutoFit/>
          </a:bodyPr>
          <a:lstStyle/>
          <a:p>
            <a:pPr algn="l"/>
            <a:r>
              <a:rPr sz="1100" b="1" i="0">
                <a:solidFill>
                  <a:srgbClr val="8B3A00"/>
                </a:solidFill>
              </a:rPr>
              <a:t>Decision:</a:t>
            </a:r>
          </a:p>
        </p:txBody>
      </p:sp>
      <p:sp>
        <p:nvSpPr>
          <p:cNvPr id="34" name="Rectangle 33"/>
          <p:cNvSpPr/>
          <p:nvPr/>
        </p:nvSpPr>
        <p:spPr>
          <a:xfrm>
            <a:off x="320040" y="5650992"/>
            <a:ext cx="11521440" cy="347472"/>
          </a:xfrm>
          <a:prstGeom prst="rect">
            <a:avLst/>
          </a:prstGeom>
          <a:solidFill>
            <a:srgbClr val="F8D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7200" y="5669280"/>
            <a:ext cx="11338560" cy="310896"/>
          </a:xfrm>
          <a:prstGeom prst="rect">
            <a:avLst/>
          </a:prstGeom>
          <a:noFill/>
        </p:spPr>
        <p:txBody>
          <a:bodyPr wrap="square">
            <a:spAutoFit/>
          </a:bodyPr>
          <a:lstStyle/>
          <a:p>
            <a:pPr algn="l"/>
            <a:r>
              <a:rPr sz="1100" b="0" i="0">
                <a:solidFill>
                  <a:srgbClr val="721C24"/>
                </a:solidFill>
              </a:rPr>
              <a:t>NO cumple objetivo  -&gt;  mineral en cancha; se agregan mas dumpadas a la mezcla.</a:t>
            </a:r>
          </a:p>
        </p:txBody>
      </p:sp>
      <p:sp>
        <p:nvSpPr>
          <p:cNvPr id="36" name="Rectangle 35"/>
          <p:cNvSpPr/>
          <p:nvPr/>
        </p:nvSpPr>
        <p:spPr>
          <a:xfrm>
            <a:off x="320040" y="6035040"/>
            <a:ext cx="11521440" cy="347472"/>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6053328"/>
            <a:ext cx="11338560" cy="310896"/>
          </a:xfrm>
          <a:prstGeom prst="rect">
            <a:avLst/>
          </a:prstGeom>
          <a:noFill/>
        </p:spPr>
        <p:txBody>
          <a:bodyPr wrap="square">
            <a:spAutoFit/>
          </a:bodyPr>
          <a:lstStyle/>
          <a:p>
            <a:pPr algn="l"/>
            <a:r>
              <a:rPr sz="1100" b="0" i="0">
                <a:solidFill>
                  <a:srgbClr val="155724"/>
                </a:solidFill>
              </a:rPr>
              <a:t>SI cumple objetivo  -&gt;  crear lote y proceder al despacho de camionadas.</a:t>
            </a:r>
          </a:p>
        </p:txBody>
      </p:sp>
      <p:pic>
        <p:nvPicPr>
          <p:cNvPr id="38" name="Imagen 37">
            <a:extLst>
              <a:ext uri="{FF2B5EF4-FFF2-40B4-BE49-F238E27FC236}">
                <a16:creationId xmlns:a16="http://schemas.microsoft.com/office/drawing/2014/main" id="{3EDBC261-18F8-44DC-8714-57CE6BDD2917}"/>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Seleccion de dumpadas para la mezcla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819650" y="164592"/>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9650" y="164592"/>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El encargado ve la lista de dumpadas en estado CON ANALISIS disponibles para mezclar. Al seleccionar cada dumpada, el sistema recalcula en tiempo real el promedio ponderado de ley segun el peso de cada dumpada incluida. El objetivo es alcanzar al menos 1,3% Cu Insoluble antes de proceder al despacho.</a:t>
            </a:r>
          </a:p>
        </p:txBody>
      </p:sp>
      <p:sp>
        <p:nvSpPr>
          <p:cNvPr id="13" name="Rectangle 12"/>
          <p:cNvSpPr/>
          <p:nvPr/>
        </p:nvSpPr>
        <p:spPr>
          <a:xfrm>
            <a:off x="320040" y="1901952"/>
            <a:ext cx="11548872" cy="27432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Tabla de dumpadas disponibles para agregar a la mezcla</a:t>
            </a:r>
          </a:p>
        </p:txBody>
      </p:sp>
      <p:pic>
        <p:nvPicPr>
          <p:cNvPr id="15" name="Picture 14" descr="paso4_mezcla_seleccion.png"/>
          <p:cNvPicPr>
            <a:picLocks noChangeAspect="1"/>
          </p:cNvPicPr>
          <p:nvPr/>
        </p:nvPicPr>
        <p:blipFill>
          <a:blip r:embed="rId2"/>
          <a:stretch>
            <a:fillRect/>
          </a:stretch>
        </p:blipFill>
        <p:spPr>
          <a:xfrm>
            <a:off x="1853620" y="2231136"/>
            <a:ext cx="8481712" cy="4069080"/>
          </a:xfrm>
          <a:prstGeom prst="rect">
            <a:avLst/>
          </a:prstGeom>
        </p:spPr>
      </p:pic>
      <p:pic>
        <p:nvPicPr>
          <p:cNvPr id="16" name="Imagen 15">
            <a:extLst>
              <a:ext uri="{FF2B5EF4-FFF2-40B4-BE49-F238E27FC236}">
                <a16:creationId xmlns:a16="http://schemas.microsoft.com/office/drawing/2014/main" id="{1035448A-CCC0-4EB1-930F-B223246AF4BC}"/>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4 -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Panel resumen de la nueva mezcla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33925" y="173736"/>
            <a:ext cx="2039112" cy="34747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33925" y="173736"/>
            <a:ext cx="2039112" cy="347472"/>
          </a:xfrm>
          <a:prstGeom prst="rect">
            <a:avLst/>
          </a:prstGeom>
          <a:noFill/>
        </p:spPr>
        <p:txBody>
          <a:bodyPr wrap="square">
            <a:spAutoFit/>
          </a:bodyPr>
          <a:lstStyle/>
          <a:p>
            <a:pPr algn="ctr"/>
            <a:r>
              <a:rPr sz="1100" b="1" i="0">
                <a:solidFill>
                  <a:srgbClr val="E06010"/>
                </a:solidFill>
              </a:rPr>
              <a:t>PROXIMO PASO</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Antes de confirmar la mezcla, el sistema muestra el resumen completo: tonelaje total de las dumpadas incluidas, ley promedio calculada y si la mezcla cumple el objetivo de despacho. Si no cumple, el encargado debe agregar mas dumpadas. Al confirmar, las dumpadas quedan en estado EN MEZCLA.</a:t>
            </a:r>
          </a:p>
        </p:txBody>
      </p:sp>
      <p:sp>
        <p:nvSpPr>
          <p:cNvPr id="13" name="Rectangle 12"/>
          <p:cNvSpPr/>
          <p:nvPr/>
        </p:nvSpPr>
        <p:spPr>
          <a:xfrm>
            <a:off x="320040" y="1901952"/>
            <a:ext cx="11548872" cy="274320"/>
          </a:xfrm>
          <a:prstGeom prst="rect">
            <a:avLst/>
          </a:prstGeom>
          <a:solidFill>
            <a:srgbClr val="D45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Resumen de la mezcla: tonelaje, ley promedio y evaluacion del objetivo</a:t>
            </a:r>
          </a:p>
        </p:txBody>
      </p:sp>
      <p:pic>
        <p:nvPicPr>
          <p:cNvPr id="15" name="Picture 14" descr="paso4_mezcla_crear_mezcla.png"/>
          <p:cNvPicPr>
            <a:picLocks noChangeAspect="1"/>
          </p:cNvPicPr>
          <p:nvPr/>
        </p:nvPicPr>
        <p:blipFill>
          <a:blip r:embed="rId2"/>
          <a:stretch>
            <a:fillRect/>
          </a:stretch>
        </p:blipFill>
        <p:spPr>
          <a:xfrm>
            <a:off x="659511" y="2231136"/>
            <a:ext cx="10869930" cy="4069080"/>
          </a:xfrm>
          <a:prstGeom prst="rect">
            <a:avLst/>
          </a:prstGeom>
        </p:spPr>
      </p:pic>
      <p:pic>
        <p:nvPicPr>
          <p:cNvPr id="16" name="Imagen 15">
            <a:extLst>
              <a:ext uri="{FF2B5EF4-FFF2-40B4-BE49-F238E27FC236}">
                <a16:creationId xmlns:a16="http://schemas.microsoft.com/office/drawing/2014/main" id="{B80EF0CF-E9C6-409F-8011-5378F28C379A}"/>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Despacho</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Generacion del lote y registro de camionadas a planta</a:t>
            </a:r>
          </a:p>
        </p:txBody>
      </p:sp>
      <p:sp>
        <p:nvSpPr>
          <p:cNvPr id="8" name="Rectangle 7"/>
          <p:cNvSpPr/>
          <p:nvPr/>
        </p:nvSpPr>
        <p:spPr>
          <a:xfrm>
            <a:off x="2981325" y="155448"/>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81325" y="155448"/>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97280"/>
            <a:ext cx="1371600" cy="1124711"/>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298448" cy="1015663"/>
          </a:xfrm>
          <a:prstGeom prst="rect">
            <a:avLst/>
          </a:prstGeom>
          <a:noFill/>
        </p:spPr>
        <p:txBody>
          <a:bodyPr wrap="square">
            <a:spAutoFit/>
          </a:bodyPr>
          <a:lstStyle/>
          <a:p>
            <a:pPr algn="ctr"/>
            <a:r>
              <a:rPr sz="6000" b="1" i="0">
                <a:solidFill>
                  <a:srgbClr val="FFFFFF"/>
                </a:solidFill>
              </a:rPr>
              <a:t>5</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Que es el despacho?</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Dispatch genera un lote y registra cada camionada que transporta mineral hacia la planta compradora. Un camion puede llevar mineral de una o varias mezclas.</a:t>
            </a:r>
          </a:p>
        </p:txBody>
      </p:sp>
      <p:sp>
        <p:nvSpPr>
          <p:cNvPr id="14" name="TextBox 13"/>
          <p:cNvSpPr txBox="1"/>
          <p:nvPr/>
        </p:nvSpPr>
        <p:spPr>
          <a:xfrm>
            <a:off x="320040" y="2212848"/>
            <a:ext cx="5486400" cy="292608"/>
          </a:xfrm>
          <a:prstGeom prst="rect">
            <a:avLst/>
          </a:prstGeom>
          <a:noFill/>
        </p:spPr>
        <p:txBody>
          <a:bodyPr wrap="square">
            <a:spAutoFit/>
          </a:bodyPr>
          <a:lstStyle/>
          <a:p>
            <a:pPr algn="l"/>
            <a:r>
              <a:rPr sz="1300" b="1" i="0" dirty="0" err="1">
                <a:solidFill>
                  <a:srgbClr val="8B3A00"/>
                </a:solidFill>
              </a:rPr>
              <a:t>Datos</a:t>
            </a:r>
            <a:r>
              <a:rPr sz="1300" b="1" i="0" dirty="0">
                <a:solidFill>
                  <a:srgbClr val="8B3A00"/>
                </a:solidFill>
              </a:rPr>
              <a:t> del </a:t>
            </a:r>
            <a:r>
              <a:rPr sz="1300" b="1" i="0" dirty="0" err="1">
                <a:solidFill>
                  <a:srgbClr val="8B3A00"/>
                </a:solidFill>
              </a:rPr>
              <a:t>lote</a:t>
            </a:r>
            <a:r>
              <a:rPr sz="1300" b="1" i="0" dirty="0">
                <a:solidFill>
                  <a:srgbClr val="8B3A00"/>
                </a:solidFill>
              </a:rPr>
              <a:t>:</a:t>
            </a:r>
          </a:p>
        </p:txBody>
      </p:sp>
      <p:sp>
        <p:nvSpPr>
          <p:cNvPr id="15" name="Rectangle 14"/>
          <p:cNvSpPr/>
          <p:nvPr/>
        </p:nvSpPr>
        <p:spPr>
          <a:xfrm>
            <a:off x="320040" y="254203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11480" y="2578608"/>
            <a:ext cx="2011680" cy="292608"/>
          </a:xfrm>
          <a:prstGeom prst="rect">
            <a:avLst/>
          </a:prstGeom>
          <a:noFill/>
        </p:spPr>
        <p:txBody>
          <a:bodyPr wrap="square">
            <a:spAutoFit/>
          </a:bodyPr>
          <a:lstStyle/>
          <a:p>
            <a:pPr algn="l"/>
            <a:r>
              <a:rPr sz="1100" b="1" i="0">
                <a:solidFill>
                  <a:srgbClr val="E06010"/>
                </a:solidFill>
              </a:rPr>
              <a:t>Numero de lote</a:t>
            </a:r>
          </a:p>
        </p:txBody>
      </p:sp>
      <p:sp>
        <p:nvSpPr>
          <p:cNvPr id="17" name="TextBox 16"/>
          <p:cNvSpPr txBox="1"/>
          <p:nvPr/>
        </p:nvSpPr>
        <p:spPr>
          <a:xfrm>
            <a:off x="2468880" y="2578608"/>
            <a:ext cx="3383280" cy="292608"/>
          </a:xfrm>
          <a:prstGeom prst="rect">
            <a:avLst/>
          </a:prstGeom>
          <a:noFill/>
        </p:spPr>
        <p:txBody>
          <a:bodyPr wrap="square">
            <a:spAutoFit/>
          </a:bodyPr>
          <a:lstStyle/>
          <a:p>
            <a:pPr algn="l"/>
            <a:r>
              <a:rPr sz="1100" b="0" i="0">
                <a:solidFill>
                  <a:srgbClr val="1A1A1A"/>
                </a:solidFill>
              </a:rPr>
              <a:t>Identificador interno del lote</a:t>
            </a:r>
          </a:p>
        </p:txBody>
      </p:sp>
      <p:sp>
        <p:nvSpPr>
          <p:cNvPr id="21" name="Rectangle 20"/>
          <p:cNvSpPr/>
          <p:nvPr/>
        </p:nvSpPr>
        <p:spPr>
          <a:xfrm>
            <a:off x="320040" y="2917698"/>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1480" y="2954274"/>
            <a:ext cx="2011680" cy="292608"/>
          </a:xfrm>
          <a:prstGeom prst="rect">
            <a:avLst/>
          </a:prstGeom>
          <a:noFill/>
        </p:spPr>
        <p:txBody>
          <a:bodyPr wrap="square">
            <a:spAutoFit/>
          </a:bodyPr>
          <a:lstStyle/>
          <a:p>
            <a:pPr algn="l"/>
            <a:r>
              <a:rPr sz="1100" b="1" i="0">
                <a:solidFill>
                  <a:srgbClr val="E06010"/>
                </a:solidFill>
              </a:rPr>
              <a:t>Planta destino</a:t>
            </a:r>
          </a:p>
        </p:txBody>
      </p:sp>
      <p:sp>
        <p:nvSpPr>
          <p:cNvPr id="23" name="TextBox 22"/>
          <p:cNvSpPr txBox="1"/>
          <p:nvPr/>
        </p:nvSpPr>
        <p:spPr>
          <a:xfrm>
            <a:off x="2468880" y="2954274"/>
            <a:ext cx="3383280" cy="292608"/>
          </a:xfrm>
          <a:prstGeom prst="rect">
            <a:avLst/>
          </a:prstGeom>
          <a:noFill/>
        </p:spPr>
        <p:txBody>
          <a:bodyPr wrap="square">
            <a:spAutoFit/>
          </a:bodyPr>
          <a:lstStyle/>
          <a:p>
            <a:pPr algn="l"/>
            <a:r>
              <a:rPr sz="1100" b="0" i="0">
                <a:solidFill>
                  <a:srgbClr val="1A1A1A"/>
                </a:solidFill>
              </a:rPr>
              <a:t>Enami / Cenizas / Cerro Negro</a:t>
            </a:r>
          </a:p>
        </p:txBody>
      </p:sp>
      <p:sp>
        <p:nvSpPr>
          <p:cNvPr id="24" name="Rectangle 23"/>
          <p:cNvSpPr/>
          <p:nvPr/>
        </p:nvSpPr>
        <p:spPr>
          <a:xfrm>
            <a:off x="320040" y="3301747"/>
            <a:ext cx="55778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480" y="3338323"/>
            <a:ext cx="2011680" cy="292608"/>
          </a:xfrm>
          <a:prstGeom prst="rect">
            <a:avLst/>
          </a:prstGeom>
          <a:noFill/>
        </p:spPr>
        <p:txBody>
          <a:bodyPr wrap="square">
            <a:spAutoFit/>
          </a:bodyPr>
          <a:lstStyle/>
          <a:p>
            <a:pPr algn="l"/>
            <a:r>
              <a:rPr sz="1100" b="1" i="0">
                <a:solidFill>
                  <a:srgbClr val="E06010"/>
                </a:solidFill>
              </a:rPr>
              <a:t>Mezcla(s)</a:t>
            </a:r>
          </a:p>
        </p:txBody>
      </p:sp>
      <p:sp>
        <p:nvSpPr>
          <p:cNvPr id="26" name="TextBox 25"/>
          <p:cNvSpPr txBox="1"/>
          <p:nvPr/>
        </p:nvSpPr>
        <p:spPr>
          <a:xfrm>
            <a:off x="2468880" y="3338323"/>
            <a:ext cx="3383280" cy="292608"/>
          </a:xfrm>
          <a:prstGeom prst="rect">
            <a:avLst/>
          </a:prstGeom>
          <a:noFill/>
        </p:spPr>
        <p:txBody>
          <a:bodyPr wrap="square">
            <a:spAutoFit/>
          </a:bodyPr>
          <a:lstStyle/>
          <a:p>
            <a:pPr algn="l"/>
            <a:r>
              <a:rPr sz="1100" b="0" i="0">
                <a:solidFill>
                  <a:srgbClr val="1A1A1A"/>
                </a:solidFill>
              </a:rPr>
              <a:t>Una o varias mezclas incluidas</a:t>
            </a:r>
          </a:p>
        </p:txBody>
      </p:sp>
      <p:sp>
        <p:nvSpPr>
          <p:cNvPr id="27" name="Rectangle 26"/>
          <p:cNvSpPr/>
          <p:nvPr/>
        </p:nvSpPr>
        <p:spPr>
          <a:xfrm>
            <a:off x="320040" y="3685795"/>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3722371"/>
            <a:ext cx="2011680" cy="292608"/>
          </a:xfrm>
          <a:prstGeom prst="rect">
            <a:avLst/>
          </a:prstGeom>
          <a:noFill/>
        </p:spPr>
        <p:txBody>
          <a:bodyPr wrap="square">
            <a:spAutoFit/>
          </a:bodyPr>
          <a:lstStyle/>
          <a:p>
            <a:pPr algn="l"/>
            <a:r>
              <a:rPr sz="1100" b="1" i="0">
                <a:solidFill>
                  <a:srgbClr val="E06010"/>
                </a:solidFill>
              </a:rPr>
              <a:t>Ley promedio lote</a:t>
            </a:r>
          </a:p>
        </p:txBody>
      </p:sp>
      <p:sp>
        <p:nvSpPr>
          <p:cNvPr id="29" name="TextBox 28"/>
          <p:cNvSpPr txBox="1"/>
          <p:nvPr/>
        </p:nvSpPr>
        <p:spPr>
          <a:xfrm>
            <a:off x="2468880" y="3722371"/>
            <a:ext cx="3383280" cy="292608"/>
          </a:xfrm>
          <a:prstGeom prst="rect">
            <a:avLst/>
          </a:prstGeom>
          <a:noFill/>
        </p:spPr>
        <p:txBody>
          <a:bodyPr wrap="square">
            <a:spAutoFit/>
          </a:bodyPr>
          <a:lstStyle/>
          <a:p>
            <a:pPr algn="l"/>
            <a:r>
              <a:rPr sz="1100" b="0" i="0">
                <a:solidFill>
                  <a:srgbClr val="1A1A1A"/>
                </a:solidFill>
              </a:rPr>
              <a:t>Calculada automaticamente por el sistema</a:t>
            </a:r>
          </a:p>
        </p:txBody>
      </p:sp>
      <p:sp>
        <p:nvSpPr>
          <p:cNvPr id="30" name="TextBox 29"/>
          <p:cNvSpPr txBox="1"/>
          <p:nvPr/>
        </p:nvSpPr>
        <p:spPr>
          <a:xfrm>
            <a:off x="6035040" y="2212848"/>
            <a:ext cx="5852160" cy="292608"/>
          </a:xfrm>
          <a:prstGeom prst="rect">
            <a:avLst/>
          </a:prstGeom>
          <a:noFill/>
        </p:spPr>
        <p:txBody>
          <a:bodyPr wrap="square">
            <a:spAutoFit/>
          </a:bodyPr>
          <a:lstStyle/>
          <a:p>
            <a:pPr algn="l"/>
            <a:r>
              <a:rPr sz="1300" b="1" i="0">
                <a:solidFill>
                  <a:srgbClr val="8B3A00"/>
                </a:solidFill>
              </a:rPr>
              <a:t>Datos por camionada:</a:t>
            </a:r>
          </a:p>
        </p:txBody>
      </p:sp>
      <p:sp>
        <p:nvSpPr>
          <p:cNvPr id="31" name="Rectangle 30"/>
          <p:cNvSpPr/>
          <p:nvPr/>
        </p:nvSpPr>
        <p:spPr>
          <a:xfrm>
            <a:off x="6035040" y="254203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26480" y="2578608"/>
            <a:ext cx="2011680" cy="292608"/>
          </a:xfrm>
          <a:prstGeom prst="rect">
            <a:avLst/>
          </a:prstGeom>
          <a:noFill/>
        </p:spPr>
        <p:txBody>
          <a:bodyPr wrap="square">
            <a:spAutoFit/>
          </a:bodyPr>
          <a:lstStyle/>
          <a:p>
            <a:pPr algn="l"/>
            <a:r>
              <a:rPr sz="1100" b="1" i="0">
                <a:solidFill>
                  <a:srgbClr val="E06010"/>
                </a:solidFill>
              </a:rPr>
              <a:t>Patente del camion</a:t>
            </a:r>
          </a:p>
        </p:txBody>
      </p:sp>
      <p:sp>
        <p:nvSpPr>
          <p:cNvPr id="33" name="TextBox 32"/>
          <p:cNvSpPr txBox="1"/>
          <p:nvPr/>
        </p:nvSpPr>
        <p:spPr>
          <a:xfrm>
            <a:off x="8183879" y="2578608"/>
            <a:ext cx="3383280" cy="292608"/>
          </a:xfrm>
          <a:prstGeom prst="rect">
            <a:avLst/>
          </a:prstGeom>
          <a:noFill/>
        </p:spPr>
        <p:txBody>
          <a:bodyPr wrap="square">
            <a:spAutoFit/>
          </a:bodyPr>
          <a:lstStyle/>
          <a:p>
            <a:pPr algn="l"/>
            <a:r>
              <a:rPr sz="1100" b="0" i="0">
                <a:solidFill>
                  <a:srgbClr val="1A1A1A"/>
                </a:solidFill>
              </a:rPr>
              <a:t>Identificacion del vehiculo</a:t>
            </a:r>
          </a:p>
        </p:txBody>
      </p:sp>
      <p:sp>
        <p:nvSpPr>
          <p:cNvPr id="37" name="Rectangle 36"/>
          <p:cNvSpPr/>
          <p:nvPr/>
        </p:nvSpPr>
        <p:spPr>
          <a:xfrm>
            <a:off x="6035040" y="2907792"/>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126480" y="2944368"/>
            <a:ext cx="2011680" cy="261610"/>
          </a:xfrm>
          <a:prstGeom prst="rect">
            <a:avLst/>
          </a:prstGeom>
          <a:noFill/>
        </p:spPr>
        <p:txBody>
          <a:bodyPr wrap="square">
            <a:spAutoFit/>
          </a:bodyPr>
          <a:lstStyle/>
          <a:p>
            <a:pPr algn="l"/>
            <a:r>
              <a:rPr sz="1100" b="1" i="0" dirty="0">
                <a:solidFill>
                  <a:srgbClr val="E06010"/>
                </a:solidFill>
              </a:rPr>
              <a:t>Peso </a:t>
            </a:r>
            <a:r>
              <a:rPr sz="1100" b="1" i="0" dirty="0" err="1">
                <a:solidFill>
                  <a:srgbClr val="E06010"/>
                </a:solidFill>
              </a:rPr>
              <a:t>bruto</a:t>
            </a:r>
            <a:endParaRPr sz="1100" b="1" i="0" dirty="0">
              <a:solidFill>
                <a:srgbClr val="E06010"/>
              </a:solidFill>
            </a:endParaRPr>
          </a:p>
        </p:txBody>
      </p:sp>
      <p:sp>
        <p:nvSpPr>
          <p:cNvPr id="39" name="TextBox 38"/>
          <p:cNvSpPr txBox="1"/>
          <p:nvPr/>
        </p:nvSpPr>
        <p:spPr>
          <a:xfrm>
            <a:off x="8183879" y="2944368"/>
            <a:ext cx="3383280" cy="292608"/>
          </a:xfrm>
          <a:prstGeom prst="rect">
            <a:avLst/>
          </a:prstGeom>
          <a:noFill/>
        </p:spPr>
        <p:txBody>
          <a:bodyPr wrap="square">
            <a:spAutoFit/>
          </a:bodyPr>
          <a:lstStyle/>
          <a:p>
            <a:pPr algn="l"/>
            <a:r>
              <a:rPr sz="1100" b="0" i="0">
                <a:solidFill>
                  <a:srgbClr val="1A1A1A"/>
                </a:solidFill>
              </a:rPr>
              <a:t>Pesos medidos en balanza</a:t>
            </a:r>
          </a:p>
        </p:txBody>
      </p:sp>
      <p:sp>
        <p:nvSpPr>
          <p:cNvPr id="40" name="Rectangle 39"/>
          <p:cNvSpPr/>
          <p:nvPr/>
        </p:nvSpPr>
        <p:spPr>
          <a:xfrm>
            <a:off x="6035040" y="3291841"/>
            <a:ext cx="55778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126480" y="3328417"/>
            <a:ext cx="2011680" cy="292608"/>
          </a:xfrm>
          <a:prstGeom prst="rect">
            <a:avLst/>
          </a:prstGeom>
          <a:noFill/>
        </p:spPr>
        <p:txBody>
          <a:bodyPr wrap="square">
            <a:spAutoFit/>
          </a:bodyPr>
          <a:lstStyle/>
          <a:p>
            <a:pPr algn="l"/>
            <a:r>
              <a:rPr sz="1100" b="1" i="0">
                <a:solidFill>
                  <a:srgbClr val="E06010"/>
                </a:solidFill>
              </a:rPr>
              <a:t>Peso neto</a:t>
            </a:r>
          </a:p>
        </p:txBody>
      </p:sp>
      <p:sp>
        <p:nvSpPr>
          <p:cNvPr id="42" name="TextBox 41"/>
          <p:cNvSpPr txBox="1"/>
          <p:nvPr/>
        </p:nvSpPr>
        <p:spPr>
          <a:xfrm>
            <a:off x="8183879" y="3328417"/>
            <a:ext cx="3383280" cy="292608"/>
          </a:xfrm>
          <a:prstGeom prst="rect">
            <a:avLst/>
          </a:prstGeom>
          <a:noFill/>
        </p:spPr>
        <p:txBody>
          <a:bodyPr wrap="square">
            <a:spAutoFit/>
          </a:bodyPr>
          <a:lstStyle/>
          <a:p>
            <a:pPr algn="l"/>
            <a:r>
              <a:rPr sz="1100" b="0" i="0">
                <a:solidFill>
                  <a:srgbClr val="1A1A1A"/>
                </a:solidFill>
              </a:rPr>
              <a:t>Peso real del mineral cargado</a:t>
            </a:r>
          </a:p>
        </p:txBody>
      </p:sp>
      <p:sp>
        <p:nvSpPr>
          <p:cNvPr id="43" name="Rectangle 42"/>
          <p:cNvSpPr/>
          <p:nvPr/>
        </p:nvSpPr>
        <p:spPr>
          <a:xfrm>
            <a:off x="6035040" y="3675889"/>
            <a:ext cx="55778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126480" y="3712465"/>
            <a:ext cx="2011680" cy="292608"/>
          </a:xfrm>
          <a:prstGeom prst="rect">
            <a:avLst/>
          </a:prstGeom>
          <a:noFill/>
        </p:spPr>
        <p:txBody>
          <a:bodyPr wrap="square">
            <a:spAutoFit/>
          </a:bodyPr>
          <a:lstStyle/>
          <a:p>
            <a:pPr algn="l"/>
            <a:r>
              <a:rPr sz="1100" b="1" i="0">
                <a:solidFill>
                  <a:srgbClr val="E06010"/>
                </a:solidFill>
              </a:rPr>
              <a:t>Fecha y Hora</a:t>
            </a:r>
          </a:p>
        </p:txBody>
      </p:sp>
      <p:sp>
        <p:nvSpPr>
          <p:cNvPr id="45" name="TextBox 44"/>
          <p:cNvSpPr txBox="1"/>
          <p:nvPr/>
        </p:nvSpPr>
        <p:spPr>
          <a:xfrm>
            <a:off x="8183879" y="3712465"/>
            <a:ext cx="3383280" cy="292608"/>
          </a:xfrm>
          <a:prstGeom prst="rect">
            <a:avLst/>
          </a:prstGeom>
          <a:noFill/>
        </p:spPr>
        <p:txBody>
          <a:bodyPr wrap="square">
            <a:spAutoFit/>
          </a:bodyPr>
          <a:lstStyle/>
          <a:p>
            <a:pPr algn="l"/>
            <a:r>
              <a:rPr sz="1100" b="0" i="0">
                <a:solidFill>
                  <a:srgbClr val="1A1A1A"/>
                </a:solidFill>
              </a:rPr>
              <a:t>Momento del despacho registrado</a:t>
            </a:r>
          </a:p>
        </p:txBody>
      </p:sp>
      <p:sp>
        <p:nvSpPr>
          <p:cNvPr id="46" name="Rectangle 45"/>
          <p:cNvSpPr/>
          <p:nvPr/>
        </p:nvSpPr>
        <p:spPr>
          <a:xfrm>
            <a:off x="320040" y="4590288"/>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0040" y="4690872"/>
            <a:ext cx="2011680" cy="256032"/>
          </a:xfrm>
          <a:prstGeom prst="rect">
            <a:avLst/>
          </a:prstGeom>
          <a:noFill/>
        </p:spPr>
        <p:txBody>
          <a:bodyPr wrap="square">
            <a:spAutoFit/>
          </a:bodyPr>
          <a:lstStyle/>
          <a:p>
            <a:pPr algn="l"/>
            <a:r>
              <a:rPr sz="1100" b="1" i="0">
                <a:solidFill>
                  <a:srgbClr val="8B3A00"/>
                </a:solidFill>
              </a:rPr>
              <a:t>Estados posibles:</a:t>
            </a:r>
          </a:p>
        </p:txBody>
      </p:sp>
      <p:sp>
        <p:nvSpPr>
          <p:cNvPr id="48" name="Rectangle 47"/>
          <p:cNvSpPr/>
          <p:nvPr/>
        </p:nvSpPr>
        <p:spPr>
          <a:xfrm>
            <a:off x="320040" y="4992624"/>
            <a:ext cx="2286000" cy="3200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0040" y="4992624"/>
            <a:ext cx="2286000" cy="320040"/>
          </a:xfrm>
          <a:prstGeom prst="rect">
            <a:avLst/>
          </a:prstGeom>
          <a:noFill/>
        </p:spPr>
        <p:txBody>
          <a:bodyPr wrap="square">
            <a:spAutoFit/>
          </a:bodyPr>
          <a:lstStyle/>
          <a:p>
            <a:pPr algn="ctr"/>
            <a:r>
              <a:rPr sz="1050" b="1" i="0">
                <a:solidFill>
                  <a:srgbClr val="856404"/>
                </a:solidFill>
              </a:rPr>
              <a:t>En Transito</a:t>
            </a:r>
          </a:p>
        </p:txBody>
      </p:sp>
      <p:sp>
        <p:nvSpPr>
          <p:cNvPr id="50" name="TextBox 49"/>
          <p:cNvSpPr txBox="1"/>
          <p:nvPr/>
        </p:nvSpPr>
        <p:spPr>
          <a:xfrm>
            <a:off x="2651760" y="5029200"/>
            <a:ext cx="9144000" cy="256032"/>
          </a:xfrm>
          <a:prstGeom prst="rect">
            <a:avLst/>
          </a:prstGeom>
          <a:noFill/>
        </p:spPr>
        <p:txBody>
          <a:bodyPr wrap="square">
            <a:spAutoFit/>
          </a:bodyPr>
          <a:lstStyle/>
          <a:p>
            <a:pPr algn="l"/>
            <a:r>
              <a:rPr sz="1050" b="0" i="0">
                <a:solidFill>
                  <a:srgbClr val="1A1A1A"/>
                </a:solidFill>
              </a:rPr>
              <a:t>Camion despachado, sin confirmacion de peso real</a:t>
            </a:r>
          </a:p>
        </p:txBody>
      </p:sp>
      <p:sp>
        <p:nvSpPr>
          <p:cNvPr id="51" name="Rectangle 50"/>
          <p:cNvSpPr/>
          <p:nvPr/>
        </p:nvSpPr>
        <p:spPr>
          <a:xfrm>
            <a:off x="320040" y="5340096"/>
            <a:ext cx="2286000" cy="32004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20040" y="5340096"/>
            <a:ext cx="2286000" cy="320040"/>
          </a:xfrm>
          <a:prstGeom prst="rect">
            <a:avLst/>
          </a:prstGeom>
          <a:noFill/>
        </p:spPr>
        <p:txBody>
          <a:bodyPr wrap="square">
            <a:spAutoFit/>
          </a:bodyPr>
          <a:lstStyle/>
          <a:p>
            <a:pPr algn="ctr"/>
            <a:r>
              <a:rPr sz="1050" b="1" i="0">
                <a:solidFill>
                  <a:srgbClr val="155724"/>
                </a:solidFill>
              </a:rPr>
              <a:t>Recepcionada</a:t>
            </a:r>
          </a:p>
        </p:txBody>
      </p:sp>
      <p:sp>
        <p:nvSpPr>
          <p:cNvPr id="53" name="TextBox 52"/>
          <p:cNvSpPr txBox="1"/>
          <p:nvPr/>
        </p:nvSpPr>
        <p:spPr>
          <a:xfrm>
            <a:off x="2651760" y="5376672"/>
            <a:ext cx="9144000" cy="256032"/>
          </a:xfrm>
          <a:prstGeom prst="rect">
            <a:avLst/>
          </a:prstGeom>
          <a:noFill/>
        </p:spPr>
        <p:txBody>
          <a:bodyPr wrap="square">
            <a:spAutoFit/>
          </a:bodyPr>
          <a:lstStyle/>
          <a:p>
            <a:pPr algn="l"/>
            <a:r>
              <a:rPr sz="1050" b="0" i="0">
                <a:solidFill>
                  <a:srgbClr val="1A1A1A"/>
                </a:solidFill>
              </a:rPr>
              <a:t>Peso real ingresado — camionada confirmada</a:t>
            </a:r>
          </a:p>
        </p:txBody>
      </p:sp>
      <p:sp>
        <p:nvSpPr>
          <p:cNvPr id="54" name="Rectangle 53"/>
          <p:cNvSpPr/>
          <p:nvPr/>
        </p:nvSpPr>
        <p:spPr>
          <a:xfrm>
            <a:off x="320040" y="5687568"/>
            <a:ext cx="2286000" cy="320040"/>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20040" y="5687568"/>
            <a:ext cx="2286000" cy="320040"/>
          </a:xfrm>
          <a:prstGeom prst="rect">
            <a:avLst/>
          </a:prstGeom>
          <a:noFill/>
        </p:spPr>
        <p:txBody>
          <a:bodyPr wrap="square">
            <a:spAutoFit/>
          </a:bodyPr>
          <a:lstStyle/>
          <a:p>
            <a:pPr algn="ctr"/>
            <a:r>
              <a:rPr sz="1050" b="1" i="0">
                <a:solidFill>
                  <a:srgbClr val="0C5460"/>
                </a:solidFill>
              </a:rPr>
              <a:t>Lote Abierto</a:t>
            </a:r>
          </a:p>
        </p:txBody>
      </p:sp>
      <p:sp>
        <p:nvSpPr>
          <p:cNvPr id="56" name="TextBox 55"/>
          <p:cNvSpPr txBox="1"/>
          <p:nvPr/>
        </p:nvSpPr>
        <p:spPr>
          <a:xfrm>
            <a:off x="2651760" y="5724144"/>
            <a:ext cx="9144000" cy="256032"/>
          </a:xfrm>
          <a:prstGeom prst="rect">
            <a:avLst/>
          </a:prstGeom>
          <a:noFill/>
        </p:spPr>
        <p:txBody>
          <a:bodyPr wrap="square">
            <a:spAutoFit/>
          </a:bodyPr>
          <a:lstStyle/>
          <a:p>
            <a:pPr algn="l"/>
            <a:r>
              <a:rPr sz="1050" b="0" i="0">
                <a:solidFill>
                  <a:srgbClr val="1A1A1A"/>
                </a:solidFill>
              </a:rPr>
              <a:t>Existen camionadas pendientes de confirmacion</a:t>
            </a:r>
          </a:p>
        </p:txBody>
      </p:sp>
      <p:sp>
        <p:nvSpPr>
          <p:cNvPr id="57" name="Rectangle 56"/>
          <p:cNvSpPr/>
          <p:nvPr/>
        </p:nvSpPr>
        <p:spPr>
          <a:xfrm>
            <a:off x="320040" y="6035040"/>
            <a:ext cx="2286000" cy="32004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20040" y="6035040"/>
            <a:ext cx="2286000" cy="320040"/>
          </a:xfrm>
          <a:prstGeom prst="rect">
            <a:avLst/>
          </a:prstGeom>
          <a:noFill/>
        </p:spPr>
        <p:txBody>
          <a:bodyPr wrap="square">
            <a:spAutoFit/>
          </a:bodyPr>
          <a:lstStyle/>
          <a:p>
            <a:pPr algn="ctr"/>
            <a:r>
              <a:rPr sz="1050" b="1" i="0">
                <a:solidFill>
                  <a:srgbClr val="155724"/>
                </a:solidFill>
              </a:rPr>
              <a:t>Lote Cerrado</a:t>
            </a:r>
          </a:p>
        </p:txBody>
      </p:sp>
      <p:sp>
        <p:nvSpPr>
          <p:cNvPr id="59" name="TextBox 58"/>
          <p:cNvSpPr txBox="1"/>
          <p:nvPr/>
        </p:nvSpPr>
        <p:spPr>
          <a:xfrm>
            <a:off x="2651760" y="6071616"/>
            <a:ext cx="9144000" cy="256032"/>
          </a:xfrm>
          <a:prstGeom prst="rect">
            <a:avLst/>
          </a:prstGeom>
          <a:noFill/>
        </p:spPr>
        <p:txBody>
          <a:bodyPr wrap="square">
            <a:spAutoFit/>
          </a:bodyPr>
          <a:lstStyle/>
          <a:p>
            <a:pPr algn="l"/>
            <a:r>
              <a:rPr sz="1050" b="0" i="0">
                <a:solidFill>
                  <a:srgbClr val="1A1A1A"/>
                </a:solidFill>
              </a:rPr>
              <a:t>Todas las camionadas confirmadas</a:t>
            </a:r>
          </a:p>
        </p:txBody>
      </p:sp>
      <p:pic>
        <p:nvPicPr>
          <p:cNvPr id="60" name="Imagen 59">
            <a:extLst>
              <a:ext uri="{FF2B5EF4-FFF2-40B4-BE49-F238E27FC236}">
                <a16:creationId xmlns:a16="http://schemas.microsoft.com/office/drawing/2014/main" id="{A5DF6647-43A0-4372-BE47-B38106C7D45C}"/>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Listado de lotes activos en Dispatch</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52975" y="173736"/>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2975" y="173736"/>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Cada lote representa un despacho a una planta compradora. La vista muestra el numero de lote, empresa receptora, planta destino, numero de camionadas, tonelaje total y estado (Abierto o Cerrado). Un lote permanece Abierto mientras tenga camionadas sin confirmar.</a:t>
            </a:r>
          </a:p>
        </p:txBody>
      </p:sp>
      <p:sp>
        <p:nvSpPr>
          <p:cNvPr id="13" name="Rectangle 12"/>
          <p:cNvSpPr/>
          <p:nvPr/>
        </p:nvSpPr>
        <p:spPr>
          <a:xfrm>
            <a:off x="320040" y="1901952"/>
            <a:ext cx="11548872" cy="2743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Panel de lotes — cada lote agrupa las camionadas de un despacho</a:t>
            </a:r>
          </a:p>
        </p:txBody>
      </p:sp>
      <p:pic>
        <p:nvPicPr>
          <p:cNvPr id="15" name="Picture 14" descr="paso5_lote.png"/>
          <p:cNvPicPr>
            <a:picLocks noChangeAspect="1"/>
          </p:cNvPicPr>
          <p:nvPr/>
        </p:nvPicPr>
        <p:blipFill>
          <a:blip r:embed="rId2"/>
          <a:stretch>
            <a:fillRect/>
          </a:stretch>
        </p:blipFill>
        <p:spPr>
          <a:xfrm>
            <a:off x="1832697" y="2231136"/>
            <a:ext cx="8523557" cy="4069080"/>
          </a:xfrm>
          <a:prstGeom prst="rect">
            <a:avLst/>
          </a:prstGeom>
        </p:spPr>
      </p:pic>
      <p:pic>
        <p:nvPicPr>
          <p:cNvPr id="16" name="Imagen 15">
            <a:extLst>
              <a:ext uri="{FF2B5EF4-FFF2-40B4-BE49-F238E27FC236}">
                <a16:creationId xmlns:a16="http://schemas.microsoft.com/office/drawing/2014/main" id="{8FD8455B-1D2F-474E-8BFB-AE2BCFA8C786}"/>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5 -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Registro de camionada despachada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52975"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52975"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Por cada camion que sale con mineral se registra: patente, conductor, peso bruto, tara y peso neto. La camionada queda en estado 'En Transito' hasta que la planta confirme la recepcion entregando el ticket con el peso real medido en su bascula.</a:t>
            </a:r>
          </a:p>
        </p:txBody>
      </p:sp>
      <p:sp>
        <p:nvSpPr>
          <p:cNvPr id="13" name="Rectangle 12"/>
          <p:cNvSpPr/>
          <p:nvPr/>
        </p:nvSpPr>
        <p:spPr>
          <a:xfrm>
            <a:off x="320040" y="1901952"/>
            <a:ext cx="11548872" cy="27432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registro de camionada — datos del camion y peso despachado</a:t>
            </a:r>
          </a:p>
        </p:txBody>
      </p:sp>
      <p:pic>
        <p:nvPicPr>
          <p:cNvPr id="15" name="Picture 14" descr="paso5_lote_camionada.png"/>
          <p:cNvPicPr>
            <a:picLocks noChangeAspect="1"/>
          </p:cNvPicPr>
          <p:nvPr/>
        </p:nvPicPr>
        <p:blipFill>
          <a:blip r:embed="rId2"/>
          <a:stretch>
            <a:fillRect/>
          </a:stretch>
        </p:blipFill>
        <p:spPr>
          <a:xfrm>
            <a:off x="1790466" y="2231136"/>
            <a:ext cx="8608019" cy="4069080"/>
          </a:xfrm>
          <a:prstGeom prst="rect">
            <a:avLst/>
          </a:prstGeom>
        </p:spPr>
      </p:pic>
      <p:pic>
        <p:nvPicPr>
          <p:cNvPr id="16" name="Imagen 15">
            <a:extLst>
              <a:ext uri="{FF2B5EF4-FFF2-40B4-BE49-F238E27FC236}">
                <a16:creationId xmlns:a16="http://schemas.microsoft.com/office/drawing/2014/main" id="{5448F927-4DA4-43CE-B5BF-DF4DC6ABF94A}"/>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Recepcion y Cierre de Lote</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La planta confirma el peso real  |  Dispatch cierra el lote</a:t>
            </a:r>
          </a:p>
        </p:txBody>
      </p:sp>
      <p:sp>
        <p:nvSpPr>
          <p:cNvPr id="8" name="Rectangle 7"/>
          <p:cNvSpPr/>
          <p:nvPr/>
        </p:nvSpPr>
        <p:spPr>
          <a:xfrm>
            <a:off x="5244084" y="146304"/>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44084" y="146304"/>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97280"/>
            <a:ext cx="1371600" cy="1371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097280"/>
            <a:ext cx="1371600" cy="1371600"/>
          </a:xfrm>
          <a:prstGeom prst="rect">
            <a:avLst/>
          </a:prstGeom>
          <a:noFill/>
        </p:spPr>
        <p:txBody>
          <a:bodyPr wrap="square">
            <a:spAutoFit/>
          </a:bodyPr>
          <a:lstStyle/>
          <a:p>
            <a:pPr algn="ctr"/>
            <a:r>
              <a:rPr sz="6000" b="1" i="0">
                <a:solidFill>
                  <a:srgbClr val="FFFFFF"/>
                </a:solidFill>
              </a:rPr>
              <a:t>6</a:t>
            </a:r>
          </a:p>
        </p:txBody>
      </p:sp>
      <p:sp>
        <p:nvSpPr>
          <p:cNvPr id="12" name="TextBox 11"/>
          <p:cNvSpPr txBox="1"/>
          <p:nvPr/>
        </p:nvSpPr>
        <p:spPr>
          <a:xfrm>
            <a:off x="1920240" y="1115568"/>
            <a:ext cx="9875520" cy="384048"/>
          </a:xfrm>
          <a:prstGeom prst="rect">
            <a:avLst/>
          </a:prstGeom>
          <a:noFill/>
        </p:spPr>
        <p:txBody>
          <a:bodyPr wrap="square">
            <a:spAutoFit/>
          </a:bodyPr>
          <a:lstStyle/>
          <a:p>
            <a:pPr algn="l"/>
            <a:r>
              <a:rPr sz="1800" b="1" i="0">
                <a:solidFill>
                  <a:srgbClr val="8B3A00"/>
                </a:solidFill>
              </a:rPr>
              <a:t>Como se cierra el lote?</a:t>
            </a:r>
          </a:p>
        </p:txBody>
      </p:sp>
      <p:sp>
        <p:nvSpPr>
          <p:cNvPr id="13" name="TextBox 12"/>
          <p:cNvSpPr txBox="1"/>
          <p:nvPr/>
        </p:nvSpPr>
        <p:spPr>
          <a:xfrm>
            <a:off x="1920240" y="1517904"/>
            <a:ext cx="9875520" cy="548640"/>
          </a:xfrm>
          <a:prstGeom prst="rect">
            <a:avLst/>
          </a:prstGeom>
          <a:noFill/>
        </p:spPr>
        <p:txBody>
          <a:bodyPr wrap="square">
            <a:spAutoFit/>
          </a:bodyPr>
          <a:lstStyle/>
          <a:p>
            <a:pPr algn="l"/>
            <a:r>
              <a:rPr sz="1200" b="0" i="0">
                <a:solidFill>
                  <a:srgbClr val="1A1A1A"/>
                </a:solidFill>
              </a:rPr>
              <a:t>Cuando el camion llega a la planta, esta pesa la carga en bascula y entrega un ticket. Dispatch registra el peso real en el sistema y cierra el lote oficialmente.</a:t>
            </a:r>
          </a:p>
        </p:txBody>
      </p:sp>
      <p:sp>
        <p:nvSpPr>
          <p:cNvPr id="14" name="Rectangle 13"/>
          <p:cNvSpPr/>
          <p:nvPr/>
        </p:nvSpPr>
        <p:spPr>
          <a:xfrm>
            <a:off x="1920240" y="2103120"/>
            <a:ext cx="3474720" cy="338328"/>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20240" y="2103120"/>
            <a:ext cx="3474720" cy="338328"/>
          </a:xfrm>
          <a:prstGeom prst="rect">
            <a:avLst/>
          </a:prstGeom>
          <a:noFill/>
        </p:spPr>
        <p:txBody>
          <a:bodyPr wrap="square">
            <a:spAutoFit/>
          </a:bodyPr>
          <a:lstStyle/>
          <a:p>
            <a:pPr algn="ctr"/>
            <a:r>
              <a:rPr sz="1100" b="1" i="0">
                <a:solidFill>
                  <a:srgbClr val="155724"/>
                </a:solidFill>
              </a:rPr>
              <a:t>Estado resultante:  DESPACHADO</a:t>
            </a:r>
          </a:p>
        </p:txBody>
      </p:sp>
      <p:sp>
        <p:nvSpPr>
          <p:cNvPr id="16" name="Rectangle 15"/>
          <p:cNvSpPr/>
          <p:nvPr/>
        </p:nvSpPr>
        <p:spPr>
          <a:xfrm>
            <a:off x="320040" y="2578608"/>
            <a:ext cx="2606040" cy="86868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2578608"/>
            <a:ext cx="2606040" cy="868680"/>
          </a:xfrm>
          <a:prstGeom prst="rect">
            <a:avLst/>
          </a:prstGeom>
          <a:noFill/>
        </p:spPr>
        <p:txBody>
          <a:bodyPr wrap="square">
            <a:spAutoFit/>
          </a:bodyPr>
          <a:lstStyle/>
          <a:p>
            <a:pPr algn="ctr"/>
            <a:r>
              <a:rPr sz="1200" b="1" i="0">
                <a:solidFill>
                  <a:srgbClr val="FFFFFF"/>
                </a:solidFill>
              </a:rPr>
              <a:t>Camion llega
a la planta</a:t>
            </a:r>
          </a:p>
        </p:txBody>
      </p:sp>
      <p:sp>
        <p:nvSpPr>
          <p:cNvPr id="18" name="TextBox 17"/>
          <p:cNvSpPr txBox="1"/>
          <p:nvPr/>
        </p:nvSpPr>
        <p:spPr>
          <a:xfrm>
            <a:off x="2944368" y="2816352"/>
            <a:ext cx="320040" cy="438912"/>
          </a:xfrm>
          <a:prstGeom prst="rect">
            <a:avLst/>
          </a:prstGeom>
          <a:noFill/>
        </p:spPr>
        <p:txBody>
          <a:bodyPr wrap="square">
            <a:spAutoFit/>
          </a:bodyPr>
          <a:lstStyle/>
          <a:p>
            <a:pPr algn="ctr"/>
            <a:r>
              <a:rPr sz="2000" b="1" i="0">
                <a:solidFill>
                  <a:srgbClr val="8B3A00"/>
                </a:solidFill>
              </a:rPr>
              <a:t>&gt;</a:t>
            </a:r>
          </a:p>
        </p:txBody>
      </p:sp>
      <p:sp>
        <p:nvSpPr>
          <p:cNvPr id="19" name="Rectangle 18"/>
          <p:cNvSpPr/>
          <p:nvPr/>
        </p:nvSpPr>
        <p:spPr>
          <a:xfrm>
            <a:off x="3291840" y="2578608"/>
            <a:ext cx="2606040" cy="868680"/>
          </a:xfrm>
          <a:prstGeom prst="rect">
            <a:avLst/>
          </a:prstGeom>
          <a:solidFill>
            <a:srgbClr val="9240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91840" y="2578608"/>
            <a:ext cx="2606040" cy="868680"/>
          </a:xfrm>
          <a:prstGeom prst="rect">
            <a:avLst/>
          </a:prstGeom>
          <a:noFill/>
        </p:spPr>
        <p:txBody>
          <a:bodyPr wrap="square">
            <a:spAutoFit/>
          </a:bodyPr>
          <a:lstStyle/>
          <a:p>
            <a:pPr algn="ctr"/>
            <a:r>
              <a:rPr sz="1200" b="1" i="0">
                <a:solidFill>
                  <a:srgbClr val="FFFFFF"/>
                </a:solidFill>
              </a:rPr>
              <a:t>Planta pesa
en bascula</a:t>
            </a:r>
          </a:p>
        </p:txBody>
      </p:sp>
      <p:sp>
        <p:nvSpPr>
          <p:cNvPr id="21" name="TextBox 20"/>
          <p:cNvSpPr txBox="1"/>
          <p:nvPr/>
        </p:nvSpPr>
        <p:spPr>
          <a:xfrm>
            <a:off x="5916168" y="2816352"/>
            <a:ext cx="320040" cy="438912"/>
          </a:xfrm>
          <a:prstGeom prst="rect">
            <a:avLst/>
          </a:prstGeom>
          <a:noFill/>
        </p:spPr>
        <p:txBody>
          <a:bodyPr wrap="square">
            <a:spAutoFit/>
          </a:bodyPr>
          <a:lstStyle/>
          <a:p>
            <a:pPr algn="ctr"/>
            <a:r>
              <a:rPr sz="2000" b="1" i="0">
                <a:solidFill>
                  <a:srgbClr val="8B3A00"/>
                </a:solidFill>
              </a:rPr>
              <a:t>&gt;</a:t>
            </a:r>
          </a:p>
        </p:txBody>
      </p:sp>
      <p:sp>
        <p:nvSpPr>
          <p:cNvPr id="22" name="Rectangle 21"/>
          <p:cNvSpPr/>
          <p:nvPr/>
        </p:nvSpPr>
        <p:spPr>
          <a:xfrm>
            <a:off x="6263640" y="2578608"/>
            <a:ext cx="2606040" cy="86868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2578608"/>
            <a:ext cx="2606040" cy="868680"/>
          </a:xfrm>
          <a:prstGeom prst="rect">
            <a:avLst/>
          </a:prstGeom>
          <a:noFill/>
        </p:spPr>
        <p:txBody>
          <a:bodyPr wrap="square">
            <a:spAutoFit/>
          </a:bodyPr>
          <a:lstStyle/>
          <a:p>
            <a:pPr algn="ctr"/>
            <a:r>
              <a:rPr sz="1200" b="1" i="0">
                <a:solidFill>
                  <a:srgbClr val="FFFFFF"/>
                </a:solidFill>
              </a:rPr>
              <a:t>Planta emite
ticket</a:t>
            </a:r>
          </a:p>
        </p:txBody>
      </p:sp>
      <p:sp>
        <p:nvSpPr>
          <p:cNvPr id="24" name="TextBox 23"/>
          <p:cNvSpPr txBox="1"/>
          <p:nvPr/>
        </p:nvSpPr>
        <p:spPr>
          <a:xfrm>
            <a:off x="8887967" y="2816352"/>
            <a:ext cx="320040" cy="438912"/>
          </a:xfrm>
          <a:prstGeom prst="rect">
            <a:avLst/>
          </a:prstGeom>
          <a:noFill/>
        </p:spPr>
        <p:txBody>
          <a:bodyPr wrap="square">
            <a:spAutoFit/>
          </a:bodyPr>
          <a:lstStyle/>
          <a:p>
            <a:pPr algn="ctr"/>
            <a:r>
              <a:rPr sz="2000" b="1" i="0">
                <a:solidFill>
                  <a:srgbClr val="8B3A00"/>
                </a:solidFill>
              </a:rPr>
              <a:t>&gt;</a:t>
            </a:r>
          </a:p>
        </p:txBody>
      </p:sp>
      <p:sp>
        <p:nvSpPr>
          <p:cNvPr id="25" name="Rectangle 24"/>
          <p:cNvSpPr/>
          <p:nvPr/>
        </p:nvSpPr>
        <p:spPr>
          <a:xfrm>
            <a:off x="9235440" y="2578608"/>
            <a:ext cx="2606040" cy="868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2578608"/>
            <a:ext cx="2606040" cy="868680"/>
          </a:xfrm>
          <a:prstGeom prst="rect">
            <a:avLst/>
          </a:prstGeom>
          <a:noFill/>
        </p:spPr>
        <p:txBody>
          <a:bodyPr wrap="square">
            <a:spAutoFit/>
          </a:bodyPr>
          <a:lstStyle/>
          <a:p>
            <a:pPr algn="ctr"/>
            <a:r>
              <a:rPr sz="1200" b="1" i="0">
                <a:solidFill>
                  <a:srgbClr val="FFFFFF"/>
                </a:solidFill>
              </a:rPr>
              <a:t>Dispatch registra
y cierra el lote</a:t>
            </a:r>
          </a:p>
        </p:txBody>
      </p:sp>
      <p:sp>
        <p:nvSpPr>
          <p:cNvPr id="27" name="TextBox 26"/>
          <p:cNvSpPr txBox="1"/>
          <p:nvPr/>
        </p:nvSpPr>
        <p:spPr>
          <a:xfrm>
            <a:off x="320040" y="3657600"/>
            <a:ext cx="11521440" cy="292608"/>
          </a:xfrm>
          <a:prstGeom prst="rect">
            <a:avLst/>
          </a:prstGeom>
          <a:noFill/>
        </p:spPr>
        <p:txBody>
          <a:bodyPr wrap="square">
            <a:spAutoFit/>
          </a:bodyPr>
          <a:lstStyle/>
          <a:p>
            <a:pPr algn="l"/>
            <a:r>
              <a:rPr sz="1300" b="1" i="0">
                <a:solidFill>
                  <a:srgbClr val="8B3A00"/>
                </a:solidFill>
              </a:rPr>
              <a:t>Datos del ticket de la planta:</a:t>
            </a:r>
          </a:p>
        </p:txBody>
      </p:sp>
      <p:sp>
        <p:nvSpPr>
          <p:cNvPr id="28" name="Rectangle 27"/>
          <p:cNvSpPr/>
          <p:nvPr/>
        </p:nvSpPr>
        <p:spPr>
          <a:xfrm>
            <a:off x="320040" y="4005072"/>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11480" y="4041648"/>
            <a:ext cx="2286000" cy="292608"/>
          </a:xfrm>
          <a:prstGeom prst="rect">
            <a:avLst/>
          </a:prstGeom>
          <a:noFill/>
        </p:spPr>
        <p:txBody>
          <a:bodyPr wrap="square">
            <a:spAutoFit/>
          </a:bodyPr>
          <a:lstStyle/>
          <a:p>
            <a:pPr algn="l"/>
            <a:r>
              <a:rPr sz="1100" b="1" i="0">
                <a:solidFill>
                  <a:srgbClr val="E06010"/>
                </a:solidFill>
              </a:rPr>
              <a:t>N de ticket</a:t>
            </a:r>
          </a:p>
        </p:txBody>
      </p:sp>
      <p:sp>
        <p:nvSpPr>
          <p:cNvPr id="30" name="TextBox 29"/>
          <p:cNvSpPr txBox="1"/>
          <p:nvPr/>
        </p:nvSpPr>
        <p:spPr>
          <a:xfrm>
            <a:off x="2743200" y="4041648"/>
            <a:ext cx="9144000" cy="292608"/>
          </a:xfrm>
          <a:prstGeom prst="rect">
            <a:avLst/>
          </a:prstGeom>
          <a:noFill/>
        </p:spPr>
        <p:txBody>
          <a:bodyPr wrap="square">
            <a:spAutoFit/>
          </a:bodyPr>
          <a:lstStyle/>
          <a:p>
            <a:pPr algn="l"/>
            <a:r>
              <a:rPr sz="1100" b="0" i="0">
                <a:solidFill>
                  <a:srgbClr val="1A1A1A"/>
                </a:solidFill>
              </a:rPr>
              <a:t>Identificador unico emitido por la planta</a:t>
            </a:r>
          </a:p>
        </p:txBody>
      </p:sp>
      <p:sp>
        <p:nvSpPr>
          <p:cNvPr id="31" name="Rectangle 30"/>
          <p:cNvSpPr/>
          <p:nvPr/>
        </p:nvSpPr>
        <p:spPr>
          <a:xfrm>
            <a:off x="320040" y="4389120"/>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1480" y="4425696"/>
            <a:ext cx="2286000" cy="292608"/>
          </a:xfrm>
          <a:prstGeom prst="rect">
            <a:avLst/>
          </a:prstGeom>
          <a:noFill/>
        </p:spPr>
        <p:txBody>
          <a:bodyPr wrap="square">
            <a:spAutoFit/>
          </a:bodyPr>
          <a:lstStyle/>
          <a:p>
            <a:pPr algn="l"/>
            <a:r>
              <a:rPr sz="1100" b="1" i="0">
                <a:solidFill>
                  <a:srgbClr val="E06010"/>
                </a:solidFill>
              </a:rPr>
              <a:t>Fecha / Hora</a:t>
            </a:r>
          </a:p>
        </p:txBody>
      </p:sp>
      <p:sp>
        <p:nvSpPr>
          <p:cNvPr id="33" name="TextBox 32"/>
          <p:cNvSpPr txBox="1"/>
          <p:nvPr/>
        </p:nvSpPr>
        <p:spPr>
          <a:xfrm>
            <a:off x="2743200" y="4425696"/>
            <a:ext cx="9144000" cy="292608"/>
          </a:xfrm>
          <a:prstGeom prst="rect">
            <a:avLst/>
          </a:prstGeom>
          <a:noFill/>
        </p:spPr>
        <p:txBody>
          <a:bodyPr wrap="square">
            <a:spAutoFit/>
          </a:bodyPr>
          <a:lstStyle/>
          <a:p>
            <a:pPr algn="l"/>
            <a:r>
              <a:rPr sz="1100" b="0" i="0">
                <a:solidFill>
                  <a:srgbClr val="1A1A1A"/>
                </a:solidFill>
              </a:rPr>
              <a:t>Momento exacto de recepcion del mineral</a:t>
            </a:r>
          </a:p>
        </p:txBody>
      </p:sp>
      <p:sp>
        <p:nvSpPr>
          <p:cNvPr id="34" name="Rectangle 33"/>
          <p:cNvSpPr/>
          <p:nvPr/>
        </p:nvSpPr>
        <p:spPr>
          <a:xfrm>
            <a:off x="320040" y="4773168"/>
            <a:ext cx="11521440" cy="356616"/>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4809744"/>
            <a:ext cx="2286000" cy="292608"/>
          </a:xfrm>
          <a:prstGeom prst="rect">
            <a:avLst/>
          </a:prstGeom>
          <a:noFill/>
        </p:spPr>
        <p:txBody>
          <a:bodyPr wrap="square">
            <a:spAutoFit/>
          </a:bodyPr>
          <a:lstStyle/>
          <a:p>
            <a:pPr algn="l"/>
            <a:r>
              <a:rPr sz="1100" b="1" i="0">
                <a:solidFill>
                  <a:srgbClr val="E06010"/>
                </a:solidFill>
              </a:rPr>
              <a:t>Patente</a:t>
            </a:r>
          </a:p>
        </p:txBody>
      </p:sp>
      <p:sp>
        <p:nvSpPr>
          <p:cNvPr id="36" name="TextBox 35"/>
          <p:cNvSpPr txBox="1"/>
          <p:nvPr/>
        </p:nvSpPr>
        <p:spPr>
          <a:xfrm>
            <a:off x="2743200" y="4809744"/>
            <a:ext cx="9144000" cy="292608"/>
          </a:xfrm>
          <a:prstGeom prst="rect">
            <a:avLst/>
          </a:prstGeom>
          <a:noFill/>
        </p:spPr>
        <p:txBody>
          <a:bodyPr wrap="square">
            <a:spAutoFit/>
          </a:bodyPr>
          <a:lstStyle/>
          <a:p>
            <a:pPr algn="l"/>
            <a:r>
              <a:rPr sz="1100" b="0" i="0">
                <a:solidFill>
                  <a:srgbClr val="1A1A1A"/>
                </a:solidFill>
              </a:rPr>
              <a:t>Confirma el vehiculo recibido</a:t>
            </a:r>
          </a:p>
        </p:txBody>
      </p:sp>
      <p:sp>
        <p:nvSpPr>
          <p:cNvPr id="37" name="Rectangle 36"/>
          <p:cNvSpPr/>
          <p:nvPr/>
        </p:nvSpPr>
        <p:spPr>
          <a:xfrm>
            <a:off x="320040" y="5157216"/>
            <a:ext cx="11521440" cy="356616"/>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11480" y="5193792"/>
            <a:ext cx="2286000" cy="292608"/>
          </a:xfrm>
          <a:prstGeom prst="rect">
            <a:avLst/>
          </a:prstGeom>
          <a:noFill/>
        </p:spPr>
        <p:txBody>
          <a:bodyPr wrap="square">
            <a:spAutoFit/>
          </a:bodyPr>
          <a:lstStyle/>
          <a:p>
            <a:pPr algn="l"/>
            <a:r>
              <a:rPr sz="1100" b="1" i="0">
                <a:solidFill>
                  <a:srgbClr val="E06010"/>
                </a:solidFill>
              </a:rPr>
              <a:t>Peso real (t)</a:t>
            </a:r>
          </a:p>
        </p:txBody>
      </p:sp>
      <p:sp>
        <p:nvSpPr>
          <p:cNvPr id="39" name="TextBox 38"/>
          <p:cNvSpPr txBox="1"/>
          <p:nvPr/>
        </p:nvSpPr>
        <p:spPr>
          <a:xfrm>
            <a:off x="2743200" y="5193792"/>
            <a:ext cx="9144000" cy="292608"/>
          </a:xfrm>
          <a:prstGeom prst="rect">
            <a:avLst/>
          </a:prstGeom>
          <a:noFill/>
        </p:spPr>
        <p:txBody>
          <a:bodyPr wrap="square">
            <a:spAutoFit/>
          </a:bodyPr>
          <a:lstStyle/>
          <a:p>
            <a:pPr algn="l"/>
            <a:r>
              <a:rPr sz="1100" b="0" i="0">
                <a:solidFill>
                  <a:srgbClr val="1A1A1A"/>
                </a:solidFill>
              </a:rPr>
              <a:t>Peso en bascula — dato oficial de la venta</a:t>
            </a:r>
          </a:p>
        </p:txBody>
      </p:sp>
      <p:sp>
        <p:nvSpPr>
          <p:cNvPr id="40" name="Rectangle 39"/>
          <p:cNvSpPr/>
          <p:nvPr/>
        </p:nvSpPr>
        <p:spPr>
          <a:xfrm>
            <a:off x="320040" y="5650992"/>
            <a:ext cx="11521440" cy="4572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0040" y="5742432"/>
            <a:ext cx="11521440" cy="292608"/>
          </a:xfrm>
          <a:prstGeom prst="rect">
            <a:avLst/>
          </a:prstGeom>
          <a:noFill/>
        </p:spPr>
        <p:txBody>
          <a:bodyPr wrap="square">
            <a:spAutoFit/>
          </a:bodyPr>
          <a:lstStyle/>
          <a:p>
            <a:pPr algn="l"/>
            <a:r>
              <a:rPr sz="1050" b="0" i="0">
                <a:solidFill>
                  <a:srgbClr val="155724"/>
                </a:solidFill>
              </a:rPr>
              <a:t>ok  Peso real registrado — diferencia vs. peso despachado calculada automaticamente</a:t>
            </a:r>
          </a:p>
        </p:txBody>
      </p:sp>
      <p:sp>
        <p:nvSpPr>
          <p:cNvPr id="42" name="TextBox 41"/>
          <p:cNvSpPr txBox="1"/>
          <p:nvPr/>
        </p:nvSpPr>
        <p:spPr>
          <a:xfrm>
            <a:off x="320040" y="6053328"/>
            <a:ext cx="11521440" cy="292608"/>
          </a:xfrm>
          <a:prstGeom prst="rect">
            <a:avLst/>
          </a:prstGeom>
          <a:noFill/>
        </p:spPr>
        <p:txBody>
          <a:bodyPr wrap="square">
            <a:spAutoFit/>
          </a:bodyPr>
          <a:lstStyle/>
          <a:p>
            <a:pPr algn="l"/>
            <a:r>
              <a:rPr sz="1050" b="0" i="0">
                <a:solidFill>
                  <a:srgbClr val="155724"/>
                </a:solidFill>
              </a:rPr>
              <a:t>ok  Lote queda en estado DESPACHADO — datos disponibles para reportes y auditorias</a:t>
            </a:r>
          </a:p>
        </p:txBody>
      </p:sp>
      <p:pic>
        <p:nvPicPr>
          <p:cNvPr id="43" name="Imagen 42">
            <a:extLst>
              <a:ext uri="{FF2B5EF4-FFF2-40B4-BE49-F238E27FC236}">
                <a16:creationId xmlns:a16="http://schemas.microsoft.com/office/drawing/2014/main" id="{52C87DC8-DFD8-4EBA-B362-17A7D25B422A}"/>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Vista del Sistema (1/2)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Recepcion de camionada en planta</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24400"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24400"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Cuando el camion es pesado en la planta, el encargado ingresa el numero de ticket y el peso real. Este es el dato oficial de la venta. Al confirmar, la camionada cambia de 'En Transito' a 'Recepcionada'.</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Formulario de recepcion — N de ticket y peso real medido en bascula</a:t>
            </a:r>
          </a:p>
        </p:txBody>
      </p:sp>
      <p:pic>
        <p:nvPicPr>
          <p:cNvPr id="15" name="Picture 14" descr="paso5_lote_camionada_recepcion.png"/>
          <p:cNvPicPr>
            <a:picLocks noChangeAspect="1"/>
          </p:cNvPicPr>
          <p:nvPr/>
        </p:nvPicPr>
        <p:blipFill>
          <a:blip r:embed="rId2"/>
          <a:stretch>
            <a:fillRect/>
          </a:stretch>
        </p:blipFill>
        <p:spPr>
          <a:xfrm>
            <a:off x="1847991" y="2231136"/>
            <a:ext cx="8492969" cy="4069080"/>
          </a:xfrm>
          <a:prstGeom prst="rect">
            <a:avLst/>
          </a:prstGeom>
        </p:spPr>
      </p:pic>
      <p:pic>
        <p:nvPicPr>
          <p:cNvPr id="16" name="Imagen 15">
            <a:extLst>
              <a:ext uri="{FF2B5EF4-FFF2-40B4-BE49-F238E27FC236}">
                <a16:creationId xmlns:a16="http://schemas.microsoft.com/office/drawing/2014/main" id="{9DC4F384-914B-4DA7-8054-9D45E8588404}"/>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Paso 6 - Vista del Sistema (2/2)</a:t>
            </a:r>
          </a:p>
        </p:txBody>
      </p:sp>
      <p:sp>
        <p:nvSpPr>
          <p:cNvPr id="5" name="TextBox 4"/>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Cierre del lote despachado</a:t>
            </a:r>
          </a:p>
        </p:txBody>
      </p:sp>
      <p:sp>
        <p:nvSpPr>
          <p:cNvPr id="6" name="Rectangle 5"/>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8" name="Rectangle 7"/>
          <p:cNvSpPr/>
          <p:nvPr/>
        </p:nvSpPr>
        <p:spPr>
          <a:xfrm>
            <a:off x="4714875" y="164592"/>
            <a:ext cx="2039112" cy="347472"/>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14875" y="164592"/>
            <a:ext cx="2039112" cy="347472"/>
          </a:xfrm>
          <a:prstGeom prst="rect">
            <a:avLst/>
          </a:prstGeom>
          <a:noFill/>
        </p:spPr>
        <p:txBody>
          <a:bodyPr wrap="square">
            <a:spAutoFit/>
          </a:bodyPr>
          <a:lstStyle/>
          <a:p>
            <a:pPr algn="ctr"/>
            <a:r>
              <a:rPr sz="1100" b="1" i="0">
                <a:solidFill>
                  <a:srgbClr val="666666"/>
                </a:solidFill>
              </a:rPr>
              <a:t>PENDIENTE</a:t>
            </a:r>
          </a:p>
        </p:txBody>
      </p:sp>
      <p:sp>
        <p:nvSpPr>
          <p:cNvPr id="10" name="Rectangle 9"/>
          <p:cNvSpPr/>
          <p:nvPr/>
        </p:nvSpPr>
        <p:spPr>
          <a:xfrm>
            <a:off x="320040" y="1078992"/>
            <a:ext cx="11548872" cy="749808"/>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0040" y="1078992"/>
            <a:ext cx="91440" cy="74980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1133856"/>
            <a:ext cx="11201400" cy="658368"/>
          </a:xfrm>
          <a:prstGeom prst="rect">
            <a:avLst/>
          </a:prstGeom>
          <a:noFill/>
        </p:spPr>
        <p:txBody>
          <a:bodyPr wrap="square">
            <a:spAutoFit/>
          </a:bodyPr>
          <a:lstStyle/>
          <a:p>
            <a:pPr algn="l"/>
            <a:r>
              <a:rPr sz="1150" b="0" i="0">
                <a:solidFill>
                  <a:srgbClr val="1A1A1A"/>
                </a:solidFill>
              </a:rPr>
              <a:t>Con todas las camionadas recepcionadas, el encargado cierra el lote. El sistema calcula la diferencia entre tonelaje despachado y recibido por la planta. El lote queda en estado DESPACHADO y el ciclo del mineral queda completo.</a:t>
            </a:r>
          </a:p>
        </p:txBody>
      </p:sp>
      <p:sp>
        <p:nvSpPr>
          <p:cNvPr id="13" name="Rectangle 12"/>
          <p:cNvSpPr/>
          <p:nvPr/>
        </p:nvSpPr>
        <p:spPr>
          <a:xfrm>
            <a:off x="320040" y="1901952"/>
            <a:ext cx="11548872" cy="27432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911095"/>
            <a:ext cx="11384280" cy="256032"/>
          </a:xfrm>
          <a:prstGeom prst="rect">
            <a:avLst/>
          </a:prstGeom>
          <a:noFill/>
        </p:spPr>
        <p:txBody>
          <a:bodyPr wrap="square">
            <a:spAutoFit/>
          </a:bodyPr>
          <a:lstStyle/>
          <a:p>
            <a:pPr algn="l"/>
            <a:r>
              <a:rPr sz="1050" b="1" i="0">
                <a:solidFill>
                  <a:srgbClr val="FFFFFF"/>
                </a:solidFill>
              </a:rPr>
              <a:t>Cierre del lote — confirmacion final y calculo de diferencias</a:t>
            </a:r>
          </a:p>
        </p:txBody>
      </p:sp>
      <p:pic>
        <p:nvPicPr>
          <p:cNvPr id="15" name="Picture 14" descr="paso5_lote_camionada_cerrar_lote.png"/>
          <p:cNvPicPr>
            <a:picLocks noChangeAspect="1"/>
          </p:cNvPicPr>
          <p:nvPr/>
        </p:nvPicPr>
        <p:blipFill>
          <a:blip r:embed="rId2"/>
          <a:stretch>
            <a:fillRect/>
          </a:stretch>
        </p:blipFill>
        <p:spPr>
          <a:xfrm>
            <a:off x="1848965" y="2231136"/>
            <a:ext cx="8491022" cy="4069080"/>
          </a:xfrm>
          <a:prstGeom prst="rect">
            <a:avLst/>
          </a:prstGeom>
        </p:spPr>
      </p:pic>
      <p:pic>
        <p:nvPicPr>
          <p:cNvPr id="16" name="Imagen 15">
            <a:extLst>
              <a:ext uri="{FF2B5EF4-FFF2-40B4-BE49-F238E27FC236}">
                <a16:creationId xmlns:a16="http://schemas.microsoft.com/office/drawing/2014/main" id="{1EBB6C12-7729-44D6-B4A3-CDCC4D15B3D3}"/>
              </a:ext>
            </a:extLst>
          </p:cNvPr>
          <p:cNvPicPr>
            <a:picLocks noChangeAspect="1"/>
          </p:cNvPicPr>
          <p:nvPr/>
        </p:nvPicPr>
        <p:blipFill>
          <a:blip r:embed="rId3"/>
          <a:stretch>
            <a:fillRect/>
          </a:stretch>
        </p:blipFill>
        <p:spPr>
          <a:xfrm>
            <a:off x="11263313" y="30088"/>
            <a:ext cx="790574" cy="9075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492240"/>
            <a:ext cx="12188952" cy="36576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510528"/>
            <a:ext cx="11612880" cy="230832"/>
          </a:xfrm>
          <a:prstGeom prst="rect">
            <a:avLst/>
          </a:prstGeom>
          <a:noFill/>
        </p:spPr>
        <p:txBody>
          <a:bodyPr wrap="square">
            <a:spAutoFit/>
          </a:bodyPr>
          <a:lstStyle/>
          <a:p>
            <a:pPr algn="ctr"/>
            <a:r>
              <a:rPr lang="es-ES" sz="900" b="0" i="0" dirty="0">
                <a:solidFill>
                  <a:srgbClr val="FFFFFF"/>
                </a:solidFill>
              </a:rPr>
              <a:t>Sistema de </a:t>
            </a:r>
            <a:r>
              <a:rPr lang="es-ES" sz="900" b="0" i="0" dirty="0" err="1">
                <a:solidFill>
                  <a:srgbClr val="FFFFFF"/>
                </a:solidFill>
              </a:rPr>
              <a:t>Produccion</a:t>
            </a:r>
            <a:r>
              <a:rPr lang="es-ES" sz="900" b="0" i="0" dirty="0">
                <a:solidFill>
                  <a:srgbClr val="FFFFFF"/>
                </a:solidFill>
              </a:rPr>
              <a:t> M3H  |  Flujo del Dato — </a:t>
            </a:r>
            <a:r>
              <a:rPr lang="es-ES" sz="900" b="0" i="0" dirty="0" err="1">
                <a:solidFill>
                  <a:srgbClr val="FFFFFF"/>
                </a:solidFill>
              </a:rPr>
              <a:t>Dispatch</a:t>
            </a:r>
            <a:r>
              <a:rPr lang="es-ES" sz="900" b="0" i="0" dirty="0">
                <a:solidFill>
                  <a:srgbClr val="FFFFFF"/>
                </a:solidFill>
              </a:rPr>
              <a:t>  |  Junio 2026  </a:t>
            </a:r>
          </a:p>
        </p:txBody>
      </p:sp>
      <p:sp>
        <p:nvSpPr>
          <p:cNvPr id="5" name="Rectangle 4"/>
          <p:cNvSpPr/>
          <p:nvPr/>
        </p:nvSpPr>
        <p:spPr>
          <a:xfrm>
            <a:off x="0" y="0"/>
            <a:ext cx="12188952" cy="1005840"/>
          </a:xfrm>
          <a:prstGeom prst="rect">
            <a:avLst/>
          </a:prstGeom>
          <a:solidFill>
            <a:srgbClr val="E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91440"/>
            <a:ext cx="9144000" cy="502920"/>
          </a:xfrm>
          <a:prstGeom prst="rect">
            <a:avLst/>
          </a:prstGeom>
          <a:noFill/>
        </p:spPr>
        <p:txBody>
          <a:bodyPr wrap="square">
            <a:spAutoFit/>
          </a:bodyPr>
          <a:lstStyle/>
          <a:p>
            <a:pPr algn="l"/>
            <a:r>
              <a:rPr sz="2600" b="1" i="0">
                <a:solidFill>
                  <a:srgbClr val="FFFFFF"/>
                </a:solidFill>
              </a:rPr>
              <a:t>Progresion de Estados de una Dumpada</a:t>
            </a:r>
          </a:p>
        </p:txBody>
      </p:sp>
      <p:sp>
        <p:nvSpPr>
          <p:cNvPr id="7" name="TextBox 6"/>
          <p:cNvSpPr txBox="1"/>
          <p:nvPr/>
        </p:nvSpPr>
        <p:spPr>
          <a:xfrm>
            <a:off x="320040" y="566928"/>
            <a:ext cx="9144000" cy="347472"/>
          </a:xfrm>
          <a:prstGeom prst="rect">
            <a:avLst/>
          </a:prstGeom>
          <a:noFill/>
        </p:spPr>
        <p:txBody>
          <a:bodyPr wrap="square">
            <a:spAutoFit/>
          </a:bodyPr>
          <a:lstStyle/>
          <a:p>
            <a:pPr algn="l"/>
            <a:r>
              <a:rPr sz="1200" b="0" i="0">
                <a:solidFill>
                  <a:srgbClr val="FFF0E0"/>
                </a:solidFill>
              </a:rPr>
              <a:t>5 estados desde el ingreso hasta el cierre del ciclo</a:t>
            </a:r>
          </a:p>
        </p:txBody>
      </p:sp>
      <p:sp>
        <p:nvSpPr>
          <p:cNvPr id="8" name="Rectangle 7"/>
          <p:cNvSpPr/>
          <p:nvPr/>
        </p:nvSpPr>
        <p:spPr>
          <a:xfrm>
            <a:off x="163830" y="1801368"/>
            <a:ext cx="2121408" cy="10515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163830" y="1801368"/>
            <a:ext cx="2121408" cy="830997"/>
          </a:xfrm>
          <a:prstGeom prst="rect">
            <a:avLst/>
          </a:prstGeom>
          <a:noFill/>
        </p:spPr>
        <p:txBody>
          <a:bodyPr wrap="square">
            <a:spAutoFit/>
          </a:bodyPr>
          <a:lstStyle/>
          <a:p>
            <a:pPr algn="ctr"/>
            <a:r>
              <a:rPr lang="es-CL" sz="2400" b="1" i="0" dirty="0">
                <a:solidFill>
                  <a:srgbClr val="4A5568"/>
                </a:solidFill>
              </a:rPr>
              <a:t>INGRESO DUMPADA</a:t>
            </a:r>
          </a:p>
        </p:txBody>
      </p:sp>
      <p:sp>
        <p:nvSpPr>
          <p:cNvPr id="10" name="Rectangle 9"/>
          <p:cNvSpPr/>
          <p:nvPr/>
        </p:nvSpPr>
        <p:spPr>
          <a:xfrm>
            <a:off x="163830"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1" name="TextBox 10"/>
          <p:cNvSpPr txBox="1"/>
          <p:nvPr/>
        </p:nvSpPr>
        <p:spPr>
          <a:xfrm>
            <a:off x="255270" y="3035808"/>
            <a:ext cx="1938528" cy="461665"/>
          </a:xfrm>
          <a:prstGeom prst="rect">
            <a:avLst/>
          </a:prstGeom>
          <a:noFill/>
        </p:spPr>
        <p:txBody>
          <a:bodyPr wrap="square">
            <a:spAutoFit/>
          </a:bodyPr>
          <a:lstStyle/>
          <a:p>
            <a:pPr algn="ctr"/>
            <a:r>
              <a:rPr sz="1200" b="0" i="0">
                <a:solidFill>
                  <a:srgbClr val="1A1A1A"/>
                </a:solidFill>
              </a:rPr>
              <a:t>Dumpada registrada
en el sistema</a:t>
            </a:r>
          </a:p>
        </p:txBody>
      </p:sp>
      <p:sp>
        <p:nvSpPr>
          <p:cNvPr id="12" name="Rectangle 11"/>
          <p:cNvSpPr/>
          <p:nvPr/>
        </p:nvSpPr>
        <p:spPr>
          <a:xfrm>
            <a:off x="163830"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163830" y="4044696"/>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14" name="Rectangle 13"/>
          <p:cNvSpPr/>
          <p:nvPr/>
        </p:nvSpPr>
        <p:spPr>
          <a:xfrm>
            <a:off x="163830"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163830" y="4727448"/>
            <a:ext cx="2121408" cy="276999"/>
          </a:xfrm>
          <a:prstGeom prst="rect">
            <a:avLst/>
          </a:prstGeom>
          <a:noFill/>
        </p:spPr>
        <p:txBody>
          <a:bodyPr wrap="square">
            <a:spAutoFit/>
          </a:bodyPr>
          <a:lstStyle/>
          <a:p>
            <a:pPr algn="ctr"/>
            <a:r>
              <a:rPr sz="1200" b="1" i="0">
                <a:solidFill>
                  <a:srgbClr val="155724"/>
                </a:solidFill>
              </a:rPr>
              <a:t>OK</a:t>
            </a:r>
          </a:p>
        </p:txBody>
      </p:sp>
      <p:sp>
        <p:nvSpPr>
          <p:cNvPr id="16" name="TextBox 15"/>
          <p:cNvSpPr txBox="1"/>
          <p:nvPr/>
        </p:nvSpPr>
        <p:spPr>
          <a:xfrm>
            <a:off x="2312670" y="2057400"/>
            <a:ext cx="329184" cy="461665"/>
          </a:xfrm>
          <a:prstGeom prst="rect">
            <a:avLst/>
          </a:prstGeom>
          <a:noFill/>
        </p:spPr>
        <p:txBody>
          <a:bodyPr wrap="square">
            <a:spAutoFit/>
          </a:bodyPr>
          <a:lstStyle/>
          <a:p>
            <a:pPr algn="ctr"/>
            <a:r>
              <a:rPr sz="2400" b="1" i="0">
                <a:solidFill>
                  <a:srgbClr val="E06010"/>
                </a:solidFill>
              </a:rPr>
              <a:t>&gt;</a:t>
            </a:r>
          </a:p>
        </p:txBody>
      </p:sp>
      <p:sp>
        <p:nvSpPr>
          <p:cNvPr id="17" name="Rectangle 16"/>
          <p:cNvSpPr/>
          <p:nvPr/>
        </p:nvSpPr>
        <p:spPr>
          <a:xfrm>
            <a:off x="2614422" y="1801368"/>
            <a:ext cx="2121408" cy="1051560"/>
          </a:xfrm>
          <a:prstGeom prst="rect">
            <a:avLst/>
          </a:prstGeom>
          <a:solidFill>
            <a:srgbClr val="D1EC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2614422" y="1801368"/>
            <a:ext cx="2121408" cy="830997"/>
          </a:xfrm>
          <a:prstGeom prst="rect">
            <a:avLst/>
          </a:prstGeom>
          <a:noFill/>
        </p:spPr>
        <p:txBody>
          <a:bodyPr wrap="square">
            <a:spAutoFit/>
          </a:bodyPr>
          <a:lstStyle/>
          <a:p>
            <a:pPr algn="ctr"/>
            <a:r>
              <a:rPr lang="es-CL" sz="2400" b="1" dirty="0">
                <a:solidFill>
                  <a:srgbClr val="0C5460"/>
                </a:solidFill>
              </a:rPr>
              <a:t>ENVIO DE MUESTRAS</a:t>
            </a:r>
            <a:endParaRPr sz="2400" b="1" i="0" dirty="0">
              <a:solidFill>
                <a:srgbClr val="0C5460"/>
              </a:solidFill>
            </a:endParaRPr>
          </a:p>
        </p:txBody>
      </p:sp>
      <p:sp>
        <p:nvSpPr>
          <p:cNvPr id="19" name="Rectangle 18"/>
          <p:cNvSpPr/>
          <p:nvPr/>
        </p:nvSpPr>
        <p:spPr>
          <a:xfrm>
            <a:off x="2614422"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0" name="TextBox 19"/>
          <p:cNvSpPr txBox="1"/>
          <p:nvPr/>
        </p:nvSpPr>
        <p:spPr>
          <a:xfrm>
            <a:off x="2705862" y="3035808"/>
            <a:ext cx="1938528" cy="461665"/>
          </a:xfrm>
          <a:prstGeom prst="rect">
            <a:avLst/>
          </a:prstGeom>
          <a:noFill/>
        </p:spPr>
        <p:txBody>
          <a:bodyPr wrap="square">
            <a:spAutoFit/>
          </a:bodyPr>
          <a:lstStyle/>
          <a:p>
            <a:pPr algn="ctr"/>
            <a:r>
              <a:rPr sz="1200" b="0" i="0">
                <a:solidFill>
                  <a:srgbClr val="1A1A1A"/>
                </a:solidFill>
              </a:rPr>
              <a:t>Muestra fisica
enviada al lab</a:t>
            </a:r>
          </a:p>
        </p:txBody>
      </p:sp>
      <p:sp>
        <p:nvSpPr>
          <p:cNvPr id="21" name="Rectangle 20"/>
          <p:cNvSpPr/>
          <p:nvPr/>
        </p:nvSpPr>
        <p:spPr>
          <a:xfrm>
            <a:off x="2614422"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2614422"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23" name="Rectangle 22"/>
          <p:cNvSpPr/>
          <p:nvPr/>
        </p:nvSpPr>
        <p:spPr>
          <a:xfrm>
            <a:off x="2614422"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4" name="TextBox 23"/>
          <p:cNvSpPr txBox="1"/>
          <p:nvPr/>
        </p:nvSpPr>
        <p:spPr>
          <a:xfrm>
            <a:off x="2614422" y="4727448"/>
            <a:ext cx="2121408" cy="276999"/>
          </a:xfrm>
          <a:prstGeom prst="rect">
            <a:avLst/>
          </a:prstGeom>
          <a:noFill/>
        </p:spPr>
        <p:txBody>
          <a:bodyPr wrap="square">
            <a:spAutoFit/>
          </a:bodyPr>
          <a:lstStyle/>
          <a:p>
            <a:pPr algn="ctr"/>
            <a:r>
              <a:rPr sz="1200" b="1" i="0">
                <a:solidFill>
                  <a:srgbClr val="155724"/>
                </a:solidFill>
              </a:rPr>
              <a:t>OK</a:t>
            </a:r>
          </a:p>
        </p:txBody>
      </p:sp>
      <p:sp>
        <p:nvSpPr>
          <p:cNvPr id="25" name="TextBox 24"/>
          <p:cNvSpPr txBox="1"/>
          <p:nvPr/>
        </p:nvSpPr>
        <p:spPr>
          <a:xfrm>
            <a:off x="4763262" y="2057400"/>
            <a:ext cx="329184" cy="461665"/>
          </a:xfrm>
          <a:prstGeom prst="rect">
            <a:avLst/>
          </a:prstGeom>
          <a:noFill/>
        </p:spPr>
        <p:txBody>
          <a:bodyPr wrap="square">
            <a:spAutoFit/>
          </a:bodyPr>
          <a:lstStyle/>
          <a:p>
            <a:pPr algn="ctr"/>
            <a:r>
              <a:rPr sz="2400" b="1" i="0">
                <a:solidFill>
                  <a:srgbClr val="E06010"/>
                </a:solidFill>
              </a:rPr>
              <a:t>&gt;</a:t>
            </a:r>
          </a:p>
        </p:txBody>
      </p:sp>
      <p:sp>
        <p:nvSpPr>
          <p:cNvPr id="26" name="Rectangle 25"/>
          <p:cNvSpPr/>
          <p:nvPr/>
        </p:nvSpPr>
        <p:spPr>
          <a:xfrm>
            <a:off x="5065014" y="1801368"/>
            <a:ext cx="2121408" cy="105156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TextBox 26"/>
          <p:cNvSpPr txBox="1"/>
          <p:nvPr/>
        </p:nvSpPr>
        <p:spPr>
          <a:xfrm>
            <a:off x="5065014" y="1801368"/>
            <a:ext cx="2121408" cy="830997"/>
          </a:xfrm>
          <a:prstGeom prst="rect">
            <a:avLst/>
          </a:prstGeom>
          <a:noFill/>
        </p:spPr>
        <p:txBody>
          <a:bodyPr wrap="square">
            <a:spAutoFit/>
          </a:bodyPr>
          <a:lstStyle/>
          <a:p>
            <a:pPr algn="ctr"/>
            <a:r>
              <a:rPr lang="es-CL" sz="2400" b="1" dirty="0">
                <a:solidFill>
                  <a:srgbClr val="856404"/>
                </a:solidFill>
              </a:rPr>
              <a:t>ANALISIS LABORATORIO</a:t>
            </a:r>
            <a:endParaRPr sz="2400" b="1" i="0" dirty="0">
              <a:solidFill>
                <a:srgbClr val="856404"/>
              </a:solidFill>
            </a:endParaRPr>
          </a:p>
        </p:txBody>
      </p:sp>
      <p:sp>
        <p:nvSpPr>
          <p:cNvPr id="28" name="Rectangle 27"/>
          <p:cNvSpPr/>
          <p:nvPr/>
        </p:nvSpPr>
        <p:spPr>
          <a:xfrm>
            <a:off x="5065014"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9" name="TextBox 28"/>
          <p:cNvSpPr txBox="1"/>
          <p:nvPr/>
        </p:nvSpPr>
        <p:spPr>
          <a:xfrm>
            <a:off x="5156454" y="3035808"/>
            <a:ext cx="1938528" cy="461665"/>
          </a:xfrm>
          <a:prstGeom prst="rect">
            <a:avLst/>
          </a:prstGeom>
          <a:noFill/>
        </p:spPr>
        <p:txBody>
          <a:bodyPr wrap="square">
            <a:spAutoFit/>
          </a:bodyPr>
          <a:lstStyle/>
          <a:p>
            <a:pPr algn="ctr"/>
            <a:r>
              <a:rPr sz="1200" b="0" i="0">
                <a:solidFill>
                  <a:srgbClr val="1A1A1A"/>
                </a:solidFill>
              </a:rPr>
              <a:t>Ley Cu ingresada
por laboratorio</a:t>
            </a:r>
          </a:p>
        </p:txBody>
      </p:sp>
      <p:sp>
        <p:nvSpPr>
          <p:cNvPr id="30" name="Rectangle 29"/>
          <p:cNvSpPr/>
          <p:nvPr/>
        </p:nvSpPr>
        <p:spPr>
          <a:xfrm>
            <a:off x="5065014"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5065014" y="4041648"/>
            <a:ext cx="2121408" cy="338554"/>
          </a:xfrm>
          <a:prstGeom prst="rect">
            <a:avLst/>
          </a:prstGeom>
          <a:noFill/>
        </p:spPr>
        <p:txBody>
          <a:bodyPr wrap="square">
            <a:spAutoFit/>
          </a:bodyPr>
          <a:lstStyle/>
          <a:p>
            <a:pPr algn="ctr"/>
            <a:r>
              <a:rPr sz="1600" b="1" i="0">
                <a:solidFill>
                  <a:srgbClr val="E06010"/>
                </a:solidFill>
              </a:rPr>
              <a:t>Laboratorio</a:t>
            </a:r>
          </a:p>
        </p:txBody>
      </p:sp>
      <p:sp>
        <p:nvSpPr>
          <p:cNvPr id="32" name="Rectangle 31"/>
          <p:cNvSpPr/>
          <p:nvPr/>
        </p:nvSpPr>
        <p:spPr>
          <a:xfrm>
            <a:off x="5065014" y="4727448"/>
            <a:ext cx="2121408" cy="22860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3" name="TextBox 32"/>
          <p:cNvSpPr txBox="1"/>
          <p:nvPr/>
        </p:nvSpPr>
        <p:spPr>
          <a:xfrm>
            <a:off x="5065014" y="4727448"/>
            <a:ext cx="2121408" cy="276999"/>
          </a:xfrm>
          <a:prstGeom prst="rect">
            <a:avLst/>
          </a:prstGeom>
          <a:noFill/>
        </p:spPr>
        <p:txBody>
          <a:bodyPr wrap="square">
            <a:spAutoFit/>
          </a:bodyPr>
          <a:lstStyle/>
          <a:p>
            <a:pPr algn="ctr"/>
            <a:r>
              <a:rPr sz="1200" b="1" i="0">
                <a:solidFill>
                  <a:srgbClr val="155724"/>
                </a:solidFill>
              </a:rPr>
              <a:t>OK</a:t>
            </a:r>
          </a:p>
        </p:txBody>
      </p:sp>
      <p:sp>
        <p:nvSpPr>
          <p:cNvPr id="34" name="TextBox 33"/>
          <p:cNvSpPr txBox="1"/>
          <p:nvPr/>
        </p:nvSpPr>
        <p:spPr>
          <a:xfrm>
            <a:off x="7213854" y="2057400"/>
            <a:ext cx="329184" cy="461665"/>
          </a:xfrm>
          <a:prstGeom prst="rect">
            <a:avLst/>
          </a:prstGeom>
          <a:noFill/>
        </p:spPr>
        <p:txBody>
          <a:bodyPr wrap="square">
            <a:spAutoFit/>
          </a:bodyPr>
          <a:lstStyle/>
          <a:p>
            <a:pPr algn="ctr"/>
            <a:r>
              <a:rPr sz="2400" b="1" i="0">
                <a:solidFill>
                  <a:srgbClr val="E06010"/>
                </a:solidFill>
              </a:rPr>
              <a:t>&gt;</a:t>
            </a:r>
          </a:p>
        </p:txBody>
      </p:sp>
      <p:sp>
        <p:nvSpPr>
          <p:cNvPr id="35" name="Rectangle 34"/>
          <p:cNvSpPr/>
          <p:nvPr/>
        </p:nvSpPr>
        <p:spPr>
          <a:xfrm>
            <a:off x="7515606" y="1801368"/>
            <a:ext cx="2121408" cy="1051560"/>
          </a:xfrm>
          <a:prstGeom prst="rect">
            <a:avLst/>
          </a:prstGeom>
          <a:solidFill>
            <a:srgbClr val="FFE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7515606" y="1801368"/>
            <a:ext cx="2121408" cy="830997"/>
          </a:xfrm>
          <a:prstGeom prst="rect">
            <a:avLst/>
          </a:prstGeom>
          <a:noFill/>
        </p:spPr>
        <p:txBody>
          <a:bodyPr wrap="square">
            <a:spAutoFit/>
          </a:bodyPr>
          <a:lstStyle/>
          <a:p>
            <a:pPr algn="ctr"/>
            <a:r>
              <a:rPr lang="es-CL" sz="2400" b="1" dirty="0">
                <a:solidFill>
                  <a:srgbClr val="7A3000"/>
                </a:solidFill>
              </a:rPr>
              <a:t>CREACION DE MEZCLAS</a:t>
            </a:r>
            <a:endParaRPr sz="2400" b="1" i="0" dirty="0">
              <a:solidFill>
                <a:srgbClr val="7A3000"/>
              </a:solidFill>
            </a:endParaRPr>
          </a:p>
        </p:txBody>
      </p:sp>
      <p:sp>
        <p:nvSpPr>
          <p:cNvPr id="37" name="Rectangle 36"/>
          <p:cNvSpPr/>
          <p:nvPr/>
        </p:nvSpPr>
        <p:spPr>
          <a:xfrm>
            <a:off x="7515606"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8" name="TextBox 37"/>
          <p:cNvSpPr txBox="1"/>
          <p:nvPr/>
        </p:nvSpPr>
        <p:spPr>
          <a:xfrm>
            <a:off x="7607046" y="3035808"/>
            <a:ext cx="1938528" cy="461665"/>
          </a:xfrm>
          <a:prstGeom prst="rect">
            <a:avLst/>
          </a:prstGeom>
          <a:noFill/>
        </p:spPr>
        <p:txBody>
          <a:bodyPr wrap="square">
            <a:spAutoFit/>
          </a:bodyPr>
          <a:lstStyle/>
          <a:p>
            <a:pPr algn="ctr"/>
            <a:r>
              <a:rPr sz="1200" b="0" i="0">
                <a:solidFill>
                  <a:srgbClr val="1A1A1A"/>
                </a:solidFill>
              </a:rPr>
              <a:t>Agrupada para
despacho</a:t>
            </a:r>
          </a:p>
        </p:txBody>
      </p:sp>
      <p:sp>
        <p:nvSpPr>
          <p:cNvPr id="39" name="Rectangle 38"/>
          <p:cNvSpPr/>
          <p:nvPr/>
        </p:nvSpPr>
        <p:spPr>
          <a:xfrm>
            <a:off x="7515606"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0" name="TextBox 39"/>
          <p:cNvSpPr txBox="1"/>
          <p:nvPr/>
        </p:nvSpPr>
        <p:spPr>
          <a:xfrm>
            <a:off x="7515606"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41" name="Rectangle 40"/>
          <p:cNvSpPr/>
          <p:nvPr/>
        </p:nvSpPr>
        <p:spPr>
          <a:xfrm>
            <a:off x="7515606" y="4727448"/>
            <a:ext cx="2121408" cy="2286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2" name="TextBox 41"/>
          <p:cNvSpPr txBox="1"/>
          <p:nvPr/>
        </p:nvSpPr>
        <p:spPr>
          <a:xfrm>
            <a:off x="7515606" y="4727448"/>
            <a:ext cx="2121408" cy="276999"/>
          </a:xfrm>
          <a:prstGeom prst="rect">
            <a:avLst/>
          </a:prstGeom>
          <a:noFill/>
        </p:spPr>
        <p:txBody>
          <a:bodyPr wrap="square">
            <a:spAutoFit/>
          </a:bodyPr>
          <a:lstStyle/>
          <a:p>
            <a:pPr algn="ctr"/>
            <a:r>
              <a:rPr sz="1200" b="1" i="0">
                <a:solidFill>
                  <a:srgbClr val="E06010"/>
                </a:solidFill>
              </a:rPr>
              <a:t>PROXIMO</a:t>
            </a:r>
          </a:p>
        </p:txBody>
      </p:sp>
      <p:sp>
        <p:nvSpPr>
          <p:cNvPr id="43" name="TextBox 42"/>
          <p:cNvSpPr txBox="1"/>
          <p:nvPr/>
        </p:nvSpPr>
        <p:spPr>
          <a:xfrm>
            <a:off x="9664446" y="2057400"/>
            <a:ext cx="329184" cy="461665"/>
          </a:xfrm>
          <a:prstGeom prst="rect">
            <a:avLst/>
          </a:prstGeom>
          <a:noFill/>
        </p:spPr>
        <p:txBody>
          <a:bodyPr wrap="square">
            <a:spAutoFit/>
          </a:bodyPr>
          <a:lstStyle/>
          <a:p>
            <a:pPr algn="ctr"/>
            <a:r>
              <a:rPr sz="2400" b="1" i="0">
                <a:solidFill>
                  <a:srgbClr val="E06010"/>
                </a:solidFill>
              </a:rPr>
              <a:t>&gt;</a:t>
            </a:r>
          </a:p>
        </p:txBody>
      </p:sp>
      <p:sp>
        <p:nvSpPr>
          <p:cNvPr id="44" name="Rectangle 43"/>
          <p:cNvSpPr/>
          <p:nvPr/>
        </p:nvSpPr>
        <p:spPr>
          <a:xfrm>
            <a:off x="9966198" y="1801368"/>
            <a:ext cx="2121408" cy="1051560"/>
          </a:xfrm>
          <a:prstGeom prst="rect">
            <a:avLst/>
          </a:prstGeom>
          <a:solidFill>
            <a:srgbClr val="D4ED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5" name="TextBox 44"/>
          <p:cNvSpPr txBox="1"/>
          <p:nvPr/>
        </p:nvSpPr>
        <p:spPr>
          <a:xfrm>
            <a:off x="9966198" y="1801368"/>
            <a:ext cx="2121408" cy="830997"/>
          </a:xfrm>
          <a:prstGeom prst="rect">
            <a:avLst/>
          </a:prstGeom>
          <a:noFill/>
        </p:spPr>
        <p:txBody>
          <a:bodyPr wrap="square">
            <a:spAutoFit/>
          </a:bodyPr>
          <a:lstStyle/>
          <a:p>
            <a:pPr algn="ctr"/>
            <a:r>
              <a:rPr lang="es-CL" sz="2400" b="1" i="0" dirty="0">
                <a:solidFill>
                  <a:srgbClr val="155724"/>
                </a:solidFill>
              </a:rPr>
              <a:t>DESPACHO</a:t>
            </a:r>
          </a:p>
          <a:p>
            <a:pPr algn="ctr"/>
            <a:endParaRPr sz="2400" b="1" i="0" dirty="0">
              <a:solidFill>
                <a:srgbClr val="155724"/>
              </a:solidFill>
            </a:endParaRPr>
          </a:p>
        </p:txBody>
      </p:sp>
      <p:sp>
        <p:nvSpPr>
          <p:cNvPr id="46" name="Rectangle 45"/>
          <p:cNvSpPr/>
          <p:nvPr/>
        </p:nvSpPr>
        <p:spPr>
          <a:xfrm>
            <a:off x="9966198" y="2990088"/>
            <a:ext cx="2121408" cy="914400"/>
          </a:xfrm>
          <a:prstGeom prst="rect">
            <a:avLst/>
          </a:prstGeom>
          <a:solidFill>
            <a:srgbClr val="FFFFFF"/>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7" name="TextBox 46"/>
          <p:cNvSpPr txBox="1"/>
          <p:nvPr/>
        </p:nvSpPr>
        <p:spPr>
          <a:xfrm>
            <a:off x="10057638" y="3035808"/>
            <a:ext cx="1938528" cy="461665"/>
          </a:xfrm>
          <a:prstGeom prst="rect">
            <a:avLst/>
          </a:prstGeom>
          <a:noFill/>
        </p:spPr>
        <p:txBody>
          <a:bodyPr wrap="square">
            <a:spAutoFit/>
          </a:bodyPr>
          <a:lstStyle/>
          <a:p>
            <a:pPr algn="ctr"/>
            <a:r>
              <a:rPr sz="1200" b="0" i="0">
                <a:solidFill>
                  <a:srgbClr val="1A1A1A"/>
                </a:solidFill>
              </a:rPr>
              <a:t>Lote cerrado,
peso real confirmado</a:t>
            </a:r>
          </a:p>
        </p:txBody>
      </p:sp>
      <p:sp>
        <p:nvSpPr>
          <p:cNvPr id="48" name="Rectangle 47"/>
          <p:cNvSpPr/>
          <p:nvPr/>
        </p:nvSpPr>
        <p:spPr>
          <a:xfrm>
            <a:off x="9966198" y="4041648"/>
            <a:ext cx="2121408" cy="548640"/>
          </a:xfrm>
          <a:prstGeom prst="rect">
            <a:avLst/>
          </a:prstGeom>
          <a:solidFill>
            <a:srgbClr val="FFF4EC"/>
          </a:solidFill>
          <a:ln w="12700">
            <a:solidFill>
              <a:srgbClr val="FDE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9" name="TextBox 48"/>
          <p:cNvSpPr txBox="1"/>
          <p:nvPr/>
        </p:nvSpPr>
        <p:spPr>
          <a:xfrm>
            <a:off x="9966198" y="4041648"/>
            <a:ext cx="2121408" cy="584775"/>
          </a:xfrm>
          <a:prstGeom prst="rect">
            <a:avLst/>
          </a:prstGeom>
          <a:noFill/>
        </p:spPr>
        <p:txBody>
          <a:bodyPr wrap="square">
            <a:spAutoFit/>
          </a:bodyPr>
          <a:lstStyle/>
          <a:p>
            <a:pPr algn="ctr"/>
            <a:r>
              <a:rPr lang="es-CL" sz="1600" b="1" i="0" dirty="0">
                <a:solidFill>
                  <a:srgbClr val="E06010"/>
                </a:solidFill>
              </a:rPr>
              <a:t>Encargado
</a:t>
            </a:r>
            <a:r>
              <a:rPr lang="es-CL" sz="1600" b="1" i="0" dirty="0" err="1">
                <a:solidFill>
                  <a:srgbClr val="E06010"/>
                </a:solidFill>
              </a:rPr>
              <a:t>Dispatch</a:t>
            </a:r>
            <a:endParaRPr lang="es-CL" sz="1600" b="1" i="0" dirty="0">
              <a:solidFill>
                <a:srgbClr val="E06010"/>
              </a:solidFill>
            </a:endParaRPr>
          </a:p>
        </p:txBody>
      </p:sp>
      <p:sp>
        <p:nvSpPr>
          <p:cNvPr id="50" name="Rectangle 49"/>
          <p:cNvSpPr/>
          <p:nvPr/>
        </p:nvSpPr>
        <p:spPr>
          <a:xfrm>
            <a:off x="9966198" y="4727448"/>
            <a:ext cx="2121408"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1" name="TextBox 50"/>
          <p:cNvSpPr txBox="1"/>
          <p:nvPr/>
        </p:nvSpPr>
        <p:spPr>
          <a:xfrm>
            <a:off x="9966198" y="4727448"/>
            <a:ext cx="2121408" cy="276999"/>
          </a:xfrm>
          <a:prstGeom prst="rect">
            <a:avLst/>
          </a:prstGeom>
          <a:noFill/>
        </p:spPr>
        <p:txBody>
          <a:bodyPr wrap="square">
            <a:spAutoFit/>
          </a:bodyPr>
          <a:lstStyle/>
          <a:p>
            <a:pPr algn="ctr"/>
            <a:r>
              <a:rPr sz="1200" b="1" i="0">
                <a:solidFill>
                  <a:srgbClr val="666666"/>
                </a:solidFill>
              </a:rPr>
              <a:t>PEND</a:t>
            </a:r>
          </a:p>
        </p:txBody>
      </p:sp>
      <p:pic>
        <p:nvPicPr>
          <p:cNvPr id="58" name="Imagen 57">
            <a:extLst>
              <a:ext uri="{FF2B5EF4-FFF2-40B4-BE49-F238E27FC236}">
                <a16:creationId xmlns:a16="http://schemas.microsoft.com/office/drawing/2014/main" id="{CBC2393F-F2BC-4BD9-851E-C78464978547}"/>
              </a:ext>
            </a:extLst>
          </p:cNvPr>
          <p:cNvPicPr>
            <a:picLocks noChangeAspect="1"/>
          </p:cNvPicPr>
          <p:nvPr/>
        </p:nvPicPr>
        <p:blipFill>
          <a:blip r:embed="rId2"/>
          <a:stretch>
            <a:fillRect/>
          </a:stretch>
        </p:blipFill>
        <p:spPr>
          <a:xfrm>
            <a:off x="11263313" y="30088"/>
            <a:ext cx="790574" cy="9075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TotalTime>
  <Words>2145</Words>
  <Application>Microsoft Office PowerPoint</Application>
  <PresentationFormat>Personalizado</PresentationFormat>
  <Paragraphs>282</Paragraphs>
  <Slides>19</Slides>
  <Notes>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19</vt:i4>
      </vt:variant>
    </vt:vector>
  </HeadingPairs>
  <TitlesOfParts>
    <vt:vector size="22"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
  <cp:keywords/>
  <dc:description>generated using python-pptx</dc:description>
  <cp:lastModifiedBy>Sebastian Aníbal Zapata Fuenzalida</cp:lastModifiedBy>
  <cp:revision>10</cp:revision>
  <dcterms:created xsi:type="dcterms:W3CDTF">2013-01-27T09:14:16Z</dcterms:created>
  <dcterms:modified xsi:type="dcterms:W3CDTF">2026-06-09T12:51:18Z</dcterms:modified>
  <cp:category/>
</cp:coreProperties>
</file>