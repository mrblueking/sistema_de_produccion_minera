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88952" cy="3611880"/>
          </a:xfrm>
          <a:prstGeom prst="rect">
            <a:avLst/>
          </a:prstGeom>
          <a:solidFill>
            <a:srgbClr val="B04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3154680"/>
            <a:ext cx="941832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0"/>
            <a:ext cx="12188952" cy="457200"/>
          </a:xfrm>
          <a:prstGeom prst="rect">
            <a:avLst/>
          </a:prstGeom>
          <a:noFill/>
        </p:spPr>
        <p:txBody>
          <a:bodyPr wrap="square">
            <a:spAutoFit/>
          </a:bodyPr>
          <a:lstStyle/>
          <a:p>
            <a:pPr algn="ctr"/>
            <a:r>
              <a:rPr sz="1300" b="1" i="0">
                <a:solidFill>
                  <a:srgbClr val="FFF0D0"/>
                </a:solidFill>
              </a:rPr>
              <a:t>MINERIA 3H  —  SISTEMA DISPATCH</a:t>
            </a:r>
          </a:p>
        </p:txBody>
      </p:sp>
      <p:sp>
        <p:nvSpPr>
          <p:cNvPr id="6" name="TextBox 5"/>
          <p:cNvSpPr txBox="1"/>
          <p:nvPr/>
        </p:nvSpPr>
        <p:spPr>
          <a:xfrm>
            <a:off x="0" y="1783080"/>
            <a:ext cx="12188952" cy="685800"/>
          </a:xfrm>
          <a:prstGeom prst="rect">
            <a:avLst/>
          </a:prstGeom>
          <a:noFill/>
        </p:spPr>
        <p:txBody>
          <a:bodyPr wrap="square">
            <a:spAutoFit/>
          </a:bodyPr>
          <a:lstStyle/>
          <a:p>
            <a:pPr algn="ctr"/>
            <a:r>
              <a:rPr sz="4000" b="1" i="0">
                <a:solidFill>
                  <a:srgbClr val="FFFFFF"/>
                </a:solidFill>
              </a:rPr>
              <a:t>Avance de Ingreso de Datos</a:t>
            </a:r>
          </a:p>
        </p:txBody>
      </p:sp>
      <p:sp>
        <p:nvSpPr>
          <p:cNvPr id="7" name="TextBox 6"/>
          <p:cNvSpPr txBox="1"/>
          <p:nvPr/>
        </p:nvSpPr>
        <p:spPr>
          <a:xfrm>
            <a:off x="0" y="2542032"/>
            <a:ext cx="12188952" cy="502920"/>
          </a:xfrm>
          <a:prstGeom prst="rect">
            <a:avLst/>
          </a:prstGeom>
          <a:noFill/>
        </p:spPr>
        <p:txBody>
          <a:bodyPr wrap="square">
            <a:spAutoFit/>
          </a:bodyPr>
          <a:lstStyle/>
          <a:p>
            <a:pPr algn="ctr"/>
            <a:r>
              <a:rPr sz="2600" b="0" i="0">
                <a:solidFill>
                  <a:srgbClr val="FFF0D0"/>
                </a:solidFill>
              </a:rPr>
              <a:t>Mes de Mayo 2026</a:t>
            </a:r>
          </a:p>
        </p:txBody>
      </p:sp>
      <p:sp>
        <p:nvSpPr>
          <p:cNvPr id="8" name="TextBox 7"/>
          <p:cNvSpPr txBox="1"/>
          <p:nvPr/>
        </p:nvSpPr>
        <p:spPr>
          <a:xfrm>
            <a:off x="0" y="3794760"/>
            <a:ext cx="12188952" cy="365760"/>
          </a:xfrm>
          <a:prstGeom prst="rect">
            <a:avLst/>
          </a:prstGeom>
          <a:noFill/>
        </p:spPr>
        <p:txBody>
          <a:bodyPr wrap="square">
            <a:spAutoFit/>
          </a:bodyPr>
          <a:lstStyle/>
          <a:p>
            <a:pPr algn="ctr"/>
            <a:r>
              <a:rPr sz="1200" b="0" i="0">
                <a:solidFill>
                  <a:srgbClr val="FFF0D0"/>
                </a:solidFill>
              </a:rPr>
              <a:t>Modulo: Dispatch  |  Etapa: Capacitacion + Ingreso historico  |  Junio 2026</a:t>
            </a:r>
          </a:p>
        </p:txBody>
      </p:sp>
      <p:sp>
        <p:nvSpPr>
          <p:cNvPr id="9" name="TextBox 8"/>
          <p:cNvSpPr txBox="1"/>
          <p:nvPr/>
        </p:nvSpPr>
        <p:spPr>
          <a:xfrm>
            <a:off x="0" y="4187952"/>
            <a:ext cx="12188952" cy="365760"/>
          </a:xfrm>
          <a:prstGeom prst="rect">
            <a:avLst/>
          </a:prstGeom>
          <a:noFill/>
        </p:spPr>
        <p:txBody>
          <a:bodyPr wrap="square">
            <a:spAutoFit/>
          </a:bodyPr>
          <a:lstStyle/>
          <a:p>
            <a:pPr algn="ctr"/>
            <a:r>
              <a:rPr sz="1200" b="0" i="0">
                <a:solidFill>
                  <a:srgbClr val="FFF0D0"/>
                </a:solidFill>
              </a:rPr>
              <a:t>Estado: En progreso — a punto de iniciar etapa de Mezclas</a:t>
            </a:r>
          </a:p>
        </p:txBody>
      </p:sp>
      <p:sp>
        <p:nvSpPr>
          <p:cNvPr id="10" name="Rectangle 9"/>
          <p:cNvSpPr/>
          <p:nvPr/>
        </p:nvSpPr>
        <p:spPr>
          <a:xfrm>
            <a:off x="4389120" y="4800600"/>
            <a:ext cx="3383280" cy="40233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4800600"/>
            <a:ext cx="3383280" cy="402336"/>
          </a:xfrm>
          <a:prstGeom prst="rect">
            <a:avLst/>
          </a:prstGeom>
          <a:noFill/>
        </p:spPr>
        <p:txBody>
          <a:bodyPr wrap="square">
            <a:spAutoFit/>
          </a:bodyPr>
          <a:lstStyle/>
          <a:p>
            <a:pPr algn="ctr"/>
            <a:r>
              <a:rPr sz="1100" b="1" i="0">
                <a:solidFill>
                  <a:srgbClr val="8B3A00"/>
                </a:solidFill>
              </a:rPr>
              <a:t>USO INTERNO  —  PRESENTACION JEFATURA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Contexto y Objetivo</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Por que se realizo este proceso y que se espera lograr</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143000"/>
            <a:ext cx="11548872" cy="141732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43000"/>
            <a:ext cx="91440" cy="141732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88720"/>
            <a:ext cx="2743200" cy="274320"/>
          </a:xfrm>
          <a:prstGeom prst="rect">
            <a:avLst/>
          </a:prstGeom>
          <a:noFill/>
        </p:spPr>
        <p:txBody>
          <a:bodyPr wrap="square">
            <a:spAutoFit/>
          </a:bodyPr>
          <a:lstStyle/>
          <a:p>
            <a:pPr algn="l"/>
            <a:r>
              <a:rPr sz="1200" b="1" i="0">
                <a:solidFill>
                  <a:srgbClr val="E06010"/>
                </a:solidFill>
              </a:rPr>
              <a:t>Situacion</a:t>
            </a:r>
          </a:p>
        </p:txBody>
      </p:sp>
      <p:sp>
        <p:nvSpPr>
          <p:cNvPr id="11" name="TextBox 10"/>
          <p:cNvSpPr txBox="1"/>
          <p:nvPr/>
        </p:nvSpPr>
        <p:spPr>
          <a:xfrm>
            <a:off x="530352" y="1481328"/>
            <a:ext cx="11201400" cy="987552"/>
          </a:xfrm>
          <a:prstGeom prst="rect">
            <a:avLst/>
          </a:prstGeom>
          <a:noFill/>
        </p:spPr>
        <p:txBody>
          <a:bodyPr wrap="square">
            <a:spAutoFit/>
          </a:bodyPr>
          <a:lstStyle/>
          <a:p>
            <a:pPr algn="l"/>
            <a:r>
              <a:rPr sz="1200" b="0" i="0">
                <a:solidFill>
                  <a:srgbClr val="1A1A1A"/>
                </a:solidFill>
              </a:rPr>
              <a:t>Se incorporo una nueva colaboradora al equipo de Dispatch con el objetivo de aprender el sistema y ejecutar el ingreso de datos historicos del mes de mayo. Para ello, se le otorgo acceso a todos los roles del modulo, permitiendole recorrer el flujo completo de extremo a extremo: desde el ingreso de dumpadas hasta el cierre de lotes.</a:t>
            </a:r>
          </a:p>
        </p:txBody>
      </p:sp>
      <p:sp>
        <p:nvSpPr>
          <p:cNvPr id="12" name="Rectangle 11"/>
          <p:cNvSpPr/>
          <p:nvPr/>
        </p:nvSpPr>
        <p:spPr>
          <a:xfrm>
            <a:off x="320040" y="2697480"/>
            <a:ext cx="11548872" cy="914400"/>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697480"/>
            <a:ext cx="91440" cy="9144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2743200"/>
            <a:ext cx="3657600" cy="274320"/>
          </a:xfrm>
          <a:prstGeom prst="rect">
            <a:avLst/>
          </a:prstGeom>
          <a:noFill/>
        </p:spPr>
        <p:txBody>
          <a:bodyPr wrap="square">
            <a:spAutoFit/>
          </a:bodyPr>
          <a:lstStyle/>
          <a:p>
            <a:pPr algn="l"/>
            <a:r>
              <a:rPr sz="1200" b="1" i="0">
                <a:solidFill>
                  <a:srgbClr val="155724"/>
                </a:solidFill>
              </a:rPr>
              <a:t>Objetivo concreto</a:t>
            </a:r>
          </a:p>
        </p:txBody>
      </p:sp>
      <p:sp>
        <p:nvSpPr>
          <p:cNvPr id="15" name="TextBox 14"/>
          <p:cNvSpPr txBox="1"/>
          <p:nvPr/>
        </p:nvSpPr>
        <p:spPr>
          <a:xfrm>
            <a:off x="530352" y="3035808"/>
            <a:ext cx="11201400" cy="502920"/>
          </a:xfrm>
          <a:prstGeom prst="rect">
            <a:avLst/>
          </a:prstGeom>
          <a:noFill/>
        </p:spPr>
        <p:txBody>
          <a:bodyPr wrap="square">
            <a:spAutoFit/>
          </a:bodyPr>
          <a:lstStyle/>
          <a:p>
            <a:pPr algn="l"/>
            <a:r>
              <a:rPr sz="1200" b="0" i="0">
                <a:solidFill>
                  <a:srgbClr val="1A1A1A"/>
                </a:solidFill>
              </a:rPr>
              <a:t>Ingresar al sistema todos los datos de produccion y despacho del mes de mayo 2026, siguiendo el flujo operacional completo del modulo Dispatch.</a:t>
            </a:r>
          </a:p>
        </p:txBody>
      </p:sp>
      <p:sp>
        <p:nvSpPr>
          <p:cNvPr id="16" name="Rectangle 15"/>
          <p:cNvSpPr/>
          <p:nvPr/>
        </p:nvSpPr>
        <p:spPr>
          <a:xfrm>
            <a:off x="320040" y="3749039"/>
            <a:ext cx="3794760" cy="82296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3749039"/>
            <a:ext cx="3794760" cy="27432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749039"/>
            <a:ext cx="3794760" cy="274320"/>
          </a:xfrm>
          <a:prstGeom prst="rect">
            <a:avLst/>
          </a:prstGeom>
          <a:noFill/>
        </p:spPr>
        <p:txBody>
          <a:bodyPr wrap="square">
            <a:spAutoFit/>
          </a:bodyPr>
          <a:lstStyle/>
          <a:p>
            <a:pPr algn="ctr"/>
            <a:r>
              <a:rPr sz="1100" b="1" i="0">
                <a:solidFill>
                  <a:srgbClr val="FFFFFF"/>
                </a:solidFill>
              </a:rPr>
              <a:t>Modulo</a:t>
            </a:r>
          </a:p>
        </p:txBody>
      </p:sp>
      <p:sp>
        <p:nvSpPr>
          <p:cNvPr id="19" name="TextBox 18"/>
          <p:cNvSpPr txBox="1"/>
          <p:nvPr/>
        </p:nvSpPr>
        <p:spPr>
          <a:xfrm>
            <a:off x="320040" y="4059936"/>
            <a:ext cx="3794760" cy="475488"/>
          </a:xfrm>
          <a:prstGeom prst="rect">
            <a:avLst/>
          </a:prstGeom>
          <a:noFill/>
        </p:spPr>
        <p:txBody>
          <a:bodyPr wrap="square">
            <a:spAutoFit/>
          </a:bodyPr>
          <a:lstStyle/>
          <a:p>
            <a:pPr algn="ctr"/>
            <a:r>
              <a:rPr sz="1100" b="0" i="0">
                <a:solidFill>
                  <a:srgbClr val="1A1A1A"/>
                </a:solidFill>
              </a:rPr>
              <a:t>Dispatch + Laboratorio</a:t>
            </a:r>
          </a:p>
        </p:txBody>
      </p:sp>
      <p:sp>
        <p:nvSpPr>
          <p:cNvPr id="20" name="Rectangle 19"/>
          <p:cNvSpPr/>
          <p:nvPr/>
        </p:nvSpPr>
        <p:spPr>
          <a:xfrm>
            <a:off x="4270248" y="3749039"/>
            <a:ext cx="3794760" cy="82296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749039"/>
            <a:ext cx="3794760" cy="27432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749039"/>
            <a:ext cx="3794760" cy="274320"/>
          </a:xfrm>
          <a:prstGeom prst="rect">
            <a:avLst/>
          </a:prstGeom>
          <a:noFill/>
        </p:spPr>
        <p:txBody>
          <a:bodyPr wrap="square">
            <a:spAutoFit/>
          </a:bodyPr>
          <a:lstStyle/>
          <a:p>
            <a:pPr algn="ctr"/>
            <a:r>
              <a:rPr sz="1100" b="1" i="0">
                <a:solidFill>
                  <a:srgbClr val="FFFFFF"/>
                </a:solidFill>
              </a:rPr>
              <a:t>Mes</a:t>
            </a:r>
          </a:p>
        </p:txBody>
      </p:sp>
      <p:sp>
        <p:nvSpPr>
          <p:cNvPr id="23" name="TextBox 22"/>
          <p:cNvSpPr txBox="1"/>
          <p:nvPr/>
        </p:nvSpPr>
        <p:spPr>
          <a:xfrm>
            <a:off x="4270248" y="4059936"/>
            <a:ext cx="3794760" cy="475488"/>
          </a:xfrm>
          <a:prstGeom prst="rect">
            <a:avLst/>
          </a:prstGeom>
          <a:noFill/>
        </p:spPr>
        <p:txBody>
          <a:bodyPr wrap="square">
            <a:spAutoFit/>
          </a:bodyPr>
          <a:lstStyle/>
          <a:p>
            <a:pPr algn="ctr"/>
            <a:r>
              <a:rPr sz="1100" b="0" i="0">
                <a:solidFill>
                  <a:srgbClr val="1A1A1A"/>
                </a:solidFill>
              </a:rPr>
              <a:t>Mayo 2026 (datos historicos)</a:t>
            </a:r>
          </a:p>
        </p:txBody>
      </p:sp>
      <p:sp>
        <p:nvSpPr>
          <p:cNvPr id="24" name="Rectangle 23"/>
          <p:cNvSpPr/>
          <p:nvPr/>
        </p:nvSpPr>
        <p:spPr>
          <a:xfrm>
            <a:off x="8220456" y="3749039"/>
            <a:ext cx="3794760" cy="82296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0456" y="3749039"/>
            <a:ext cx="3794760"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0456" y="3749039"/>
            <a:ext cx="3794760" cy="274320"/>
          </a:xfrm>
          <a:prstGeom prst="rect">
            <a:avLst/>
          </a:prstGeom>
          <a:noFill/>
        </p:spPr>
        <p:txBody>
          <a:bodyPr wrap="square">
            <a:spAutoFit/>
          </a:bodyPr>
          <a:lstStyle/>
          <a:p>
            <a:pPr algn="ctr"/>
            <a:r>
              <a:rPr sz="1100" b="1" i="0">
                <a:solidFill>
                  <a:srgbClr val="FFFFFF"/>
                </a:solidFill>
              </a:rPr>
              <a:t>Acceso</a:t>
            </a:r>
          </a:p>
        </p:txBody>
      </p:sp>
      <p:sp>
        <p:nvSpPr>
          <p:cNvPr id="27" name="TextBox 26"/>
          <p:cNvSpPr txBox="1"/>
          <p:nvPr/>
        </p:nvSpPr>
        <p:spPr>
          <a:xfrm>
            <a:off x="8220456" y="4059936"/>
            <a:ext cx="3794760" cy="475488"/>
          </a:xfrm>
          <a:prstGeom prst="rect">
            <a:avLst/>
          </a:prstGeom>
          <a:noFill/>
        </p:spPr>
        <p:txBody>
          <a:bodyPr wrap="square">
            <a:spAutoFit/>
          </a:bodyPr>
          <a:lstStyle/>
          <a:p>
            <a:pPr algn="ctr"/>
            <a:r>
              <a:rPr sz="1100" b="0" i="0">
                <a:solidFill>
                  <a:srgbClr val="1A1A1A"/>
                </a:solidFill>
              </a:rPr>
              <a:t>Todos los roles habilitados</a:t>
            </a:r>
          </a:p>
        </p:txBody>
      </p:sp>
      <p:sp>
        <p:nvSpPr>
          <p:cNvPr id="28" name="Rectangle 27"/>
          <p:cNvSpPr/>
          <p:nvPr/>
        </p:nvSpPr>
        <p:spPr>
          <a:xfrm>
            <a:off x="320040" y="4736592"/>
            <a:ext cx="11548872"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4846320"/>
            <a:ext cx="4114800" cy="256032"/>
          </a:xfrm>
          <a:prstGeom prst="rect">
            <a:avLst/>
          </a:prstGeom>
          <a:noFill/>
        </p:spPr>
        <p:txBody>
          <a:bodyPr wrap="square">
            <a:spAutoFit/>
          </a:bodyPr>
          <a:lstStyle/>
          <a:p>
            <a:pPr algn="l"/>
            <a:r>
              <a:rPr sz="1100" b="1" i="0">
                <a:solidFill>
                  <a:srgbClr val="8B3A00"/>
                </a:solidFill>
              </a:rPr>
              <a:t>Roles habilitados para la capacitacion:</a:t>
            </a:r>
          </a:p>
        </p:txBody>
      </p:sp>
      <p:sp>
        <p:nvSpPr>
          <p:cNvPr id="30" name="Rectangle 29"/>
          <p:cNvSpPr/>
          <p:nvPr/>
        </p:nvSpPr>
        <p:spPr>
          <a:xfrm>
            <a:off x="320040" y="5166360"/>
            <a:ext cx="164592" cy="164592"/>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 y="5120640"/>
            <a:ext cx="2468880" cy="274320"/>
          </a:xfrm>
          <a:prstGeom prst="rect">
            <a:avLst/>
          </a:prstGeom>
          <a:noFill/>
        </p:spPr>
        <p:txBody>
          <a:bodyPr wrap="square">
            <a:spAutoFit/>
          </a:bodyPr>
          <a:lstStyle/>
          <a:p>
            <a:pPr algn="l"/>
            <a:r>
              <a:rPr sz="1050" b="0" i="0">
                <a:solidFill>
                  <a:srgbClr val="1A1A1A"/>
                </a:solidFill>
              </a:rPr>
              <a:t>Digitador Dispatch</a:t>
            </a:r>
          </a:p>
        </p:txBody>
      </p:sp>
      <p:sp>
        <p:nvSpPr>
          <p:cNvPr id="32" name="Rectangle 31"/>
          <p:cNvSpPr/>
          <p:nvPr/>
        </p:nvSpPr>
        <p:spPr>
          <a:xfrm>
            <a:off x="3172968" y="5166360"/>
            <a:ext cx="164592" cy="164592"/>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92424" y="5120640"/>
            <a:ext cx="2468880" cy="274320"/>
          </a:xfrm>
          <a:prstGeom prst="rect">
            <a:avLst/>
          </a:prstGeom>
          <a:noFill/>
        </p:spPr>
        <p:txBody>
          <a:bodyPr wrap="square">
            <a:spAutoFit/>
          </a:bodyPr>
          <a:lstStyle/>
          <a:p>
            <a:pPr algn="l"/>
            <a:r>
              <a:rPr sz="1050" b="0" i="0">
                <a:solidFill>
                  <a:srgbClr val="1A1A1A"/>
                </a:solidFill>
              </a:rPr>
              <a:t>Muestreo Dispatch</a:t>
            </a:r>
          </a:p>
        </p:txBody>
      </p:sp>
      <p:sp>
        <p:nvSpPr>
          <p:cNvPr id="34" name="Rectangle 33"/>
          <p:cNvSpPr/>
          <p:nvPr/>
        </p:nvSpPr>
        <p:spPr>
          <a:xfrm>
            <a:off x="6025896" y="5166360"/>
            <a:ext cx="164592" cy="164592"/>
          </a:xfrm>
          <a:prstGeom prst="rect">
            <a:avLst/>
          </a:prstGeom>
          <a:solidFill>
            <a:srgbClr val="167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5120640"/>
            <a:ext cx="2468880" cy="274320"/>
          </a:xfrm>
          <a:prstGeom prst="rect">
            <a:avLst/>
          </a:prstGeom>
          <a:noFill/>
        </p:spPr>
        <p:txBody>
          <a:bodyPr wrap="square">
            <a:spAutoFit/>
          </a:bodyPr>
          <a:lstStyle/>
          <a:p>
            <a:pPr algn="l"/>
            <a:r>
              <a:rPr sz="1050" b="0" i="0">
                <a:solidFill>
                  <a:srgbClr val="1A1A1A"/>
                </a:solidFill>
              </a:rPr>
              <a:t>Laboratorio</a:t>
            </a:r>
          </a:p>
        </p:txBody>
      </p:sp>
      <p:sp>
        <p:nvSpPr>
          <p:cNvPr id="36" name="Rectangle 35"/>
          <p:cNvSpPr/>
          <p:nvPr/>
        </p:nvSpPr>
        <p:spPr>
          <a:xfrm>
            <a:off x="8878824" y="5166360"/>
            <a:ext cx="164592" cy="164592"/>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98280" y="5120640"/>
            <a:ext cx="2468880" cy="274320"/>
          </a:xfrm>
          <a:prstGeom prst="rect">
            <a:avLst/>
          </a:prstGeom>
          <a:noFill/>
        </p:spPr>
        <p:txBody>
          <a:bodyPr wrap="square">
            <a:spAutoFit/>
          </a:bodyPr>
          <a:lstStyle/>
          <a:p>
            <a:pPr algn="l"/>
            <a:r>
              <a:rPr sz="1050" b="0" i="0">
                <a:solidFill>
                  <a:srgbClr val="1A1A1A"/>
                </a:solidFill>
              </a:rPr>
              <a:t>Encargado Dispatch</a:t>
            </a:r>
          </a:p>
        </p:txBody>
      </p:sp>
      <p:sp>
        <p:nvSpPr>
          <p:cNvPr id="38" name="TextBox 37"/>
          <p:cNvSpPr txBox="1"/>
          <p:nvPr/>
        </p:nvSpPr>
        <p:spPr>
          <a:xfrm>
            <a:off x="320040" y="5532120"/>
            <a:ext cx="11521440" cy="274320"/>
          </a:xfrm>
          <a:prstGeom prst="rect">
            <a:avLst/>
          </a:prstGeom>
          <a:noFill/>
        </p:spPr>
        <p:txBody>
          <a:bodyPr wrap="square">
            <a:spAutoFit/>
          </a:bodyPr>
          <a:lstStyle/>
          <a:p>
            <a:pPr algn="l"/>
            <a:r>
              <a:rPr sz="1000" b="0" i="1">
                <a:solidFill>
                  <a:srgbClr val="888888"/>
                </a:solidFill>
              </a:rPr>
              <a:t>El acceso a todos los roles le permite entender el flujo completo sin necesidad de cambiar de usuario.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Estado Actual del Proceso</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Donde estamos en el flujo de ingreso de datos de mayo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TextBox 7"/>
          <p:cNvSpPr txBox="1"/>
          <p:nvPr/>
        </p:nvSpPr>
        <p:spPr>
          <a:xfrm>
            <a:off x="320040" y="1115568"/>
            <a:ext cx="4572000" cy="292608"/>
          </a:xfrm>
          <a:prstGeom prst="rect">
            <a:avLst/>
          </a:prstGeom>
          <a:noFill/>
        </p:spPr>
        <p:txBody>
          <a:bodyPr wrap="square">
            <a:spAutoFit/>
          </a:bodyPr>
          <a:lstStyle/>
          <a:p>
            <a:pPr algn="l"/>
            <a:r>
              <a:rPr sz="1300" b="1" i="0">
                <a:solidFill>
                  <a:srgbClr val="8B3A00"/>
                </a:solidFill>
              </a:rPr>
              <a:t>Progreso al dia de hoy:</a:t>
            </a:r>
          </a:p>
        </p:txBody>
      </p:sp>
      <p:sp>
        <p:nvSpPr>
          <p:cNvPr id="9" name="Rectangle 8"/>
          <p:cNvSpPr/>
          <p:nvPr/>
        </p:nvSpPr>
        <p:spPr>
          <a:xfrm>
            <a:off x="320040" y="1481328"/>
            <a:ext cx="11521440" cy="914400"/>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481328"/>
            <a:ext cx="868680" cy="9144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481328"/>
            <a:ext cx="868680" cy="914400"/>
          </a:xfrm>
          <a:prstGeom prst="rect">
            <a:avLst/>
          </a:prstGeom>
          <a:noFill/>
        </p:spPr>
        <p:txBody>
          <a:bodyPr wrap="square">
            <a:spAutoFit/>
          </a:bodyPr>
          <a:lstStyle/>
          <a:p>
            <a:pPr algn="ctr"/>
            <a:r>
              <a:rPr sz="2800" b="1" i="0">
                <a:solidFill>
                  <a:srgbClr val="FFFFFF"/>
                </a:solidFill>
              </a:rPr>
              <a:t>1</a:t>
            </a:r>
          </a:p>
        </p:txBody>
      </p:sp>
      <p:sp>
        <p:nvSpPr>
          <p:cNvPr id="12" name="TextBox 11"/>
          <p:cNvSpPr txBox="1"/>
          <p:nvPr/>
        </p:nvSpPr>
        <p:spPr>
          <a:xfrm>
            <a:off x="1261872" y="1517904"/>
            <a:ext cx="2011680" cy="274320"/>
          </a:xfrm>
          <a:prstGeom prst="rect">
            <a:avLst/>
          </a:prstGeom>
          <a:noFill/>
        </p:spPr>
        <p:txBody>
          <a:bodyPr wrap="square">
            <a:spAutoFit/>
          </a:bodyPr>
          <a:lstStyle/>
          <a:p>
            <a:pPr algn="l"/>
            <a:r>
              <a:rPr sz="900" b="1" i="0">
                <a:solidFill>
                  <a:srgbClr val="155724"/>
                </a:solidFill>
              </a:rPr>
              <a:t>COMPLETADO</a:t>
            </a:r>
          </a:p>
        </p:txBody>
      </p:sp>
      <p:sp>
        <p:nvSpPr>
          <p:cNvPr id="13" name="TextBox 12"/>
          <p:cNvSpPr txBox="1"/>
          <p:nvPr/>
        </p:nvSpPr>
        <p:spPr>
          <a:xfrm>
            <a:off x="1261872" y="1755648"/>
            <a:ext cx="4114800" cy="320040"/>
          </a:xfrm>
          <a:prstGeom prst="rect">
            <a:avLst/>
          </a:prstGeom>
          <a:noFill/>
        </p:spPr>
        <p:txBody>
          <a:bodyPr wrap="square">
            <a:spAutoFit/>
          </a:bodyPr>
          <a:lstStyle/>
          <a:p>
            <a:pPr algn="l"/>
            <a:r>
              <a:rPr sz="1300" b="1" i="0">
                <a:solidFill>
                  <a:srgbClr val="155724"/>
                </a:solidFill>
              </a:rPr>
              <a:t>Ingreso de Dumpadas</a:t>
            </a:r>
          </a:p>
        </p:txBody>
      </p:sp>
      <p:sp>
        <p:nvSpPr>
          <p:cNvPr id="14" name="TextBox 13"/>
          <p:cNvSpPr txBox="1"/>
          <p:nvPr/>
        </p:nvSpPr>
        <p:spPr>
          <a:xfrm>
            <a:off x="1261872" y="2048256"/>
            <a:ext cx="9966960" cy="182880"/>
          </a:xfrm>
          <a:prstGeom prst="rect">
            <a:avLst/>
          </a:prstGeom>
          <a:noFill/>
        </p:spPr>
        <p:txBody>
          <a:bodyPr wrap="square">
            <a:spAutoFit/>
          </a:bodyPr>
          <a:lstStyle/>
          <a:p>
            <a:pPr algn="l"/>
            <a:r>
              <a:rPr sz="950" b="0" i="0">
                <a:solidFill>
                  <a:srgbClr val="1A1A1A"/>
                </a:solidFill>
              </a:rPr>
              <a:t>- Se ingresaron las dumpadas del mes de mayo al sistema.</a:t>
            </a:r>
          </a:p>
        </p:txBody>
      </p:sp>
      <p:sp>
        <p:nvSpPr>
          <p:cNvPr id="15" name="TextBox 14"/>
          <p:cNvSpPr txBox="1"/>
          <p:nvPr/>
        </p:nvSpPr>
        <p:spPr>
          <a:xfrm>
            <a:off x="1261872" y="2231136"/>
            <a:ext cx="9966960" cy="182880"/>
          </a:xfrm>
          <a:prstGeom prst="rect">
            <a:avLst/>
          </a:prstGeom>
          <a:noFill/>
        </p:spPr>
        <p:txBody>
          <a:bodyPr wrap="square">
            <a:spAutoFit/>
          </a:bodyPr>
          <a:lstStyle/>
          <a:p>
            <a:pPr algn="l"/>
            <a:r>
              <a:rPr sz="950" b="0" i="0">
                <a:solidFill>
                  <a:srgbClr val="1A1A1A"/>
                </a:solidFill>
              </a:rPr>
              <a:t>- Cada vaciado registrado con frente, jornada, dumper, conductor y empresa.</a:t>
            </a:r>
          </a:p>
        </p:txBody>
      </p:sp>
      <p:sp>
        <p:nvSpPr>
          <p:cNvPr id="16" name="Rectangle 15"/>
          <p:cNvSpPr/>
          <p:nvPr/>
        </p:nvSpPr>
        <p:spPr>
          <a:xfrm>
            <a:off x="320040" y="2468880"/>
            <a:ext cx="11521440" cy="914400"/>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868680" cy="9144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868680" cy="914400"/>
          </a:xfrm>
          <a:prstGeom prst="rect">
            <a:avLst/>
          </a:prstGeom>
          <a:noFill/>
        </p:spPr>
        <p:txBody>
          <a:bodyPr wrap="square">
            <a:spAutoFit/>
          </a:bodyPr>
          <a:lstStyle/>
          <a:p>
            <a:pPr algn="ctr"/>
            <a:r>
              <a:rPr sz="2800" b="1" i="0">
                <a:solidFill>
                  <a:srgbClr val="FFFFFF"/>
                </a:solidFill>
              </a:rPr>
              <a:t>2</a:t>
            </a:r>
          </a:p>
        </p:txBody>
      </p:sp>
      <p:sp>
        <p:nvSpPr>
          <p:cNvPr id="19" name="TextBox 18"/>
          <p:cNvSpPr txBox="1"/>
          <p:nvPr/>
        </p:nvSpPr>
        <p:spPr>
          <a:xfrm>
            <a:off x="1261872" y="2505456"/>
            <a:ext cx="2011680" cy="274320"/>
          </a:xfrm>
          <a:prstGeom prst="rect">
            <a:avLst/>
          </a:prstGeom>
          <a:noFill/>
        </p:spPr>
        <p:txBody>
          <a:bodyPr wrap="square">
            <a:spAutoFit/>
          </a:bodyPr>
          <a:lstStyle/>
          <a:p>
            <a:pPr algn="l"/>
            <a:r>
              <a:rPr sz="900" b="1" i="0">
                <a:solidFill>
                  <a:srgbClr val="155724"/>
                </a:solidFill>
              </a:rPr>
              <a:t>COMPLETADO</a:t>
            </a:r>
          </a:p>
        </p:txBody>
      </p:sp>
      <p:sp>
        <p:nvSpPr>
          <p:cNvPr id="20" name="TextBox 19"/>
          <p:cNvSpPr txBox="1"/>
          <p:nvPr/>
        </p:nvSpPr>
        <p:spPr>
          <a:xfrm>
            <a:off x="1261872" y="2743200"/>
            <a:ext cx="4114800" cy="320040"/>
          </a:xfrm>
          <a:prstGeom prst="rect">
            <a:avLst/>
          </a:prstGeom>
          <a:noFill/>
        </p:spPr>
        <p:txBody>
          <a:bodyPr wrap="square">
            <a:spAutoFit/>
          </a:bodyPr>
          <a:lstStyle/>
          <a:p>
            <a:pPr algn="l"/>
            <a:r>
              <a:rPr sz="1300" b="1" i="0">
                <a:solidFill>
                  <a:srgbClr val="155724"/>
                </a:solidFill>
              </a:rPr>
              <a:t>Envio de Muestras al Laboratorio</a:t>
            </a:r>
          </a:p>
        </p:txBody>
      </p:sp>
      <p:sp>
        <p:nvSpPr>
          <p:cNvPr id="21" name="TextBox 20"/>
          <p:cNvSpPr txBox="1"/>
          <p:nvPr/>
        </p:nvSpPr>
        <p:spPr>
          <a:xfrm>
            <a:off x="1261872" y="3035808"/>
            <a:ext cx="9966960" cy="182880"/>
          </a:xfrm>
          <a:prstGeom prst="rect">
            <a:avLst/>
          </a:prstGeom>
          <a:noFill/>
        </p:spPr>
        <p:txBody>
          <a:bodyPr wrap="square">
            <a:spAutoFit/>
          </a:bodyPr>
          <a:lstStyle/>
          <a:p>
            <a:pPr algn="l"/>
            <a:r>
              <a:rPr sz="950" b="0" i="0">
                <a:solidFill>
                  <a:srgbClr val="1A1A1A"/>
                </a:solidFill>
              </a:rPr>
              <a:t>- Se registraron los envios de muestras en el sistema.</a:t>
            </a:r>
          </a:p>
        </p:txBody>
      </p:sp>
      <p:sp>
        <p:nvSpPr>
          <p:cNvPr id="22" name="TextBox 21"/>
          <p:cNvSpPr txBox="1"/>
          <p:nvPr/>
        </p:nvSpPr>
        <p:spPr>
          <a:xfrm>
            <a:off x="1261872" y="3218688"/>
            <a:ext cx="9966960" cy="182880"/>
          </a:xfrm>
          <a:prstGeom prst="rect">
            <a:avLst/>
          </a:prstGeom>
          <a:noFill/>
        </p:spPr>
        <p:txBody>
          <a:bodyPr wrap="square">
            <a:spAutoFit/>
          </a:bodyPr>
          <a:lstStyle/>
          <a:p>
            <a:pPr algn="l"/>
            <a:r>
              <a:rPr sz="950" b="0" i="0">
                <a:solidFill>
                  <a:srgbClr val="1A1A1A"/>
                </a:solidFill>
              </a:rPr>
              <a:t>- Cada dumpada quedo asociada a su muestra enviada.</a:t>
            </a:r>
          </a:p>
        </p:txBody>
      </p:sp>
      <p:sp>
        <p:nvSpPr>
          <p:cNvPr id="23" name="Rectangle 22"/>
          <p:cNvSpPr/>
          <p:nvPr/>
        </p:nvSpPr>
        <p:spPr>
          <a:xfrm>
            <a:off x="320040" y="3456432"/>
            <a:ext cx="11521440" cy="914400"/>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456432"/>
            <a:ext cx="868680" cy="9144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3456432"/>
            <a:ext cx="868680" cy="914400"/>
          </a:xfrm>
          <a:prstGeom prst="rect">
            <a:avLst/>
          </a:prstGeom>
          <a:noFill/>
        </p:spPr>
        <p:txBody>
          <a:bodyPr wrap="square">
            <a:spAutoFit/>
          </a:bodyPr>
          <a:lstStyle/>
          <a:p>
            <a:pPr algn="ctr"/>
            <a:r>
              <a:rPr sz="2800" b="1" i="0">
                <a:solidFill>
                  <a:srgbClr val="FFFFFF"/>
                </a:solidFill>
              </a:rPr>
              <a:t>3</a:t>
            </a:r>
          </a:p>
        </p:txBody>
      </p:sp>
      <p:sp>
        <p:nvSpPr>
          <p:cNvPr id="26" name="TextBox 25"/>
          <p:cNvSpPr txBox="1"/>
          <p:nvPr/>
        </p:nvSpPr>
        <p:spPr>
          <a:xfrm>
            <a:off x="1261872" y="3493008"/>
            <a:ext cx="2011680" cy="274320"/>
          </a:xfrm>
          <a:prstGeom prst="rect">
            <a:avLst/>
          </a:prstGeom>
          <a:noFill/>
        </p:spPr>
        <p:txBody>
          <a:bodyPr wrap="square">
            <a:spAutoFit/>
          </a:bodyPr>
          <a:lstStyle/>
          <a:p>
            <a:pPr algn="l"/>
            <a:r>
              <a:rPr sz="900" b="1" i="0">
                <a:solidFill>
                  <a:srgbClr val="155724"/>
                </a:solidFill>
              </a:rPr>
              <a:t>COMPLETADO</a:t>
            </a:r>
          </a:p>
        </p:txBody>
      </p:sp>
      <p:sp>
        <p:nvSpPr>
          <p:cNvPr id="27" name="TextBox 26"/>
          <p:cNvSpPr txBox="1"/>
          <p:nvPr/>
        </p:nvSpPr>
        <p:spPr>
          <a:xfrm>
            <a:off x="1261872" y="3730752"/>
            <a:ext cx="4114800" cy="320040"/>
          </a:xfrm>
          <a:prstGeom prst="rect">
            <a:avLst/>
          </a:prstGeom>
          <a:noFill/>
        </p:spPr>
        <p:txBody>
          <a:bodyPr wrap="square">
            <a:spAutoFit/>
          </a:bodyPr>
          <a:lstStyle/>
          <a:p>
            <a:pPr algn="l"/>
            <a:r>
              <a:rPr sz="1300" b="1" i="0">
                <a:solidFill>
                  <a:srgbClr val="155724"/>
                </a:solidFill>
              </a:rPr>
              <a:t>Asignacion de Leyes (Laboratorio)</a:t>
            </a:r>
          </a:p>
        </p:txBody>
      </p:sp>
      <p:sp>
        <p:nvSpPr>
          <p:cNvPr id="28" name="TextBox 27"/>
          <p:cNvSpPr txBox="1"/>
          <p:nvPr/>
        </p:nvSpPr>
        <p:spPr>
          <a:xfrm>
            <a:off x="1261872" y="4023359"/>
            <a:ext cx="9966960" cy="182880"/>
          </a:xfrm>
          <a:prstGeom prst="rect">
            <a:avLst/>
          </a:prstGeom>
          <a:noFill/>
        </p:spPr>
        <p:txBody>
          <a:bodyPr wrap="square">
            <a:spAutoFit/>
          </a:bodyPr>
          <a:lstStyle/>
          <a:p>
            <a:pPr algn="l"/>
            <a:r>
              <a:rPr sz="950" b="0" i="0">
                <a:solidFill>
                  <a:srgbClr val="1A1A1A"/>
                </a:solidFill>
              </a:rPr>
              <a:t>- Se ingresaron los resultados: Cu Total, Cu Soluble y Humedad.</a:t>
            </a:r>
          </a:p>
        </p:txBody>
      </p:sp>
      <p:sp>
        <p:nvSpPr>
          <p:cNvPr id="29" name="TextBox 28"/>
          <p:cNvSpPr txBox="1"/>
          <p:nvPr/>
        </p:nvSpPr>
        <p:spPr>
          <a:xfrm>
            <a:off x="1261872" y="4206240"/>
            <a:ext cx="9966960" cy="182880"/>
          </a:xfrm>
          <a:prstGeom prst="rect">
            <a:avLst/>
          </a:prstGeom>
          <a:noFill/>
        </p:spPr>
        <p:txBody>
          <a:bodyPr wrap="square">
            <a:spAutoFit/>
          </a:bodyPr>
          <a:lstStyle/>
          <a:p>
            <a:pPr algn="l"/>
            <a:r>
              <a:rPr sz="950" b="0" i="0">
                <a:solidFill>
                  <a:srgbClr val="1A1A1A"/>
                </a:solidFill>
              </a:rPr>
              <a:t>- El sistema calculo automaticamente el Cu Insoluble para cada dumpada.</a:t>
            </a:r>
          </a:p>
        </p:txBody>
      </p:sp>
      <p:sp>
        <p:nvSpPr>
          <p:cNvPr id="30" name="Rectangle 29"/>
          <p:cNvSpPr/>
          <p:nvPr/>
        </p:nvSpPr>
        <p:spPr>
          <a:xfrm>
            <a:off x="320040" y="4443984"/>
            <a:ext cx="11521440" cy="914400"/>
          </a:xfrm>
          <a:prstGeom prst="rect">
            <a:avLst/>
          </a:prstGeom>
          <a:solidFill>
            <a:srgbClr val="FFF3CD"/>
          </a:solidFill>
          <a:ln w="12700">
            <a:solidFill>
              <a:srgbClr val="E06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4443984"/>
            <a:ext cx="868680" cy="91440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4443984"/>
            <a:ext cx="868680" cy="914400"/>
          </a:xfrm>
          <a:prstGeom prst="rect">
            <a:avLst/>
          </a:prstGeom>
          <a:noFill/>
        </p:spPr>
        <p:txBody>
          <a:bodyPr wrap="square">
            <a:spAutoFit/>
          </a:bodyPr>
          <a:lstStyle/>
          <a:p>
            <a:pPr algn="ctr"/>
            <a:r>
              <a:rPr sz="2800" b="1" i="0">
                <a:solidFill>
                  <a:srgbClr val="FFFFFF"/>
                </a:solidFill>
              </a:rPr>
              <a:t>4</a:t>
            </a:r>
          </a:p>
        </p:txBody>
      </p:sp>
      <p:sp>
        <p:nvSpPr>
          <p:cNvPr id="33" name="TextBox 32"/>
          <p:cNvSpPr txBox="1"/>
          <p:nvPr/>
        </p:nvSpPr>
        <p:spPr>
          <a:xfrm>
            <a:off x="1261872" y="4480560"/>
            <a:ext cx="2286000" cy="274320"/>
          </a:xfrm>
          <a:prstGeom prst="rect">
            <a:avLst/>
          </a:prstGeom>
          <a:noFill/>
        </p:spPr>
        <p:txBody>
          <a:bodyPr wrap="square">
            <a:spAutoFit/>
          </a:bodyPr>
          <a:lstStyle/>
          <a:p>
            <a:pPr algn="l"/>
            <a:r>
              <a:rPr sz="900" b="1" i="0">
                <a:solidFill>
                  <a:srgbClr val="E06010"/>
                </a:solidFill>
              </a:rPr>
              <a:t>EN PROGRESO</a:t>
            </a:r>
          </a:p>
        </p:txBody>
      </p:sp>
      <p:sp>
        <p:nvSpPr>
          <p:cNvPr id="34" name="TextBox 33"/>
          <p:cNvSpPr txBox="1"/>
          <p:nvPr/>
        </p:nvSpPr>
        <p:spPr>
          <a:xfrm>
            <a:off x="1261872" y="4718304"/>
            <a:ext cx="4114800" cy="320040"/>
          </a:xfrm>
          <a:prstGeom prst="rect">
            <a:avLst/>
          </a:prstGeom>
          <a:noFill/>
        </p:spPr>
        <p:txBody>
          <a:bodyPr wrap="square">
            <a:spAutoFit/>
          </a:bodyPr>
          <a:lstStyle/>
          <a:p>
            <a:pPr algn="l"/>
            <a:r>
              <a:rPr sz="1300" b="1" i="0">
                <a:solidFill>
                  <a:srgbClr val="8B3A00"/>
                </a:solidFill>
              </a:rPr>
              <a:t>Creacion de Mezclas</a:t>
            </a:r>
          </a:p>
        </p:txBody>
      </p:sp>
      <p:sp>
        <p:nvSpPr>
          <p:cNvPr id="35" name="TextBox 34"/>
          <p:cNvSpPr txBox="1"/>
          <p:nvPr/>
        </p:nvSpPr>
        <p:spPr>
          <a:xfrm>
            <a:off x="1261872" y="5010912"/>
            <a:ext cx="9966960" cy="292608"/>
          </a:xfrm>
          <a:prstGeom prst="rect">
            <a:avLst/>
          </a:prstGeom>
          <a:noFill/>
        </p:spPr>
        <p:txBody>
          <a:bodyPr wrap="square">
            <a:spAutoFit/>
          </a:bodyPr>
          <a:lstStyle/>
          <a:p>
            <a:pPr algn="l"/>
            <a:r>
              <a:rPr sz="950" b="0" i="0">
                <a:solidFill>
                  <a:srgbClr val="1A1A1A"/>
                </a:solidFill>
              </a:rPr>
              <a:t>En proceso de finalizacion del ingreso. Proxima accion: agrupar dumpadas en mezclas y verificar ley objetivo.</a:t>
            </a:r>
          </a:p>
        </p:txBody>
      </p:sp>
      <p:sp>
        <p:nvSpPr>
          <p:cNvPr id="36" name="Rectangle 35"/>
          <p:cNvSpPr/>
          <p:nvPr/>
        </p:nvSpPr>
        <p:spPr>
          <a:xfrm>
            <a:off x="320040" y="5458968"/>
            <a:ext cx="11521440" cy="713232"/>
          </a:xfrm>
          <a:prstGeom prst="rect">
            <a:avLst/>
          </a:prstGeom>
          <a:solidFill>
            <a:srgbClr val="E8E8E8"/>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5458968"/>
            <a:ext cx="868680" cy="7132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5458968"/>
            <a:ext cx="868680" cy="713232"/>
          </a:xfrm>
          <a:prstGeom prst="rect">
            <a:avLst/>
          </a:prstGeom>
          <a:noFill/>
        </p:spPr>
        <p:txBody>
          <a:bodyPr wrap="square">
            <a:spAutoFit/>
          </a:bodyPr>
          <a:lstStyle/>
          <a:p>
            <a:pPr algn="ctr"/>
            <a:r>
              <a:rPr sz="2800" b="1" i="0">
                <a:solidFill>
                  <a:srgbClr val="FFFFFF"/>
                </a:solidFill>
              </a:rPr>
              <a:t>5</a:t>
            </a:r>
          </a:p>
        </p:txBody>
      </p:sp>
      <p:sp>
        <p:nvSpPr>
          <p:cNvPr id="39" name="TextBox 38"/>
          <p:cNvSpPr txBox="1"/>
          <p:nvPr/>
        </p:nvSpPr>
        <p:spPr>
          <a:xfrm>
            <a:off x="1261872" y="5495544"/>
            <a:ext cx="2011680" cy="256032"/>
          </a:xfrm>
          <a:prstGeom prst="rect">
            <a:avLst/>
          </a:prstGeom>
          <a:noFill/>
        </p:spPr>
        <p:txBody>
          <a:bodyPr wrap="square">
            <a:spAutoFit/>
          </a:bodyPr>
          <a:lstStyle/>
          <a:p>
            <a:pPr algn="l"/>
            <a:r>
              <a:rPr sz="900" b="1" i="0">
                <a:solidFill>
                  <a:srgbClr val="666666"/>
                </a:solidFill>
              </a:rPr>
              <a:t>PENDIENTE</a:t>
            </a:r>
          </a:p>
        </p:txBody>
      </p:sp>
      <p:sp>
        <p:nvSpPr>
          <p:cNvPr id="40" name="TextBox 39"/>
          <p:cNvSpPr txBox="1"/>
          <p:nvPr/>
        </p:nvSpPr>
        <p:spPr>
          <a:xfrm>
            <a:off x="1261872" y="5733288"/>
            <a:ext cx="4114800" cy="274320"/>
          </a:xfrm>
          <a:prstGeom prst="rect">
            <a:avLst/>
          </a:prstGeom>
          <a:noFill/>
        </p:spPr>
        <p:txBody>
          <a:bodyPr wrap="square">
            <a:spAutoFit/>
          </a:bodyPr>
          <a:lstStyle/>
          <a:p>
            <a:pPr algn="l"/>
            <a:r>
              <a:rPr sz="1200" b="1" i="0">
                <a:solidFill>
                  <a:srgbClr val="666666"/>
                </a:solidFill>
              </a:rPr>
              <a:t>Despacho — Registro de Lotes y Camionadas</a:t>
            </a:r>
          </a:p>
        </p:txBody>
      </p:sp>
      <p:sp>
        <p:nvSpPr>
          <p:cNvPr id="41" name="TextBox 40"/>
          <p:cNvSpPr txBox="1"/>
          <p:nvPr/>
        </p:nvSpPr>
        <p:spPr>
          <a:xfrm>
            <a:off x="5486400" y="5715000"/>
            <a:ext cx="6217920" cy="292608"/>
          </a:xfrm>
          <a:prstGeom prst="rect">
            <a:avLst/>
          </a:prstGeom>
          <a:noFill/>
        </p:spPr>
        <p:txBody>
          <a:bodyPr wrap="square">
            <a:spAutoFit/>
          </a:bodyPr>
          <a:lstStyle/>
          <a:p>
            <a:pPr algn="l"/>
            <a:r>
              <a:rPr sz="950" b="0" i="1">
                <a:solidFill>
                  <a:srgbClr val="666666"/>
                </a:solidFill>
              </a:rPr>
              <a:t>Pendiente: se realizara una vez completadas las mezclas.</a:t>
            </a:r>
          </a:p>
        </p:txBody>
      </p:sp>
      <p:sp>
        <p:nvSpPr>
          <p:cNvPr id="42" name="Rectangle 41"/>
          <p:cNvSpPr/>
          <p:nvPr/>
        </p:nvSpPr>
        <p:spPr>
          <a:xfrm>
            <a:off x="320040" y="6236208"/>
            <a:ext cx="11521440" cy="713232"/>
          </a:xfrm>
          <a:prstGeom prst="rect">
            <a:avLst/>
          </a:prstGeom>
          <a:solidFill>
            <a:srgbClr val="E8E8E8"/>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040" y="6236208"/>
            <a:ext cx="868680" cy="7132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6236208"/>
            <a:ext cx="868680" cy="713232"/>
          </a:xfrm>
          <a:prstGeom prst="rect">
            <a:avLst/>
          </a:prstGeom>
          <a:noFill/>
        </p:spPr>
        <p:txBody>
          <a:bodyPr wrap="square">
            <a:spAutoFit/>
          </a:bodyPr>
          <a:lstStyle/>
          <a:p>
            <a:pPr algn="ctr"/>
            <a:r>
              <a:rPr sz="2800" b="1" i="0">
                <a:solidFill>
                  <a:srgbClr val="FFFFFF"/>
                </a:solidFill>
              </a:rPr>
              <a:t>6</a:t>
            </a:r>
          </a:p>
        </p:txBody>
      </p:sp>
      <p:sp>
        <p:nvSpPr>
          <p:cNvPr id="45" name="TextBox 44"/>
          <p:cNvSpPr txBox="1"/>
          <p:nvPr/>
        </p:nvSpPr>
        <p:spPr>
          <a:xfrm>
            <a:off x="1261872" y="6272784"/>
            <a:ext cx="2011680" cy="256032"/>
          </a:xfrm>
          <a:prstGeom prst="rect">
            <a:avLst/>
          </a:prstGeom>
          <a:noFill/>
        </p:spPr>
        <p:txBody>
          <a:bodyPr wrap="square">
            <a:spAutoFit/>
          </a:bodyPr>
          <a:lstStyle/>
          <a:p>
            <a:pPr algn="l"/>
            <a:r>
              <a:rPr sz="900" b="1" i="0">
                <a:solidFill>
                  <a:srgbClr val="666666"/>
                </a:solidFill>
              </a:rPr>
              <a:t>PENDIENTE</a:t>
            </a:r>
          </a:p>
        </p:txBody>
      </p:sp>
      <p:sp>
        <p:nvSpPr>
          <p:cNvPr id="46" name="TextBox 45"/>
          <p:cNvSpPr txBox="1"/>
          <p:nvPr/>
        </p:nvSpPr>
        <p:spPr>
          <a:xfrm>
            <a:off x="1261872" y="6510528"/>
            <a:ext cx="4114800" cy="274320"/>
          </a:xfrm>
          <a:prstGeom prst="rect">
            <a:avLst/>
          </a:prstGeom>
          <a:noFill/>
        </p:spPr>
        <p:txBody>
          <a:bodyPr wrap="square">
            <a:spAutoFit/>
          </a:bodyPr>
          <a:lstStyle/>
          <a:p>
            <a:pPr algn="l"/>
            <a:r>
              <a:rPr sz="1200" b="1" i="0">
                <a:solidFill>
                  <a:srgbClr val="666666"/>
                </a:solidFill>
              </a:rPr>
              <a:t>Recepcion y Cierre de Lote</a:t>
            </a:r>
          </a:p>
        </p:txBody>
      </p:sp>
      <p:sp>
        <p:nvSpPr>
          <p:cNvPr id="47" name="TextBox 46"/>
          <p:cNvSpPr txBox="1"/>
          <p:nvPr/>
        </p:nvSpPr>
        <p:spPr>
          <a:xfrm>
            <a:off x="5486400" y="6492240"/>
            <a:ext cx="6217920" cy="292608"/>
          </a:xfrm>
          <a:prstGeom prst="rect">
            <a:avLst/>
          </a:prstGeom>
          <a:noFill/>
        </p:spPr>
        <p:txBody>
          <a:bodyPr wrap="square">
            <a:spAutoFit/>
          </a:bodyPr>
          <a:lstStyle/>
          <a:p>
            <a:pPr algn="l"/>
            <a:r>
              <a:rPr sz="950" b="0" i="1">
                <a:solidFill>
                  <a:srgbClr val="666666"/>
                </a:solidFill>
              </a:rPr>
              <a:t>Pendiente: cierre con peso real de la planta.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Ingreso de Dumpadas  [COMPLETADO]</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 registraron las dumpadas del mes de mayo en el sistema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97280"/>
            <a:ext cx="2194560" cy="347472"/>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2194560" cy="347472"/>
          </a:xfrm>
          <a:prstGeom prst="rect">
            <a:avLst/>
          </a:prstGeom>
          <a:noFill/>
        </p:spPr>
        <p:txBody>
          <a:bodyPr wrap="square">
            <a:spAutoFit/>
          </a:bodyPr>
          <a:lstStyle/>
          <a:p>
            <a:pPr algn="ctr"/>
            <a:r>
              <a:rPr sz="1200" b="1" i="0">
                <a:solidFill>
                  <a:srgbClr val="155724"/>
                </a:solidFill>
              </a:rPr>
              <a:t>COMPLETADO</a:t>
            </a:r>
          </a:p>
        </p:txBody>
      </p:sp>
      <p:sp>
        <p:nvSpPr>
          <p:cNvPr id="10" name="TextBox 9"/>
          <p:cNvSpPr txBox="1"/>
          <p:nvPr/>
        </p:nvSpPr>
        <p:spPr>
          <a:xfrm>
            <a:off x="2743200" y="1115568"/>
            <a:ext cx="8961120" cy="292608"/>
          </a:xfrm>
          <a:prstGeom prst="rect">
            <a:avLst/>
          </a:prstGeom>
          <a:noFill/>
        </p:spPr>
        <p:txBody>
          <a:bodyPr wrap="square">
            <a:spAutoFit/>
          </a:bodyPr>
          <a:lstStyle/>
          <a:p>
            <a:pPr algn="l"/>
            <a:r>
              <a:rPr sz="1300" b="1" i="0">
                <a:solidFill>
                  <a:srgbClr val="8B3A00"/>
                </a:solidFill>
              </a:rPr>
              <a:t>Que se hizo:</a:t>
            </a:r>
          </a:p>
        </p:txBody>
      </p:sp>
      <p:sp>
        <p:nvSpPr>
          <p:cNvPr id="11" name="TextBox 10"/>
          <p:cNvSpPr txBox="1"/>
          <p:nvPr/>
        </p:nvSpPr>
        <p:spPr>
          <a:xfrm>
            <a:off x="320040" y="1536192"/>
            <a:ext cx="11521440" cy="530352"/>
          </a:xfrm>
          <a:prstGeom prst="rect">
            <a:avLst/>
          </a:prstGeom>
          <a:noFill/>
        </p:spPr>
        <p:txBody>
          <a:bodyPr wrap="square">
            <a:spAutoFit/>
          </a:bodyPr>
          <a:lstStyle/>
          <a:p>
            <a:pPr algn="l"/>
            <a:r>
              <a:rPr sz="1200" b="0" i="0">
                <a:solidFill>
                  <a:srgbClr val="1A1A1A"/>
                </a:solidFill>
              </a:rPr>
              <a:t>La colaboradora ingreso cada dumpada del mes de mayo utilizando el formulario del sistema. Para cada registro se completo: frente de trabajo, jornada, maquina dumper, conductor y empresa.</a:t>
            </a:r>
          </a:p>
        </p:txBody>
      </p:sp>
      <p:sp>
        <p:nvSpPr>
          <p:cNvPr id="12" name="TextBox 11"/>
          <p:cNvSpPr txBox="1"/>
          <p:nvPr/>
        </p:nvSpPr>
        <p:spPr>
          <a:xfrm>
            <a:off x="320040" y="2176272"/>
            <a:ext cx="11521440" cy="274320"/>
          </a:xfrm>
          <a:prstGeom prst="rect">
            <a:avLst/>
          </a:prstGeom>
          <a:noFill/>
        </p:spPr>
        <p:txBody>
          <a:bodyPr wrap="square">
            <a:spAutoFit/>
          </a:bodyPr>
          <a:lstStyle/>
          <a:p>
            <a:pPr algn="l"/>
            <a:r>
              <a:rPr sz="1200" b="1" i="0">
                <a:solidFill>
                  <a:srgbClr val="8B3A00"/>
                </a:solidFill>
              </a:rPr>
              <a:t>Datos ingresados por dumpada:</a:t>
            </a:r>
          </a:p>
        </p:txBody>
      </p:sp>
      <p:sp>
        <p:nvSpPr>
          <p:cNvPr id="13" name="Rectangle 12"/>
          <p:cNvSpPr/>
          <p:nvPr/>
        </p:nvSpPr>
        <p:spPr>
          <a:xfrm>
            <a:off x="320040" y="2505456"/>
            <a:ext cx="11521440"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542032"/>
            <a:ext cx="2560320" cy="274320"/>
          </a:xfrm>
          <a:prstGeom prst="rect">
            <a:avLst/>
          </a:prstGeom>
          <a:noFill/>
        </p:spPr>
        <p:txBody>
          <a:bodyPr wrap="square">
            <a:spAutoFit/>
          </a:bodyPr>
          <a:lstStyle/>
          <a:p>
            <a:pPr algn="l"/>
            <a:r>
              <a:rPr sz="1100" b="1" i="0">
                <a:solidFill>
                  <a:srgbClr val="155724"/>
                </a:solidFill>
              </a:rPr>
              <a:t>Frente de trabajo</a:t>
            </a:r>
          </a:p>
        </p:txBody>
      </p:sp>
      <p:sp>
        <p:nvSpPr>
          <p:cNvPr id="15" name="TextBox 14"/>
          <p:cNvSpPr txBox="1"/>
          <p:nvPr/>
        </p:nvSpPr>
        <p:spPr>
          <a:xfrm>
            <a:off x="3017520" y="2542032"/>
            <a:ext cx="8778240" cy="274320"/>
          </a:xfrm>
          <a:prstGeom prst="rect">
            <a:avLst/>
          </a:prstGeom>
          <a:noFill/>
        </p:spPr>
        <p:txBody>
          <a:bodyPr wrap="square">
            <a:spAutoFit/>
          </a:bodyPr>
          <a:lstStyle/>
          <a:p>
            <a:pPr algn="l"/>
            <a:r>
              <a:rPr sz="1100" b="0" i="0">
                <a:solidFill>
                  <a:srgbClr val="1A1A1A"/>
                </a:solidFill>
              </a:rPr>
              <a:t>Origen del mineral — identifica el sector de extraccion</a:t>
            </a:r>
          </a:p>
        </p:txBody>
      </p:sp>
      <p:sp>
        <p:nvSpPr>
          <p:cNvPr id="16" name="Rectangle 15"/>
          <p:cNvSpPr/>
          <p:nvPr/>
        </p:nvSpPr>
        <p:spPr>
          <a:xfrm>
            <a:off x="320040" y="2880360"/>
            <a:ext cx="11521440" cy="34747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916936"/>
            <a:ext cx="2560320" cy="274320"/>
          </a:xfrm>
          <a:prstGeom prst="rect">
            <a:avLst/>
          </a:prstGeom>
          <a:noFill/>
        </p:spPr>
        <p:txBody>
          <a:bodyPr wrap="square">
            <a:spAutoFit/>
          </a:bodyPr>
          <a:lstStyle/>
          <a:p>
            <a:pPr algn="l"/>
            <a:r>
              <a:rPr sz="1100" b="1" i="0">
                <a:solidFill>
                  <a:srgbClr val="155724"/>
                </a:solidFill>
              </a:rPr>
              <a:t>Jornada / Turno</a:t>
            </a:r>
          </a:p>
        </p:txBody>
      </p:sp>
      <p:sp>
        <p:nvSpPr>
          <p:cNvPr id="18" name="TextBox 17"/>
          <p:cNvSpPr txBox="1"/>
          <p:nvPr/>
        </p:nvSpPr>
        <p:spPr>
          <a:xfrm>
            <a:off x="3017520" y="2916936"/>
            <a:ext cx="8778240" cy="274320"/>
          </a:xfrm>
          <a:prstGeom prst="rect">
            <a:avLst/>
          </a:prstGeom>
          <a:noFill/>
        </p:spPr>
        <p:txBody>
          <a:bodyPr wrap="square">
            <a:spAutoFit/>
          </a:bodyPr>
          <a:lstStyle/>
          <a:p>
            <a:pPr algn="l"/>
            <a:r>
              <a:rPr sz="1100" b="0" i="0">
                <a:solidFill>
                  <a:srgbClr val="1A1A1A"/>
                </a:solidFill>
              </a:rPr>
              <a:t>Periodo del dia: manana, tarde o noche</a:t>
            </a:r>
          </a:p>
        </p:txBody>
      </p:sp>
      <p:sp>
        <p:nvSpPr>
          <p:cNvPr id="19" name="Rectangle 18"/>
          <p:cNvSpPr/>
          <p:nvPr/>
        </p:nvSpPr>
        <p:spPr>
          <a:xfrm>
            <a:off x="320040" y="3255264"/>
            <a:ext cx="11521440"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291840"/>
            <a:ext cx="2560320" cy="274320"/>
          </a:xfrm>
          <a:prstGeom prst="rect">
            <a:avLst/>
          </a:prstGeom>
          <a:noFill/>
        </p:spPr>
        <p:txBody>
          <a:bodyPr wrap="square">
            <a:spAutoFit/>
          </a:bodyPr>
          <a:lstStyle/>
          <a:p>
            <a:pPr algn="l"/>
            <a:r>
              <a:rPr sz="1100" b="1" i="0">
                <a:solidFill>
                  <a:srgbClr val="155724"/>
                </a:solidFill>
              </a:rPr>
              <a:t>Ley visual (%)</a:t>
            </a:r>
          </a:p>
        </p:txBody>
      </p:sp>
      <p:sp>
        <p:nvSpPr>
          <p:cNvPr id="21" name="TextBox 20"/>
          <p:cNvSpPr txBox="1"/>
          <p:nvPr/>
        </p:nvSpPr>
        <p:spPr>
          <a:xfrm>
            <a:off x="3017520" y="3291840"/>
            <a:ext cx="8778240" cy="274320"/>
          </a:xfrm>
          <a:prstGeom prst="rect">
            <a:avLst/>
          </a:prstGeom>
          <a:noFill/>
        </p:spPr>
        <p:txBody>
          <a:bodyPr wrap="square">
            <a:spAutoFit/>
          </a:bodyPr>
          <a:lstStyle/>
          <a:p>
            <a:pPr algn="l"/>
            <a:r>
              <a:rPr sz="1100" b="0" i="0">
                <a:solidFill>
                  <a:srgbClr val="1A1A1A"/>
                </a:solidFill>
              </a:rPr>
              <a:t>Estimacion visual de ley de cobre anotada en terreno</a:t>
            </a:r>
          </a:p>
        </p:txBody>
      </p:sp>
      <p:sp>
        <p:nvSpPr>
          <p:cNvPr id="22" name="Rectangle 21"/>
          <p:cNvSpPr/>
          <p:nvPr/>
        </p:nvSpPr>
        <p:spPr>
          <a:xfrm>
            <a:off x="320040" y="3630168"/>
            <a:ext cx="11521440" cy="34747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666744"/>
            <a:ext cx="2560320" cy="274320"/>
          </a:xfrm>
          <a:prstGeom prst="rect">
            <a:avLst/>
          </a:prstGeom>
          <a:noFill/>
        </p:spPr>
        <p:txBody>
          <a:bodyPr wrap="square">
            <a:spAutoFit/>
          </a:bodyPr>
          <a:lstStyle/>
          <a:p>
            <a:pPr algn="l"/>
            <a:r>
              <a:rPr sz="1100" b="1" i="0">
                <a:solidFill>
                  <a:srgbClr val="155724"/>
                </a:solidFill>
              </a:rPr>
              <a:t>Maquina dumper</a:t>
            </a:r>
          </a:p>
        </p:txBody>
      </p:sp>
      <p:sp>
        <p:nvSpPr>
          <p:cNvPr id="24" name="TextBox 23"/>
          <p:cNvSpPr txBox="1"/>
          <p:nvPr/>
        </p:nvSpPr>
        <p:spPr>
          <a:xfrm>
            <a:off x="3017520" y="3666744"/>
            <a:ext cx="8778240" cy="274320"/>
          </a:xfrm>
          <a:prstGeom prst="rect">
            <a:avLst/>
          </a:prstGeom>
          <a:noFill/>
        </p:spPr>
        <p:txBody>
          <a:bodyPr wrap="square">
            <a:spAutoFit/>
          </a:bodyPr>
          <a:lstStyle/>
          <a:p>
            <a:pPr algn="l"/>
            <a:r>
              <a:rPr sz="1100" b="0" i="0">
                <a:solidFill>
                  <a:srgbClr val="1A1A1A"/>
                </a:solidFill>
              </a:rPr>
              <a:t>Equipo especifico que realizo el vaciado</a:t>
            </a:r>
          </a:p>
        </p:txBody>
      </p:sp>
      <p:sp>
        <p:nvSpPr>
          <p:cNvPr id="25" name="Rectangle 24"/>
          <p:cNvSpPr/>
          <p:nvPr/>
        </p:nvSpPr>
        <p:spPr>
          <a:xfrm>
            <a:off x="320040" y="4005072"/>
            <a:ext cx="11521440"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041648"/>
            <a:ext cx="2560320" cy="274320"/>
          </a:xfrm>
          <a:prstGeom prst="rect">
            <a:avLst/>
          </a:prstGeom>
          <a:noFill/>
        </p:spPr>
        <p:txBody>
          <a:bodyPr wrap="square">
            <a:spAutoFit/>
          </a:bodyPr>
          <a:lstStyle/>
          <a:p>
            <a:pPr algn="l"/>
            <a:r>
              <a:rPr sz="1100" b="1" i="0">
                <a:solidFill>
                  <a:srgbClr val="155724"/>
                </a:solidFill>
              </a:rPr>
              <a:t>Tonelaje (t)</a:t>
            </a:r>
          </a:p>
        </p:txBody>
      </p:sp>
      <p:sp>
        <p:nvSpPr>
          <p:cNvPr id="27" name="TextBox 26"/>
          <p:cNvSpPr txBox="1"/>
          <p:nvPr/>
        </p:nvSpPr>
        <p:spPr>
          <a:xfrm>
            <a:off x="3017520" y="4041648"/>
            <a:ext cx="8778240" cy="274320"/>
          </a:xfrm>
          <a:prstGeom prst="rect">
            <a:avLst/>
          </a:prstGeom>
          <a:noFill/>
        </p:spPr>
        <p:txBody>
          <a:bodyPr wrap="square">
            <a:spAutoFit/>
          </a:bodyPr>
          <a:lstStyle/>
          <a:p>
            <a:pPr algn="l"/>
            <a:r>
              <a:rPr sz="1100" b="0" i="0">
                <a:solidFill>
                  <a:srgbClr val="1A1A1A"/>
                </a:solidFill>
              </a:rPr>
              <a:t>Peso cargado segun capacidad del dumper seleccionado</a:t>
            </a:r>
          </a:p>
        </p:txBody>
      </p:sp>
      <p:sp>
        <p:nvSpPr>
          <p:cNvPr id="28" name="Rectangle 27"/>
          <p:cNvSpPr/>
          <p:nvPr/>
        </p:nvSpPr>
        <p:spPr>
          <a:xfrm>
            <a:off x="320040" y="4379976"/>
            <a:ext cx="11521440" cy="34747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4416552"/>
            <a:ext cx="2560320" cy="274320"/>
          </a:xfrm>
          <a:prstGeom prst="rect">
            <a:avLst/>
          </a:prstGeom>
          <a:noFill/>
        </p:spPr>
        <p:txBody>
          <a:bodyPr wrap="square">
            <a:spAutoFit/>
          </a:bodyPr>
          <a:lstStyle/>
          <a:p>
            <a:pPr algn="l"/>
            <a:r>
              <a:rPr sz="1100" b="1" i="0">
                <a:solidFill>
                  <a:srgbClr val="155724"/>
                </a:solidFill>
              </a:rPr>
              <a:t>Conductor</a:t>
            </a:r>
          </a:p>
        </p:txBody>
      </p:sp>
      <p:sp>
        <p:nvSpPr>
          <p:cNvPr id="30" name="TextBox 29"/>
          <p:cNvSpPr txBox="1"/>
          <p:nvPr/>
        </p:nvSpPr>
        <p:spPr>
          <a:xfrm>
            <a:off x="3017520" y="4416552"/>
            <a:ext cx="8778240" cy="274320"/>
          </a:xfrm>
          <a:prstGeom prst="rect">
            <a:avLst/>
          </a:prstGeom>
          <a:noFill/>
        </p:spPr>
        <p:txBody>
          <a:bodyPr wrap="square">
            <a:spAutoFit/>
          </a:bodyPr>
          <a:lstStyle/>
          <a:p>
            <a:pPr algn="l"/>
            <a:r>
              <a:rPr sz="1100" b="0" i="0">
                <a:solidFill>
                  <a:srgbClr val="1A1A1A"/>
                </a:solidFill>
              </a:rPr>
              <a:t>Operador responsable del vaciado</a:t>
            </a:r>
          </a:p>
        </p:txBody>
      </p:sp>
      <p:sp>
        <p:nvSpPr>
          <p:cNvPr id="31" name="Rectangle 30"/>
          <p:cNvSpPr/>
          <p:nvPr/>
        </p:nvSpPr>
        <p:spPr>
          <a:xfrm>
            <a:off x="320040" y="4754880"/>
            <a:ext cx="11521440"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4791456"/>
            <a:ext cx="2560320" cy="274320"/>
          </a:xfrm>
          <a:prstGeom prst="rect">
            <a:avLst/>
          </a:prstGeom>
          <a:noFill/>
        </p:spPr>
        <p:txBody>
          <a:bodyPr wrap="square">
            <a:spAutoFit/>
          </a:bodyPr>
          <a:lstStyle/>
          <a:p>
            <a:pPr algn="l"/>
            <a:r>
              <a:rPr sz="1100" b="1" i="0">
                <a:solidFill>
                  <a:srgbClr val="155724"/>
                </a:solidFill>
              </a:rPr>
              <a:t>Empresa</a:t>
            </a:r>
          </a:p>
        </p:txBody>
      </p:sp>
      <p:sp>
        <p:nvSpPr>
          <p:cNvPr id="33" name="TextBox 32"/>
          <p:cNvSpPr txBox="1"/>
          <p:nvPr/>
        </p:nvSpPr>
        <p:spPr>
          <a:xfrm>
            <a:off x="3017520" y="4791456"/>
            <a:ext cx="8778240" cy="274320"/>
          </a:xfrm>
          <a:prstGeom prst="rect">
            <a:avLst/>
          </a:prstGeom>
          <a:noFill/>
        </p:spPr>
        <p:txBody>
          <a:bodyPr wrap="square">
            <a:spAutoFit/>
          </a:bodyPr>
          <a:lstStyle/>
          <a:p>
            <a:pPr algn="l"/>
            <a:r>
              <a:rPr sz="1100" b="0" i="0">
                <a:solidFill>
                  <a:srgbClr val="1A1A1A"/>
                </a:solidFill>
              </a:rPr>
              <a:t>Empresa contratista propietaria del equipo</a:t>
            </a:r>
          </a:p>
        </p:txBody>
      </p:sp>
      <p:sp>
        <p:nvSpPr>
          <p:cNvPr id="34" name="Rectangle 33"/>
          <p:cNvSpPr/>
          <p:nvPr/>
        </p:nvSpPr>
        <p:spPr>
          <a:xfrm>
            <a:off x="320040" y="516636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5257800"/>
            <a:ext cx="11521440" cy="274320"/>
          </a:xfrm>
          <a:prstGeom prst="rect">
            <a:avLst/>
          </a:prstGeom>
          <a:noFill/>
        </p:spPr>
        <p:txBody>
          <a:bodyPr wrap="square">
            <a:spAutoFit/>
          </a:bodyPr>
          <a:lstStyle/>
          <a:p>
            <a:pPr algn="l"/>
            <a:r>
              <a:rPr sz="1050" b="0" i="1">
                <a:solidFill>
                  <a:srgbClr val="888888"/>
                </a:solidFill>
              </a:rPr>
              <a:t>Vias utilizadas:  Ingreso manual formulario  |  Importacion desde Excel</a:t>
            </a:r>
          </a:p>
        </p:txBody>
      </p:sp>
      <p:sp>
        <p:nvSpPr>
          <p:cNvPr id="36" name="Rectangle 35"/>
          <p:cNvSpPr/>
          <p:nvPr/>
        </p:nvSpPr>
        <p:spPr>
          <a:xfrm>
            <a:off x="320040" y="5596128"/>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614416"/>
            <a:ext cx="11338560" cy="310896"/>
          </a:xfrm>
          <a:prstGeom prst="rect">
            <a:avLst/>
          </a:prstGeom>
          <a:noFill/>
        </p:spPr>
        <p:txBody>
          <a:bodyPr wrap="square">
            <a:spAutoFit/>
          </a:bodyPr>
          <a:lstStyle/>
          <a:p>
            <a:pPr algn="l"/>
            <a:r>
              <a:rPr sz="1100" b="1" i="0">
                <a:solidFill>
                  <a:srgbClr val="155724"/>
                </a:solidFill>
              </a:rPr>
              <a:t>Resultado: todas las dumpadas de mayo registradas en el sistema con estado INGRESADO.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dumpada utilizado durante el proceso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Vista del formulario que se utilizo para registrar cada dumpada. Se completaron todos los campos requeridos: frente, jornada, dumper, conductor y empresa. El campo 'ley visual' corresponde a la estimacion anotada en terreno; la ley real se ingresa posteriormente con los resultados del laboratorio. Al guardar, la dumpada queda en estado INGRESADO.</a:t>
            </a:r>
          </a:p>
        </p:txBody>
      </p:sp>
      <p:sp>
        <p:nvSpPr>
          <p:cNvPr id="11" name="Rectangle 10"/>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completado por la colaboradora para cada dumpada de mayo</a:t>
            </a:r>
          </a:p>
        </p:txBody>
      </p:sp>
      <p:pic>
        <p:nvPicPr>
          <p:cNvPr id="13" name="Picture 12" descr="paso1_ingreso_dumpada.png"/>
          <p:cNvPicPr>
            <a:picLocks noChangeAspect="1"/>
          </p:cNvPicPr>
          <p:nvPr/>
        </p:nvPicPr>
        <p:blipFill>
          <a:blip r:embed="rId2"/>
          <a:stretch>
            <a:fillRect/>
          </a:stretch>
        </p:blipFill>
        <p:spPr>
          <a:xfrm>
            <a:off x="1628299" y="2231136"/>
            <a:ext cx="8932354" cy="4069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Envio de Muestras  [COMPLETADO]</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 registraron los envios de muestras al laboratorio en el sistema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97280"/>
            <a:ext cx="2194560" cy="347472"/>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2194560" cy="347472"/>
          </a:xfrm>
          <a:prstGeom prst="rect">
            <a:avLst/>
          </a:prstGeom>
          <a:noFill/>
        </p:spPr>
        <p:txBody>
          <a:bodyPr wrap="square">
            <a:spAutoFit/>
          </a:bodyPr>
          <a:lstStyle/>
          <a:p>
            <a:pPr algn="ctr"/>
            <a:r>
              <a:rPr sz="1200" b="1" i="0">
                <a:solidFill>
                  <a:srgbClr val="155724"/>
                </a:solidFill>
              </a:rPr>
              <a:t>COMPLETADO</a:t>
            </a:r>
          </a:p>
        </p:txBody>
      </p:sp>
      <p:sp>
        <p:nvSpPr>
          <p:cNvPr id="10" name="TextBox 9"/>
          <p:cNvSpPr txBox="1"/>
          <p:nvPr/>
        </p:nvSpPr>
        <p:spPr>
          <a:xfrm>
            <a:off x="2743200" y="1115568"/>
            <a:ext cx="8961120" cy="292608"/>
          </a:xfrm>
          <a:prstGeom prst="rect">
            <a:avLst/>
          </a:prstGeom>
          <a:noFill/>
        </p:spPr>
        <p:txBody>
          <a:bodyPr wrap="square">
            <a:spAutoFit/>
          </a:bodyPr>
          <a:lstStyle/>
          <a:p>
            <a:pPr algn="l"/>
            <a:r>
              <a:rPr sz="1300" b="1" i="0">
                <a:solidFill>
                  <a:srgbClr val="8B3A00"/>
                </a:solidFill>
              </a:rPr>
              <a:t>Que se hizo:</a:t>
            </a:r>
          </a:p>
        </p:txBody>
      </p:sp>
      <p:sp>
        <p:nvSpPr>
          <p:cNvPr id="11" name="TextBox 10"/>
          <p:cNvSpPr txBox="1"/>
          <p:nvPr/>
        </p:nvSpPr>
        <p:spPr>
          <a:xfrm>
            <a:off x="320040" y="1536192"/>
            <a:ext cx="11521440" cy="530352"/>
          </a:xfrm>
          <a:prstGeom prst="rect">
            <a:avLst/>
          </a:prstGeom>
          <a:noFill/>
        </p:spPr>
        <p:txBody>
          <a:bodyPr wrap="square">
            <a:spAutoFit/>
          </a:bodyPr>
          <a:lstStyle/>
          <a:p>
            <a:pPr algn="l"/>
            <a:r>
              <a:rPr sz="1200" b="0" i="0">
                <a:solidFill>
                  <a:srgbClr val="1A1A1A"/>
                </a:solidFill>
              </a:rPr>
              <a:t>Para cada dumpada ingresada, la colaboradora registro en el sistema el envio de la muestra fisica al laboratorio. Esto actualiza el estado de la dumpada y deja constancia de la fecha y hora del despacho de la muestra.</a:t>
            </a:r>
          </a:p>
        </p:txBody>
      </p:sp>
      <p:sp>
        <p:nvSpPr>
          <p:cNvPr id="12" name="Rectangle 11"/>
          <p:cNvSpPr/>
          <p:nvPr/>
        </p:nvSpPr>
        <p:spPr>
          <a:xfrm>
            <a:off x="320040" y="2194560"/>
            <a:ext cx="5577840" cy="3200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2194560"/>
            <a:ext cx="5577840" cy="3200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2194560"/>
            <a:ext cx="5577840" cy="329184"/>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2194560"/>
            <a:ext cx="5577840"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12848"/>
            <a:ext cx="5303520" cy="292608"/>
          </a:xfrm>
          <a:prstGeom prst="rect">
            <a:avLst/>
          </a:prstGeom>
          <a:noFill/>
        </p:spPr>
        <p:txBody>
          <a:bodyPr wrap="square">
            <a:spAutoFit/>
          </a:bodyPr>
          <a:lstStyle/>
          <a:p>
            <a:pPr algn="l"/>
            <a:r>
              <a:rPr sz="1100" b="1" i="0">
                <a:solidFill>
                  <a:srgbClr val="FFFFFF"/>
                </a:solidFill>
              </a:rPr>
              <a:t>En Terreno (accion fisica)</a:t>
            </a:r>
          </a:p>
        </p:txBody>
      </p:sp>
      <p:sp>
        <p:nvSpPr>
          <p:cNvPr id="17" name="TextBox 16"/>
          <p:cNvSpPr txBox="1"/>
          <p:nvPr/>
        </p:nvSpPr>
        <p:spPr>
          <a:xfrm>
            <a:off x="6172200" y="2212848"/>
            <a:ext cx="5303520" cy="292608"/>
          </a:xfrm>
          <a:prstGeom prst="rect">
            <a:avLst/>
          </a:prstGeom>
          <a:noFill/>
        </p:spPr>
        <p:txBody>
          <a:bodyPr wrap="square">
            <a:spAutoFit/>
          </a:bodyPr>
          <a:lstStyle/>
          <a:p>
            <a:pPr algn="l"/>
            <a:r>
              <a:rPr sz="1100" b="1" i="0">
                <a:solidFill>
                  <a:srgbClr val="FFFFFF"/>
                </a:solidFill>
              </a:rPr>
              <a:t>En Sistema (accion digital)</a:t>
            </a:r>
          </a:p>
        </p:txBody>
      </p:sp>
      <p:sp>
        <p:nvSpPr>
          <p:cNvPr id="18" name="Rectangle 17"/>
          <p:cNvSpPr/>
          <p:nvPr/>
        </p:nvSpPr>
        <p:spPr>
          <a:xfrm>
            <a:off x="411480" y="2615184"/>
            <a:ext cx="5394960" cy="43891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670048"/>
            <a:ext cx="5120640" cy="347472"/>
          </a:xfrm>
          <a:prstGeom prst="rect">
            <a:avLst/>
          </a:prstGeom>
          <a:noFill/>
        </p:spPr>
        <p:txBody>
          <a:bodyPr wrap="square">
            <a:spAutoFit/>
          </a:bodyPr>
          <a:lstStyle/>
          <a:p>
            <a:pPr algn="l"/>
            <a:r>
              <a:rPr sz="1100" b="0" i="0">
                <a:solidFill>
                  <a:srgbClr val="1A1A1A"/>
                </a:solidFill>
              </a:rPr>
              <a:t>- Tomar muestra representativa del material</a:t>
            </a:r>
          </a:p>
        </p:txBody>
      </p:sp>
      <p:sp>
        <p:nvSpPr>
          <p:cNvPr id="20" name="Rectangle 19"/>
          <p:cNvSpPr/>
          <p:nvPr/>
        </p:nvSpPr>
        <p:spPr>
          <a:xfrm>
            <a:off x="6126480" y="2615184"/>
            <a:ext cx="5394960" cy="43891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45352" y="2670048"/>
            <a:ext cx="5120640" cy="347472"/>
          </a:xfrm>
          <a:prstGeom prst="rect">
            <a:avLst/>
          </a:prstGeom>
          <a:noFill/>
        </p:spPr>
        <p:txBody>
          <a:bodyPr wrap="square">
            <a:spAutoFit/>
          </a:bodyPr>
          <a:lstStyle/>
          <a:p>
            <a:pPr algn="l"/>
            <a:r>
              <a:rPr sz="1100" b="0" i="0">
                <a:solidFill>
                  <a:srgbClr val="1A1A1A"/>
                </a:solidFill>
              </a:rPr>
              <a:t>- Seleccionar dumpada(s) a marcar como enviadas</a:t>
            </a:r>
          </a:p>
        </p:txBody>
      </p:sp>
      <p:sp>
        <p:nvSpPr>
          <p:cNvPr id="22" name="Rectangle 21"/>
          <p:cNvSpPr/>
          <p:nvPr/>
        </p:nvSpPr>
        <p:spPr>
          <a:xfrm>
            <a:off x="411480" y="3090672"/>
            <a:ext cx="5394960" cy="43891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145536"/>
            <a:ext cx="5120640" cy="347472"/>
          </a:xfrm>
          <a:prstGeom prst="rect">
            <a:avLst/>
          </a:prstGeom>
          <a:noFill/>
        </p:spPr>
        <p:txBody>
          <a:bodyPr wrap="square">
            <a:spAutoFit/>
          </a:bodyPr>
          <a:lstStyle/>
          <a:p>
            <a:pPr algn="l"/>
            <a:r>
              <a:rPr sz="1100" b="0" i="0">
                <a:solidFill>
                  <a:srgbClr val="1A1A1A"/>
                </a:solidFill>
              </a:rPr>
              <a:t>- Etiquetar con el numero de dumpada</a:t>
            </a:r>
          </a:p>
        </p:txBody>
      </p:sp>
      <p:sp>
        <p:nvSpPr>
          <p:cNvPr id="24" name="Rectangle 23"/>
          <p:cNvSpPr/>
          <p:nvPr/>
        </p:nvSpPr>
        <p:spPr>
          <a:xfrm>
            <a:off x="6126480" y="3090672"/>
            <a:ext cx="5394960" cy="43891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5352" y="3145536"/>
            <a:ext cx="5120640" cy="347472"/>
          </a:xfrm>
          <a:prstGeom prst="rect">
            <a:avLst/>
          </a:prstGeom>
          <a:noFill/>
        </p:spPr>
        <p:txBody>
          <a:bodyPr wrap="square">
            <a:spAutoFit/>
          </a:bodyPr>
          <a:lstStyle/>
          <a:p>
            <a:pPr algn="l"/>
            <a:r>
              <a:rPr sz="1100" b="0" i="0">
                <a:solidFill>
                  <a:srgbClr val="1A1A1A"/>
                </a:solidFill>
              </a:rPr>
              <a:t>- Registrar el envio en el modulo Laboratorio</a:t>
            </a:r>
          </a:p>
        </p:txBody>
      </p:sp>
      <p:sp>
        <p:nvSpPr>
          <p:cNvPr id="26" name="Rectangle 25"/>
          <p:cNvSpPr/>
          <p:nvPr/>
        </p:nvSpPr>
        <p:spPr>
          <a:xfrm>
            <a:off x="411480" y="3566160"/>
            <a:ext cx="5394960" cy="43891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621024"/>
            <a:ext cx="5120640" cy="347472"/>
          </a:xfrm>
          <a:prstGeom prst="rect">
            <a:avLst/>
          </a:prstGeom>
          <a:noFill/>
        </p:spPr>
        <p:txBody>
          <a:bodyPr wrap="square">
            <a:spAutoFit/>
          </a:bodyPr>
          <a:lstStyle/>
          <a:p>
            <a:pPr algn="l"/>
            <a:r>
              <a:rPr sz="1100" b="0" i="0">
                <a:solidFill>
                  <a:srgbClr val="1A1A1A"/>
                </a:solidFill>
              </a:rPr>
              <a:t>- Enviar fisicamente al laboratorio</a:t>
            </a:r>
          </a:p>
        </p:txBody>
      </p:sp>
      <p:sp>
        <p:nvSpPr>
          <p:cNvPr id="28" name="Rectangle 27"/>
          <p:cNvSpPr/>
          <p:nvPr/>
        </p:nvSpPr>
        <p:spPr>
          <a:xfrm>
            <a:off x="6126480" y="3566160"/>
            <a:ext cx="5394960" cy="43891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5352" y="3621024"/>
            <a:ext cx="5120640" cy="347472"/>
          </a:xfrm>
          <a:prstGeom prst="rect">
            <a:avLst/>
          </a:prstGeom>
          <a:noFill/>
        </p:spPr>
        <p:txBody>
          <a:bodyPr wrap="square">
            <a:spAutoFit/>
          </a:bodyPr>
          <a:lstStyle/>
          <a:p>
            <a:pPr algn="l"/>
            <a:r>
              <a:rPr sz="1100" b="0" i="0">
                <a:solidFill>
                  <a:srgbClr val="1A1A1A"/>
                </a:solidFill>
              </a:rPr>
              <a:t>- Sistema actualiza estado: MUESTRA ENVIADA</a:t>
            </a:r>
          </a:p>
        </p:txBody>
      </p:sp>
      <p:sp>
        <p:nvSpPr>
          <p:cNvPr id="30" name="Rectangle 29"/>
          <p:cNvSpPr/>
          <p:nvPr/>
        </p:nvSpPr>
        <p:spPr>
          <a:xfrm>
            <a:off x="320040" y="553212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5623560"/>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641848"/>
            <a:ext cx="11338560" cy="310896"/>
          </a:xfrm>
          <a:prstGeom prst="rect">
            <a:avLst/>
          </a:prstGeom>
          <a:noFill/>
        </p:spPr>
        <p:txBody>
          <a:bodyPr wrap="square">
            <a:spAutoFit/>
          </a:bodyPr>
          <a:lstStyle/>
          <a:p>
            <a:pPr algn="l"/>
            <a:r>
              <a:rPr sz="1100" b="1" i="0">
                <a:solidFill>
                  <a:srgbClr val="155724"/>
                </a:solidFill>
              </a:rPr>
              <a:t>Resultado: todas las dumpadas de mayo quedaron con estado MUESTRA ENVIADA, habilitando el ingreso de resultados por parte del laboratorio.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Modulo de envio de muestras al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La colaboradora utilizo esta vista para marcar cada dumpada como 'muestra enviada'. La pantalla lista las dumpadas en estado INGRESADO con muestra pendiente de registrar. Al confirmar, el sistema actualiza automaticamente el estado y registra la fecha y hora del envio, dejando trazabilidad completa del proceso de muestreo.</a:t>
            </a:r>
          </a:p>
        </p:txBody>
      </p:sp>
      <p:sp>
        <p:nvSpPr>
          <p:cNvPr id="11" name="Rectangle 10"/>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Vista del modulo de envio de muestras utilizado para registrar los despachos al laboratorio</a:t>
            </a:r>
          </a:p>
        </p:txBody>
      </p:sp>
      <p:pic>
        <p:nvPicPr>
          <p:cNvPr id="13" name="Picture 12" descr="paso2_envio_muestras.png"/>
          <p:cNvPicPr>
            <a:picLocks noChangeAspect="1"/>
          </p:cNvPicPr>
          <p:nvPr/>
        </p:nvPicPr>
        <p:blipFill>
          <a:blip r:embed="rId2"/>
          <a:stretch>
            <a:fillRect/>
          </a:stretch>
        </p:blipFill>
        <p:spPr>
          <a:xfrm>
            <a:off x="1635853" y="2231136"/>
            <a:ext cx="8917245" cy="40690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Leyes del Laboratorio  [COMPLETADO]</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 ingresaron los resultados del analisis quimico para cada dumpada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97280"/>
            <a:ext cx="2194560" cy="347472"/>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2194560" cy="347472"/>
          </a:xfrm>
          <a:prstGeom prst="rect">
            <a:avLst/>
          </a:prstGeom>
          <a:noFill/>
        </p:spPr>
        <p:txBody>
          <a:bodyPr wrap="square">
            <a:spAutoFit/>
          </a:bodyPr>
          <a:lstStyle/>
          <a:p>
            <a:pPr algn="ctr"/>
            <a:r>
              <a:rPr sz="1200" b="1" i="0">
                <a:solidFill>
                  <a:srgbClr val="155724"/>
                </a:solidFill>
              </a:rPr>
              <a:t>COMPLETADO</a:t>
            </a:r>
          </a:p>
        </p:txBody>
      </p:sp>
      <p:sp>
        <p:nvSpPr>
          <p:cNvPr id="10" name="TextBox 9"/>
          <p:cNvSpPr txBox="1"/>
          <p:nvPr/>
        </p:nvSpPr>
        <p:spPr>
          <a:xfrm>
            <a:off x="2743200" y="1115568"/>
            <a:ext cx="8961120" cy="292608"/>
          </a:xfrm>
          <a:prstGeom prst="rect">
            <a:avLst/>
          </a:prstGeom>
          <a:noFill/>
        </p:spPr>
        <p:txBody>
          <a:bodyPr wrap="square">
            <a:spAutoFit/>
          </a:bodyPr>
          <a:lstStyle/>
          <a:p>
            <a:pPr algn="l"/>
            <a:r>
              <a:rPr sz="1300" b="1" i="0">
                <a:solidFill>
                  <a:srgbClr val="8B3A00"/>
                </a:solidFill>
              </a:rPr>
              <a:t>Que se hizo:</a:t>
            </a:r>
          </a:p>
        </p:txBody>
      </p:sp>
      <p:sp>
        <p:nvSpPr>
          <p:cNvPr id="11" name="TextBox 10"/>
          <p:cNvSpPr txBox="1"/>
          <p:nvPr/>
        </p:nvSpPr>
        <p:spPr>
          <a:xfrm>
            <a:off x="320040" y="1536192"/>
            <a:ext cx="11521440" cy="475488"/>
          </a:xfrm>
          <a:prstGeom prst="rect">
            <a:avLst/>
          </a:prstGeom>
          <a:noFill/>
        </p:spPr>
        <p:txBody>
          <a:bodyPr wrap="square">
            <a:spAutoFit/>
          </a:bodyPr>
          <a:lstStyle/>
          <a:p>
            <a:pPr algn="l"/>
            <a:r>
              <a:rPr sz="1200" b="0" i="0">
                <a:solidFill>
                  <a:srgbClr val="1A1A1A"/>
                </a:solidFill>
              </a:rPr>
              <a:t>Con los resultados del analisis quimico disponibles, la colaboradora ingreso las leyes de cada muestra en el sistema. El Cu Insoluble se calcula automaticamente.</a:t>
            </a:r>
          </a:p>
        </p:txBody>
      </p:sp>
      <p:sp>
        <p:nvSpPr>
          <p:cNvPr id="12" name="TextBox 11"/>
          <p:cNvSpPr txBox="1"/>
          <p:nvPr/>
        </p:nvSpPr>
        <p:spPr>
          <a:xfrm>
            <a:off x="320040" y="2103120"/>
            <a:ext cx="11521440" cy="274320"/>
          </a:xfrm>
          <a:prstGeom prst="rect">
            <a:avLst/>
          </a:prstGeom>
          <a:noFill/>
        </p:spPr>
        <p:txBody>
          <a:bodyPr wrap="square">
            <a:spAutoFit/>
          </a:bodyPr>
          <a:lstStyle/>
          <a:p>
            <a:pPr algn="l"/>
            <a:r>
              <a:rPr sz="1200" b="1" i="0">
                <a:solidFill>
                  <a:srgbClr val="8B3A00"/>
                </a:solidFill>
              </a:rPr>
              <a:t>Parametros ingresados por dumpada:</a:t>
            </a:r>
          </a:p>
        </p:txBody>
      </p:sp>
      <p:sp>
        <p:nvSpPr>
          <p:cNvPr id="13" name="Rectangle 12"/>
          <p:cNvSpPr/>
          <p:nvPr/>
        </p:nvSpPr>
        <p:spPr>
          <a:xfrm>
            <a:off x="320040" y="2423160"/>
            <a:ext cx="11521440"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441448"/>
            <a:ext cx="2560320" cy="292608"/>
          </a:xfrm>
          <a:prstGeom prst="rect">
            <a:avLst/>
          </a:prstGeom>
          <a:noFill/>
        </p:spPr>
        <p:txBody>
          <a:bodyPr wrap="square">
            <a:spAutoFit/>
          </a:bodyPr>
          <a:lstStyle/>
          <a:p>
            <a:pPr algn="l"/>
            <a:r>
              <a:rPr sz="1100" b="1" i="0">
                <a:solidFill>
                  <a:srgbClr val="FFFFFF"/>
                </a:solidFill>
              </a:rPr>
              <a:t>Parametro</a:t>
            </a:r>
          </a:p>
        </p:txBody>
      </p:sp>
      <p:sp>
        <p:nvSpPr>
          <p:cNvPr id="15" name="TextBox 14"/>
          <p:cNvSpPr txBox="1"/>
          <p:nvPr/>
        </p:nvSpPr>
        <p:spPr>
          <a:xfrm>
            <a:off x="3017520" y="2441448"/>
            <a:ext cx="4114800" cy="292608"/>
          </a:xfrm>
          <a:prstGeom prst="rect">
            <a:avLst/>
          </a:prstGeom>
          <a:noFill/>
        </p:spPr>
        <p:txBody>
          <a:bodyPr wrap="square">
            <a:spAutoFit/>
          </a:bodyPr>
          <a:lstStyle/>
          <a:p>
            <a:pPr algn="l"/>
            <a:r>
              <a:rPr sz="1100" b="1" i="0">
                <a:solidFill>
                  <a:srgbClr val="FFFFFF"/>
                </a:solidFill>
              </a:rPr>
              <a:t>Descripcion</a:t>
            </a:r>
          </a:p>
        </p:txBody>
      </p:sp>
      <p:sp>
        <p:nvSpPr>
          <p:cNvPr id="16" name="TextBox 15"/>
          <p:cNvSpPr txBox="1"/>
          <p:nvPr/>
        </p:nvSpPr>
        <p:spPr>
          <a:xfrm>
            <a:off x="7178040" y="2441448"/>
            <a:ext cx="2468880" cy="292608"/>
          </a:xfrm>
          <a:prstGeom prst="rect">
            <a:avLst/>
          </a:prstGeom>
          <a:noFill/>
        </p:spPr>
        <p:txBody>
          <a:bodyPr wrap="square">
            <a:spAutoFit/>
          </a:bodyPr>
          <a:lstStyle/>
          <a:p>
            <a:pPr algn="l"/>
            <a:r>
              <a:rPr sz="1100" b="1" i="0">
                <a:solidFill>
                  <a:srgbClr val="FFFFFF"/>
                </a:solidFill>
              </a:rPr>
              <a:t>Quién lo ingresa</a:t>
            </a:r>
          </a:p>
        </p:txBody>
      </p:sp>
      <p:sp>
        <p:nvSpPr>
          <p:cNvPr id="17" name="TextBox 16"/>
          <p:cNvSpPr txBox="1"/>
          <p:nvPr/>
        </p:nvSpPr>
        <p:spPr>
          <a:xfrm>
            <a:off x="9692640" y="2441448"/>
            <a:ext cx="2103120" cy="292608"/>
          </a:xfrm>
          <a:prstGeom prst="rect">
            <a:avLst/>
          </a:prstGeom>
          <a:noFill/>
        </p:spPr>
        <p:txBody>
          <a:bodyPr wrap="square">
            <a:spAutoFit/>
          </a:bodyPr>
          <a:lstStyle/>
          <a:p>
            <a:pPr algn="l"/>
            <a:r>
              <a:rPr sz="1100" b="1" i="0">
                <a:solidFill>
                  <a:srgbClr val="FFFFFF"/>
                </a:solidFill>
              </a:rPr>
              <a:t>Resultado</a:t>
            </a:r>
          </a:p>
        </p:txBody>
      </p:sp>
      <p:sp>
        <p:nvSpPr>
          <p:cNvPr id="18" name="Rectangle 17"/>
          <p:cNvSpPr/>
          <p:nvPr/>
        </p:nvSpPr>
        <p:spPr>
          <a:xfrm>
            <a:off x="320040" y="2770632"/>
            <a:ext cx="11521440" cy="44805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816351"/>
            <a:ext cx="2560320" cy="365760"/>
          </a:xfrm>
          <a:prstGeom prst="rect">
            <a:avLst/>
          </a:prstGeom>
          <a:noFill/>
        </p:spPr>
        <p:txBody>
          <a:bodyPr wrap="square">
            <a:spAutoFit/>
          </a:bodyPr>
          <a:lstStyle/>
          <a:p>
            <a:pPr algn="l"/>
            <a:r>
              <a:rPr sz="1100" b="1" i="0">
                <a:solidFill>
                  <a:srgbClr val="E06010"/>
                </a:solidFill>
              </a:rPr>
              <a:t>Cu Total (%)</a:t>
            </a:r>
          </a:p>
        </p:txBody>
      </p:sp>
      <p:sp>
        <p:nvSpPr>
          <p:cNvPr id="20" name="TextBox 19"/>
          <p:cNvSpPr txBox="1"/>
          <p:nvPr/>
        </p:nvSpPr>
        <p:spPr>
          <a:xfrm>
            <a:off x="3017520" y="2816351"/>
            <a:ext cx="4114800" cy="365760"/>
          </a:xfrm>
          <a:prstGeom prst="rect">
            <a:avLst/>
          </a:prstGeom>
          <a:noFill/>
        </p:spPr>
        <p:txBody>
          <a:bodyPr wrap="square">
            <a:spAutoFit/>
          </a:bodyPr>
          <a:lstStyle/>
          <a:p>
            <a:pPr algn="l"/>
            <a:r>
              <a:rPr sz="1100" b="0" i="0">
                <a:solidFill>
                  <a:srgbClr val="1A1A1A"/>
                </a:solidFill>
              </a:rPr>
              <a:t>Cobre total en la muestra</a:t>
            </a:r>
          </a:p>
        </p:txBody>
      </p:sp>
      <p:sp>
        <p:nvSpPr>
          <p:cNvPr id="21" name="TextBox 20"/>
          <p:cNvSpPr txBox="1"/>
          <p:nvPr/>
        </p:nvSpPr>
        <p:spPr>
          <a:xfrm>
            <a:off x="7178040" y="2816351"/>
            <a:ext cx="2468880" cy="365760"/>
          </a:xfrm>
          <a:prstGeom prst="rect">
            <a:avLst/>
          </a:prstGeom>
          <a:noFill/>
        </p:spPr>
        <p:txBody>
          <a:bodyPr wrap="square">
            <a:spAutoFit/>
          </a:bodyPr>
          <a:lstStyle/>
          <a:p>
            <a:pPr algn="l"/>
            <a:r>
              <a:rPr sz="1000" b="0" i="0">
                <a:solidFill>
                  <a:srgbClr val="888888"/>
                </a:solidFill>
              </a:rPr>
              <a:t>Colaboradora / Lab</a:t>
            </a:r>
          </a:p>
        </p:txBody>
      </p:sp>
      <p:sp>
        <p:nvSpPr>
          <p:cNvPr id="22" name="TextBox 21"/>
          <p:cNvSpPr txBox="1"/>
          <p:nvPr/>
        </p:nvSpPr>
        <p:spPr>
          <a:xfrm>
            <a:off x="9692640" y="2816351"/>
            <a:ext cx="2103120" cy="365760"/>
          </a:xfrm>
          <a:prstGeom prst="rect">
            <a:avLst/>
          </a:prstGeom>
          <a:noFill/>
        </p:spPr>
        <p:txBody>
          <a:bodyPr wrap="square">
            <a:spAutoFit/>
          </a:bodyPr>
          <a:lstStyle/>
          <a:p>
            <a:pPr algn="l"/>
            <a:r>
              <a:rPr sz="1000" b="0" i="0">
                <a:solidFill>
                  <a:srgbClr val="1A1A1A"/>
                </a:solidFill>
              </a:rPr>
              <a:t>Disponible para mezclas</a:t>
            </a:r>
          </a:p>
        </p:txBody>
      </p:sp>
      <p:sp>
        <p:nvSpPr>
          <p:cNvPr id="23" name="Rectangle 22"/>
          <p:cNvSpPr/>
          <p:nvPr/>
        </p:nvSpPr>
        <p:spPr>
          <a:xfrm>
            <a:off x="320040" y="3246120"/>
            <a:ext cx="11521440" cy="44805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3291839"/>
            <a:ext cx="2560320" cy="365760"/>
          </a:xfrm>
          <a:prstGeom prst="rect">
            <a:avLst/>
          </a:prstGeom>
          <a:noFill/>
        </p:spPr>
        <p:txBody>
          <a:bodyPr wrap="square">
            <a:spAutoFit/>
          </a:bodyPr>
          <a:lstStyle/>
          <a:p>
            <a:pPr algn="l"/>
            <a:r>
              <a:rPr sz="1100" b="1" i="0">
                <a:solidFill>
                  <a:srgbClr val="E06010"/>
                </a:solidFill>
              </a:rPr>
              <a:t>Cu Soluble (%)</a:t>
            </a:r>
          </a:p>
        </p:txBody>
      </p:sp>
      <p:sp>
        <p:nvSpPr>
          <p:cNvPr id="25" name="TextBox 24"/>
          <p:cNvSpPr txBox="1"/>
          <p:nvPr/>
        </p:nvSpPr>
        <p:spPr>
          <a:xfrm>
            <a:off x="3017520" y="3291839"/>
            <a:ext cx="4114800" cy="365760"/>
          </a:xfrm>
          <a:prstGeom prst="rect">
            <a:avLst/>
          </a:prstGeom>
          <a:noFill/>
        </p:spPr>
        <p:txBody>
          <a:bodyPr wrap="square">
            <a:spAutoFit/>
          </a:bodyPr>
          <a:lstStyle/>
          <a:p>
            <a:pPr algn="l"/>
            <a:r>
              <a:rPr sz="1100" b="0" i="0">
                <a:solidFill>
                  <a:srgbClr val="1A1A1A"/>
                </a:solidFill>
              </a:rPr>
              <a:t>Fraccion soluble en acido</a:t>
            </a:r>
          </a:p>
        </p:txBody>
      </p:sp>
      <p:sp>
        <p:nvSpPr>
          <p:cNvPr id="26" name="TextBox 25"/>
          <p:cNvSpPr txBox="1"/>
          <p:nvPr/>
        </p:nvSpPr>
        <p:spPr>
          <a:xfrm>
            <a:off x="7178040" y="3291839"/>
            <a:ext cx="2468880" cy="365760"/>
          </a:xfrm>
          <a:prstGeom prst="rect">
            <a:avLst/>
          </a:prstGeom>
          <a:noFill/>
        </p:spPr>
        <p:txBody>
          <a:bodyPr wrap="square">
            <a:spAutoFit/>
          </a:bodyPr>
          <a:lstStyle/>
          <a:p>
            <a:pPr algn="l"/>
            <a:r>
              <a:rPr sz="1000" b="0" i="0">
                <a:solidFill>
                  <a:srgbClr val="888888"/>
                </a:solidFill>
              </a:rPr>
              <a:t>Colaboradora / Lab</a:t>
            </a:r>
          </a:p>
        </p:txBody>
      </p:sp>
      <p:sp>
        <p:nvSpPr>
          <p:cNvPr id="27" name="TextBox 26"/>
          <p:cNvSpPr txBox="1"/>
          <p:nvPr/>
        </p:nvSpPr>
        <p:spPr>
          <a:xfrm>
            <a:off x="9692640" y="3291839"/>
            <a:ext cx="2103120" cy="365760"/>
          </a:xfrm>
          <a:prstGeom prst="rect">
            <a:avLst/>
          </a:prstGeom>
          <a:noFill/>
        </p:spPr>
        <p:txBody>
          <a:bodyPr wrap="square">
            <a:spAutoFit/>
          </a:bodyPr>
          <a:lstStyle/>
          <a:p>
            <a:pPr algn="l"/>
            <a:r>
              <a:rPr sz="1000" b="0" i="0">
                <a:solidFill>
                  <a:srgbClr val="1A1A1A"/>
                </a:solidFill>
              </a:rPr>
              <a:t>Disponible para mezclas</a:t>
            </a:r>
          </a:p>
        </p:txBody>
      </p:sp>
      <p:sp>
        <p:nvSpPr>
          <p:cNvPr id="28" name="Rectangle 27"/>
          <p:cNvSpPr/>
          <p:nvPr/>
        </p:nvSpPr>
        <p:spPr>
          <a:xfrm>
            <a:off x="320040" y="3721608"/>
            <a:ext cx="11521440" cy="448056"/>
          </a:xfrm>
          <a:prstGeom prst="rect">
            <a:avLst/>
          </a:prstGeom>
          <a:solidFill>
            <a:srgbClr val="D4EDDA"/>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767328"/>
            <a:ext cx="2560320" cy="365760"/>
          </a:xfrm>
          <a:prstGeom prst="rect">
            <a:avLst/>
          </a:prstGeom>
          <a:noFill/>
        </p:spPr>
        <p:txBody>
          <a:bodyPr wrap="square">
            <a:spAutoFit/>
          </a:bodyPr>
          <a:lstStyle/>
          <a:p>
            <a:pPr algn="l"/>
            <a:r>
              <a:rPr sz="1100" b="1" i="0">
                <a:solidFill>
                  <a:srgbClr val="E06010"/>
                </a:solidFill>
              </a:rPr>
              <a:t>Cu Insoluble (%)</a:t>
            </a:r>
          </a:p>
        </p:txBody>
      </p:sp>
      <p:sp>
        <p:nvSpPr>
          <p:cNvPr id="30" name="TextBox 29"/>
          <p:cNvSpPr txBox="1"/>
          <p:nvPr/>
        </p:nvSpPr>
        <p:spPr>
          <a:xfrm>
            <a:off x="3017520" y="3767328"/>
            <a:ext cx="4114800" cy="365760"/>
          </a:xfrm>
          <a:prstGeom prst="rect">
            <a:avLst/>
          </a:prstGeom>
          <a:noFill/>
        </p:spPr>
        <p:txBody>
          <a:bodyPr wrap="square">
            <a:spAutoFit/>
          </a:bodyPr>
          <a:lstStyle/>
          <a:p>
            <a:pPr algn="l"/>
            <a:r>
              <a:rPr sz="1100" b="0" i="0">
                <a:solidFill>
                  <a:srgbClr val="1A1A1A"/>
                </a:solidFill>
              </a:rPr>
              <a:t>Fraccion insoluble</a:t>
            </a:r>
          </a:p>
        </p:txBody>
      </p:sp>
      <p:sp>
        <p:nvSpPr>
          <p:cNvPr id="31" name="TextBox 30"/>
          <p:cNvSpPr txBox="1"/>
          <p:nvPr/>
        </p:nvSpPr>
        <p:spPr>
          <a:xfrm>
            <a:off x="7178040" y="3767328"/>
            <a:ext cx="2468880" cy="365760"/>
          </a:xfrm>
          <a:prstGeom prst="rect">
            <a:avLst/>
          </a:prstGeom>
          <a:noFill/>
        </p:spPr>
        <p:txBody>
          <a:bodyPr wrap="square">
            <a:spAutoFit/>
          </a:bodyPr>
          <a:lstStyle/>
          <a:p>
            <a:pPr algn="l"/>
            <a:r>
              <a:rPr sz="1000" b="1" i="0">
                <a:solidFill>
                  <a:srgbClr val="155724"/>
                </a:solidFill>
              </a:rPr>
              <a:t>CALCULADO AUTOMATICAMENTE</a:t>
            </a:r>
          </a:p>
        </p:txBody>
      </p:sp>
      <p:sp>
        <p:nvSpPr>
          <p:cNvPr id="32" name="TextBox 31"/>
          <p:cNvSpPr txBox="1"/>
          <p:nvPr/>
        </p:nvSpPr>
        <p:spPr>
          <a:xfrm>
            <a:off x="9692640" y="3767328"/>
            <a:ext cx="2103120" cy="365760"/>
          </a:xfrm>
          <a:prstGeom prst="rect">
            <a:avLst/>
          </a:prstGeom>
          <a:noFill/>
        </p:spPr>
        <p:txBody>
          <a:bodyPr wrap="square">
            <a:spAutoFit/>
          </a:bodyPr>
          <a:lstStyle/>
          <a:p>
            <a:pPr algn="l"/>
            <a:r>
              <a:rPr sz="1000" b="0" i="0">
                <a:solidFill>
                  <a:srgbClr val="1A1A1A"/>
                </a:solidFill>
              </a:rPr>
              <a:t>Cu Total menos Cu Soluble</a:t>
            </a:r>
          </a:p>
        </p:txBody>
      </p:sp>
      <p:sp>
        <p:nvSpPr>
          <p:cNvPr id="33" name="Rectangle 32"/>
          <p:cNvSpPr/>
          <p:nvPr/>
        </p:nvSpPr>
        <p:spPr>
          <a:xfrm>
            <a:off x="320040" y="4197096"/>
            <a:ext cx="11521440" cy="44805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4242816"/>
            <a:ext cx="2560320" cy="365760"/>
          </a:xfrm>
          <a:prstGeom prst="rect">
            <a:avLst/>
          </a:prstGeom>
          <a:noFill/>
        </p:spPr>
        <p:txBody>
          <a:bodyPr wrap="square">
            <a:spAutoFit/>
          </a:bodyPr>
          <a:lstStyle/>
          <a:p>
            <a:pPr algn="l"/>
            <a:r>
              <a:rPr sz="1100" b="1" i="0">
                <a:solidFill>
                  <a:srgbClr val="E06010"/>
                </a:solidFill>
              </a:rPr>
              <a:t>Humedad (%)</a:t>
            </a:r>
          </a:p>
        </p:txBody>
      </p:sp>
      <p:sp>
        <p:nvSpPr>
          <p:cNvPr id="35" name="TextBox 34"/>
          <p:cNvSpPr txBox="1"/>
          <p:nvPr/>
        </p:nvSpPr>
        <p:spPr>
          <a:xfrm>
            <a:off x="3017520" y="4242816"/>
            <a:ext cx="4114800" cy="365760"/>
          </a:xfrm>
          <a:prstGeom prst="rect">
            <a:avLst/>
          </a:prstGeom>
          <a:noFill/>
        </p:spPr>
        <p:txBody>
          <a:bodyPr wrap="square">
            <a:spAutoFit/>
          </a:bodyPr>
          <a:lstStyle/>
          <a:p>
            <a:pPr algn="l"/>
            <a:r>
              <a:rPr sz="1100" b="0" i="0">
                <a:solidFill>
                  <a:srgbClr val="1A1A1A"/>
                </a:solidFill>
              </a:rPr>
              <a:t>Contenido de agua</a:t>
            </a:r>
          </a:p>
        </p:txBody>
      </p:sp>
      <p:sp>
        <p:nvSpPr>
          <p:cNvPr id="36" name="TextBox 35"/>
          <p:cNvSpPr txBox="1"/>
          <p:nvPr/>
        </p:nvSpPr>
        <p:spPr>
          <a:xfrm>
            <a:off x="7178040" y="4242816"/>
            <a:ext cx="2468880" cy="365760"/>
          </a:xfrm>
          <a:prstGeom prst="rect">
            <a:avLst/>
          </a:prstGeom>
          <a:noFill/>
        </p:spPr>
        <p:txBody>
          <a:bodyPr wrap="square">
            <a:spAutoFit/>
          </a:bodyPr>
          <a:lstStyle/>
          <a:p>
            <a:pPr algn="l"/>
            <a:r>
              <a:rPr sz="1000" b="0" i="0">
                <a:solidFill>
                  <a:srgbClr val="888888"/>
                </a:solidFill>
              </a:rPr>
              <a:t>Colaboradora / Lab</a:t>
            </a:r>
          </a:p>
        </p:txBody>
      </p:sp>
      <p:sp>
        <p:nvSpPr>
          <p:cNvPr id="37" name="TextBox 36"/>
          <p:cNvSpPr txBox="1"/>
          <p:nvPr/>
        </p:nvSpPr>
        <p:spPr>
          <a:xfrm>
            <a:off x="9692640" y="4242816"/>
            <a:ext cx="2103120" cy="365760"/>
          </a:xfrm>
          <a:prstGeom prst="rect">
            <a:avLst/>
          </a:prstGeom>
          <a:noFill/>
        </p:spPr>
        <p:txBody>
          <a:bodyPr wrap="square">
            <a:spAutoFit/>
          </a:bodyPr>
          <a:lstStyle/>
          <a:p>
            <a:pPr algn="l"/>
            <a:r>
              <a:rPr sz="1000" b="0" i="0">
                <a:solidFill>
                  <a:srgbClr val="1A1A1A"/>
                </a:solidFill>
              </a:rPr>
              <a:t>Referencia para tonelaje seco</a:t>
            </a:r>
          </a:p>
        </p:txBody>
      </p:sp>
      <p:sp>
        <p:nvSpPr>
          <p:cNvPr id="38" name="Rectangle 37"/>
          <p:cNvSpPr/>
          <p:nvPr/>
        </p:nvSpPr>
        <p:spPr>
          <a:xfrm>
            <a:off x="320040" y="470916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0040" y="4800600"/>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818888"/>
            <a:ext cx="11338560" cy="310896"/>
          </a:xfrm>
          <a:prstGeom prst="rect">
            <a:avLst/>
          </a:prstGeom>
          <a:noFill/>
        </p:spPr>
        <p:txBody>
          <a:bodyPr wrap="square">
            <a:spAutoFit/>
          </a:bodyPr>
          <a:lstStyle/>
          <a:p>
            <a:pPr algn="l"/>
            <a:r>
              <a:rPr sz="1100" b="1" i="0">
                <a:solidFill>
                  <a:srgbClr val="155724"/>
                </a:solidFill>
              </a:rPr>
              <a:t>Resultado: todas las dumpadas de mayo cuentan con su ley registrada (estado CON ANALISIS). El sistema esta listo para el siguiente paso: creacion de mezclas.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Bandeja de muestras recibidas pendientes de analisis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modulo de laboratorio lista las muestras recibidas desde Dispatch, identificadas por numero de dumpada, frente y fecha de envio. La colaboradora pudo ver en esta pantalla el estado de recepcion de cada muestra antes de proceder al ingreso de resultados, verificando que la trazabilidad entre dumpada y muestra estuviera correcta.</a:t>
            </a:r>
          </a:p>
        </p:txBody>
      </p:sp>
      <p:sp>
        <p:nvSpPr>
          <p:cNvPr id="11" name="Rectangle 10"/>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Listado de muestras recibidas del mes de mayo — vista del modulo Laboratorio</a:t>
            </a:r>
          </a:p>
        </p:txBody>
      </p:sp>
      <p:pic>
        <p:nvPicPr>
          <p:cNvPr id="13" name="Picture 12" descr="paso3_laboratorio.png"/>
          <p:cNvPicPr>
            <a:picLocks noChangeAspect="1"/>
          </p:cNvPicPr>
          <p:nvPr/>
        </p:nvPicPr>
        <p:blipFill>
          <a:blip r:embed="rId2"/>
          <a:stretch>
            <a:fillRect/>
          </a:stretch>
        </p:blipFill>
        <p:spPr>
          <a:xfrm>
            <a:off x="1836971" y="2231136"/>
            <a:ext cx="8515009" cy="40690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resultados del analisis quimico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Para cada muestra, la colaboradora completo este formulario con los valores entregados por el laboratorio: Cu Total (%), Cu Soluble (%) y Humedad (%). El sistema calcula automaticamente el Cu Insoluble. Al guardar, la dumpada pasa a estado CON ANALISIS y queda disponible para ser incluida en una mezcla.</a:t>
            </a:r>
          </a:p>
        </p:txBody>
      </p:sp>
      <p:sp>
        <p:nvSpPr>
          <p:cNvPr id="11" name="Rectangle 10"/>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utilizado para registrar Cu Total, Cu Soluble y Humedad de cada muestra</a:t>
            </a:r>
          </a:p>
        </p:txBody>
      </p:sp>
      <p:pic>
        <p:nvPicPr>
          <p:cNvPr id="13" name="Picture 12" descr="paso3_laboratorio_analisis.png"/>
          <p:cNvPicPr>
            <a:picLocks noChangeAspect="1"/>
          </p:cNvPicPr>
          <p:nvPr/>
        </p:nvPicPr>
        <p:blipFill>
          <a:blip r:embed="rId2"/>
          <a:stretch>
            <a:fillRect/>
          </a:stretch>
        </p:blipFill>
        <p:spPr>
          <a:xfrm>
            <a:off x="1834938" y="2231136"/>
            <a:ext cx="8519076" cy="40690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Donde Estamos Ahora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Finalizando los primeros 3 pasos — a punto de iniciar Mezclas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411480" y="1417320"/>
            <a:ext cx="1572768" cy="1325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1572768" cy="274320"/>
          </a:xfrm>
          <a:prstGeom prst="rect">
            <a:avLst/>
          </a:prstGeom>
          <a:noFill/>
        </p:spPr>
        <p:txBody>
          <a:bodyPr wrap="square">
            <a:spAutoFit/>
          </a:bodyPr>
          <a:lstStyle/>
          <a:p>
            <a:pPr algn="ctr"/>
            <a:r>
              <a:rPr sz="1000" b="1" i="0">
                <a:solidFill>
                  <a:srgbClr val="FFFFFF"/>
                </a:solidFill>
              </a:rPr>
              <a:t>OK</a:t>
            </a:r>
          </a:p>
        </p:txBody>
      </p:sp>
      <p:sp>
        <p:nvSpPr>
          <p:cNvPr id="10" name="TextBox 9"/>
          <p:cNvSpPr txBox="1"/>
          <p:nvPr/>
        </p:nvSpPr>
        <p:spPr>
          <a:xfrm>
            <a:off x="411480" y="1691640"/>
            <a:ext cx="1572768" cy="365760"/>
          </a:xfrm>
          <a:prstGeom prst="rect">
            <a:avLst/>
          </a:prstGeom>
          <a:noFill/>
        </p:spPr>
        <p:txBody>
          <a:bodyPr wrap="square">
            <a:spAutoFit/>
          </a:bodyPr>
          <a:lstStyle/>
          <a:p>
            <a:pPr algn="ctr"/>
            <a:r>
              <a:rPr sz="2200" b="1" i="0">
                <a:solidFill>
                  <a:srgbClr val="FFFFFF"/>
                </a:solidFill>
              </a:rPr>
              <a:t>1</a:t>
            </a:r>
          </a:p>
        </p:txBody>
      </p:sp>
      <p:sp>
        <p:nvSpPr>
          <p:cNvPr id="11" name="TextBox 10"/>
          <p:cNvSpPr txBox="1"/>
          <p:nvPr/>
        </p:nvSpPr>
        <p:spPr>
          <a:xfrm>
            <a:off x="411480" y="2075688"/>
            <a:ext cx="1572768" cy="594360"/>
          </a:xfrm>
          <a:prstGeom prst="rect">
            <a:avLst/>
          </a:prstGeom>
          <a:noFill/>
        </p:spPr>
        <p:txBody>
          <a:bodyPr wrap="square">
            <a:spAutoFit/>
          </a:bodyPr>
          <a:lstStyle/>
          <a:p>
            <a:pPr algn="ctr"/>
            <a:r>
              <a:rPr sz="1200" b="1" i="0">
                <a:solidFill>
                  <a:srgbClr val="FFFFFF"/>
                </a:solidFill>
              </a:rPr>
              <a:t>Dumpadas</a:t>
            </a:r>
          </a:p>
        </p:txBody>
      </p:sp>
      <p:sp>
        <p:nvSpPr>
          <p:cNvPr id="12" name="TextBox 11"/>
          <p:cNvSpPr txBox="1"/>
          <p:nvPr/>
        </p:nvSpPr>
        <p:spPr>
          <a:xfrm>
            <a:off x="2029967" y="1874519"/>
            <a:ext cx="365760" cy="548640"/>
          </a:xfrm>
          <a:prstGeom prst="rect">
            <a:avLst/>
          </a:prstGeom>
          <a:noFill/>
        </p:spPr>
        <p:txBody>
          <a:bodyPr wrap="square">
            <a:spAutoFit/>
          </a:bodyPr>
          <a:lstStyle/>
          <a:p>
            <a:pPr algn="ctr"/>
            <a:r>
              <a:rPr sz="2200" b="1" i="0">
                <a:solidFill>
                  <a:srgbClr val="E06010"/>
                </a:solidFill>
              </a:rPr>
              <a:t>&gt;</a:t>
            </a:r>
          </a:p>
        </p:txBody>
      </p:sp>
      <p:sp>
        <p:nvSpPr>
          <p:cNvPr id="13" name="Rectangle 12"/>
          <p:cNvSpPr/>
          <p:nvPr/>
        </p:nvSpPr>
        <p:spPr>
          <a:xfrm>
            <a:off x="2386584" y="1417320"/>
            <a:ext cx="1572768" cy="1325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6584" y="1463040"/>
            <a:ext cx="1572768" cy="274320"/>
          </a:xfrm>
          <a:prstGeom prst="rect">
            <a:avLst/>
          </a:prstGeom>
          <a:noFill/>
        </p:spPr>
        <p:txBody>
          <a:bodyPr wrap="square">
            <a:spAutoFit/>
          </a:bodyPr>
          <a:lstStyle/>
          <a:p>
            <a:pPr algn="ctr"/>
            <a:r>
              <a:rPr sz="1000" b="1" i="0">
                <a:solidFill>
                  <a:srgbClr val="FFFFFF"/>
                </a:solidFill>
              </a:rPr>
              <a:t>OK</a:t>
            </a:r>
          </a:p>
        </p:txBody>
      </p:sp>
      <p:sp>
        <p:nvSpPr>
          <p:cNvPr id="15" name="TextBox 14"/>
          <p:cNvSpPr txBox="1"/>
          <p:nvPr/>
        </p:nvSpPr>
        <p:spPr>
          <a:xfrm>
            <a:off x="2386584" y="1691640"/>
            <a:ext cx="1572768" cy="365760"/>
          </a:xfrm>
          <a:prstGeom prst="rect">
            <a:avLst/>
          </a:prstGeom>
          <a:noFill/>
        </p:spPr>
        <p:txBody>
          <a:bodyPr wrap="square">
            <a:spAutoFit/>
          </a:bodyPr>
          <a:lstStyle/>
          <a:p>
            <a:pPr algn="ctr"/>
            <a:r>
              <a:rPr sz="2200" b="1" i="0">
                <a:solidFill>
                  <a:srgbClr val="FFFFFF"/>
                </a:solidFill>
              </a:rPr>
              <a:t>2</a:t>
            </a:r>
          </a:p>
        </p:txBody>
      </p:sp>
      <p:sp>
        <p:nvSpPr>
          <p:cNvPr id="16" name="TextBox 15"/>
          <p:cNvSpPr txBox="1"/>
          <p:nvPr/>
        </p:nvSpPr>
        <p:spPr>
          <a:xfrm>
            <a:off x="2386584" y="2075688"/>
            <a:ext cx="1572768" cy="594360"/>
          </a:xfrm>
          <a:prstGeom prst="rect">
            <a:avLst/>
          </a:prstGeom>
          <a:noFill/>
        </p:spPr>
        <p:txBody>
          <a:bodyPr wrap="square">
            <a:spAutoFit/>
          </a:bodyPr>
          <a:lstStyle/>
          <a:p>
            <a:pPr algn="ctr"/>
            <a:r>
              <a:rPr sz="1200" b="1" i="0">
                <a:solidFill>
                  <a:srgbClr val="FFFFFF"/>
                </a:solidFill>
              </a:rPr>
              <a:t>Muestras</a:t>
            </a:r>
          </a:p>
        </p:txBody>
      </p:sp>
      <p:sp>
        <p:nvSpPr>
          <p:cNvPr id="17" name="TextBox 16"/>
          <p:cNvSpPr txBox="1"/>
          <p:nvPr/>
        </p:nvSpPr>
        <p:spPr>
          <a:xfrm>
            <a:off x="4005072" y="1874519"/>
            <a:ext cx="365760" cy="548640"/>
          </a:xfrm>
          <a:prstGeom prst="rect">
            <a:avLst/>
          </a:prstGeom>
          <a:noFill/>
        </p:spPr>
        <p:txBody>
          <a:bodyPr wrap="square">
            <a:spAutoFit/>
          </a:bodyPr>
          <a:lstStyle/>
          <a:p>
            <a:pPr algn="ctr"/>
            <a:r>
              <a:rPr sz="2200" b="1" i="0">
                <a:solidFill>
                  <a:srgbClr val="E06010"/>
                </a:solidFill>
              </a:rPr>
              <a:t>&gt;</a:t>
            </a:r>
          </a:p>
        </p:txBody>
      </p:sp>
      <p:sp>
        <p:nvSpPr>
          <p:cNvPr id="18" name="Rectangle 17"/>
          <p:cNvSpPr/>
          <p:nvPr/>
        </p:nvSpPr>
        <p:spPr>
          <a:xfrm>
            <a:off x="4361688" y="1417320"/>
            <a:ext cx="1572768" cy="1325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1463040"/>
            <a:ext cx="1572768" cy="274320"/>
          </a:xfrm>
          <a:prstGeom prst="rect">
            <a:avLst/>
          </a:prstGeom>
          <a:noFill/>
        </p:spPr>
        <p:txBody>
          <a:bodyPr wrap="square">
            <a:spAutoFit/>
          </a:bodyPr>
          <a:lstStyle/>
          <a:p>
            <a:pPr algn="ctr"/>
            <a:r>
              <a:rPr sz="1000" b="1" i="0">
                <a:solidFill>
                  <a:srgbClr val="FFFFFF"/>
                </a:solidFill>
              </a:rPr>
              <a:t>OK</a:t>
            </a:r>
          </a:p>
        </p:txBody>
      </p:sp>
      <p:sp>
        <p:nvSpPr>
          <p:cNvPr id="20" name="TextBox 19"/>
          <p:cNvSpPr txBox="1"/>
          <p:nvPr/>
        </p:nvSpPr>
        <p:spPr>
          <a:xfrm>
            <a:off x="4361688" y="1691640"/>
            <a:ext cx="1572768" cy="365760"/>
          </a:xfrm>
          <a:prstGeom prst="rect">
            <a:avLst/>
          </a:prstGeom>
          <a:noFill/>
        </p:spPr>
        <p:txBody>
          <a:bodyPr wrap="square">
            <a:spAutoFit/>
          </a:bodyPr>
          <a:lstStyle/>
          <a:p>
            <a:pPr algn="ctr"/>
            <a:r>
              <a:rPr sz="2200" b="1" i="0">
                <a:solidFill>
                  <a:srgbClr val="FFFFFF"/>
                </a:solidFill>
              </a:rPr>
              <a:t>3</a:t>
            </a:r>
          </a:p>
        </p:txBody>
      </p:sp>
      <p:sp>
        <p:nvSpPr>
          <p:cNvPr id="21" name="TextBox 20"/>
          <p:cNvSpPr txBox="1"/>
          <p:nvPr/>
        </p:nvSpPr>
        <p:spPr>
          <a:xfrm>
            <a:off x="4361688" y="2075688"/>
            <a:ext cx="1572768" cy="594360"/>
          </a:xfrm>
          <a:prstGeom prst="rect">
            <a:avLst/>
          </a:prstGeom>
          <a:noFill/>
        </p:spPr>
        <p:txBody>
          <a:bodyPr wrap="square">
            <a:spAutoFit/>
          </a:bodyPr>
          <a:lstStyle/>
          <a:p>
            <a:pPr algn="ctr"/>
            <a:r>
              <a:rPr sz="1200" b="1" i="0">
                <a:solidFill>
                  <a:srgbClr val="FFFFFF"/>
                </a:solidFill>
              </a:rPr>
              <a:t>Leyes Lab</a:t>
            </a:r>
          </a:p>
        </p:txBody>
      </p:sp>
      <p:sp>
        <p:nvSpPr>
          <p:cNvPr id="22" name="TextBox 21"/>
          <p:cNvSpPr txBox="1"/>
          <p:nvPr/>
        </p:nvSpPr>
        <p:spPr>
          <a:xfrm>
            <a:off x="5980176" y="1874519"/>
            <a:ext cx="365760" cy="548640"/>
          </a:xfrm>
          <a:prstGeom prst="rect">
            <a:avLst/>
          </a:prstGeom>
          <a:noFill/>
        </p:spPr>
        <p:txBody>
          <a:bodyPr wrap="square">
            <a:spAutoFit/>
          </a:bodyPr>
          <a:lstStyle/>
          <a:p>
            <a:pPr algn="ctr"/>
            <a:r>
              <a:rPr sz="2200" b="1" i="0">
                <a:solidFill>
                  <a:srgbClr val="E06010"/>
                </a:solidFill>
              </a:rPr>
              <a:t>&gt;</a:t>
            </a:r>
          </a:p>
        </p:txBody>
      </p:sp>
      <p:sp>
        <p:nvSpPr>
          <p:cNvPr id="23" name="Rectangle 22"/>
          <p:cNvSpPr/>
          <p:nvPr/>
        </p:nvSpPr>
        <p:spPr>
          <a:xfrm>
            <a:off x="6336792" y="1417320"/>
            <a:ext cx="1572768" cy="132588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6792" y="1463040"/>
            <a:ext cx="1572768" cy="274320"/>
          </a:xfrm>
          <a:prstGeom prst="rect">
            <a:avLst/>
          </a:prstGeom>
          <a:noFill/>
        </p:spPr>
        <p:txBody>
          <a:bodyPr wrap="square">
            <a:spAutoFit/>
          </a:bodyPr>
          <a:lstStyle/>
          <a:p>
            <a:pPr algn="ctr"/>
            <a:r>
              <a:rPr sz="1000" b="1" i="0">
                <a:solidFill>
                  <a:srgbClr val="FFFFCC"/>
                </a:solidFill>
              </a:rPr>
              <a:t>AQUI</a:t>
            </a:r>
          </a:p>
        </p:txBody>
      </p:sp>
      <p:sp>
        <p:nvSpPr>
          <p:cNvPr id="25" name="TextBox 24"/>
          <p:cNvSpPr txBox="1"/>
          <p:nvPr/>
        </p:nvSpPr>
        <p:spPr>
          <a:xfrm>
            <a:off x="6336792" y="1691640"/>
            <a:ext cx="1572768" cy="365760"/>
          </a:xfrm>
          <a:prstGeom prst="rect">
            <a:avLst/>
          </a:prstGeom>
          <a:noFill/>
        </p:spPr>
        <p:txBody>
          <a:bodyPr wrap="square">
            <a:spAutoFit/>
          </a:bodyPr>
          <a:lstStyle/>
          <a:p>
            <a:pPr algn="ctr"/>
            <a:r>
              <a:rPr sz="2200" b="1" i="0">
                <a:solidFill>
                  <a:srgbClr val="FFFFFF"/>
                </a:solidFill>
              </a:rPr>
              <a:t>4</a:t>
            </a:r>
          </a:p>
        </p:txBody>
      </p:sp>
      <p:sp>
        <p:nvSpPr>
          <p:cNvPr id="26" name="TextBox 25"/>
          <p:cNvSpPr txBox="1"/>
          <p:nvPr/>
        </p:nvSpPr>
        <p:spPr>
          <a:xfrm>
            <a:off x="6336792" y="2075688"/>
            <a:ext cx="1572768" cy="594360"/>
          </a:xfrm>
          <a:prstGeom prst="rect">
            <a:avLst/>
          </a:prstGeom>
          <a:noFill/>
        </p:spPr>
        <p:txBody>
          <a:bodyPr wrap="square">
            <a:spAutoFit/>
          </a:bodyPr>
          <a:lstStyle/>
          <a:p>
            <a:pPr algn="ctr"/>
            <a:r>
              <a:rPr sz="1200" b="1" i="0">
                <a:solidFill>
                  <a:srgbClr val="FFFFFF"/>
                </a:solidFill>
              </a:rPr>
              <a:t>Mezclas</a:t>
            </a:r>
          </a:p>
        </p:txBody>
      </p:sp>
      <p:sp>
        <p:nvSpPr>
          <p:cNvPr id="27" name="TextBox 26"/>
          <p:cNvSpPr txBox="1"/>
          <p:nvPr/>
        </p:nvSpPr>
        <p:spPr>
          <a:xfrm>
            <a:off x="7955280" y="1874519"/>
            <a:ext cx="365760" cy="548640"/>
          </a:xfrm>
          <a:prstGeom prst="rect">
            <a:avLst/>
          </a:prstGeom>
          <a:noFill/>
        </p:spPr>
        <p:txBody>
          <a:bodyPr wrap="square">
            <a:spAutoFit/>
          </a:bodyPr>
          <a:lstStyle/>
          <a:p>
            <a:pPr algn="ctr"/>
            <a:r>
              <a:rPr sz="2200" b="1" i="0">
                <a:solidFill>
                  <a:srgbClr val="E06010"/>
                </a:solidFill>
              </a:rPr>
              <a:t>&gt;</a:t>
            </a:r>
          </a:p>
        </p:txBody>
      </p:sp>
      <p:sp>
        <p:nvSpPr>
          <p:cNvPr id="28" name="Rectangle 27"/>
          <p:cNvSpPr/>
          <p:nvPr/>
        </p:nvSpPr>
        <p:spPr>
          <a:xfrm>
            <a:off x="8311896" y="1417320"/>
            <a:ext cx="1572768" cy="13258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1896" y="1463040"/>
            <a:ext cx="1572768" cy="274320"/>
          </a:xfrm>
          <a:prstGeom prst="rect">
            <a:avLst/>
          </a:prstGeom>
          <a:noFill/>
        </p:spPr>
        <p:txBody>
          <a:bodyPr wrap="square">
            <a:spAutoFit/>
          </a:bodyPr>
          <a:lstStyle/>
          <a:p>
            <a:pPr algn="ctr"/>
            <a:r>
              <a:rPr sz="900" b="0" i="0">
                <a:solidFill>
                  <a:srgbClr val="888888"/>
                </a:solidFill>
              </a:rPr>
              <a:t>pendiente</a:t>
            </a:r>
          </a:p>
        </p:txBody>
      </p:sp>
      <p:sp>
        <p:nvSpPr>
          <p:cNvPr id="30" name="TextBox 29"/>
          <p:cNvSpPr txBox="1"/>
          <p:nvPr/>
        </p:nvSpPr>
        <p:spPr>
          <a:xfrm>
            <a:off x="8311896" y="1691640"/>
            <a:ext cx="1572768" cy="365760"/>
          </a:xfrm>
          <a:prstGeom prst="rect">
            <a:avLst/>
          </a:prstGeom>
          <a:noFill/>
        </p:spPr>
        <p:txBody>
          <a:bodyPr wrap="square">
            <a:spAutoFit/>
          </a:bodyPr>
          <a:lstStyle/>
          <a:p>
            <a:pPr algn="ctr"/>
            <a:r>
              <a:rPr sz="2200" b="1" i="0">
                <a:solidFill>
                  <a:srgbClr val="666666"/>
                </a:solidFill>
              </a:rPr>
              <a:t>5</a:t>
            </a:r>
          </a:p>
        </p:txBody>
      </p:sp>
      <p:sp>
        <p:nvSpPr>
          <p:cNvPr id="31" name="TextBox 30"/>
          <p:cNvSpPr txBox="1"/>
          <p:nvPr/>
        </p:nvSpPr>
        <p:spPr>
          <a:xfrm>
            <a:off x="8311896" y="2075688"/>
            <a:ext cx="1572768" cy="594360"/>
          </a:xfrm>
          <a:prstGeom prst="rect">
            <a:avLst/>
          </a:prstGeom>
          <a:noFill/>
        </p:spPr>
        <p:txBody>
          <a:bodyPr wrap="square">
            <a:spAutoFit/>
          </a:bodyPr>
          <a:lstStyle/>
          <a:p>
            <a:pPr algn="ctr"/>
            <a:r>
              <a:rPr sz="1200" b="1" i="0">
                <a:solidFill>
                  <a:srgbClr val="666666"/>
                </a:solidFill>
              </a:rPr>
              <a:t>Despacho</a:t>
            </a:r>
          </a:p>
        </p:txBody>
      </p:sp>
      <p:sp>
        <p:nvSpPr>
          <p:cNvPr id="32" name="TextBox 31"/>
          <p:cNvSpPr txBox="1"/>
          <p:nvPr/>
        </p:nvSpPr>
        <p:spPr>
          <a:xfrm>
            <a:off x="9930384" y="1874519"/>
            <a:ext cx="365760" cy="548640"/>
          </a:xfrm>
          <a:prstGeom prst="rect">
            <a:avLst/>
          </a:prstGeom>
          <a:noFill/>
        </p:spPr>
        <p:txBody>
          <a:bodyPr wrap="square">
            <a:spAutoFit/>
          </a:bodyPr>
          <a:lstStyle/>
          <a:p>
            <a:pPr algn="ctr"/>
            <a:r>
              <a:rPr sz="2200" b="1" i="0">
                <a:solidFill>
                  <a:srgbClr val="E06010"/>
                </a:solidFill>
              </a:rPr>
              <a:t>&gt;</a:t>
            </a:r>
          </a:p>
        </p:txBody>
      </p:sp>
      <p:sp>
        <p:nvSpPr>
          <p:cNvPr id="33" name="Rectangle 32"/>
          <p:cNvSpPr/>
          <p:nvPr/>
        </p:nvSpPr>
        <p:spPr>
          <a:xfrm>
            <a:off x="10287000" y="1417320"/>
            <a:ext cx="1572768" cy="13258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87000" y="1463040"/>
            <a:ext cx="1572768" cy="274320"/>
          </a:xfrm>
          <a:prstGeom prst="rect">
            <a:avLst/>
          </a:prstGeom>
          <a:noFill/>
        </p:spPr>
        <p:txBody>
          <a:bodyPr wrap="square">
            <a:spAutoFit/>
          </a:bodyPr>
          <a:lstStyle/>
          <a:p>
            <a:pPr algn="ctr"/>
            <a:r>
              <a:rPr sz="900" b="0" i="0">
                <a:solidFill>
                  <a:srgbClr val="888888"/>
                </a:solidFill>
              </a:rPr>
              <a:t>pendiente</a:t>
            </a:r>
          </a:p>
        </p:txBody>
      </p:sp>
      <p:sp>
        <p:nvSpPr>
          <p:cNvPr id="35" name="TextBox 34"/>
          <p:cNvSpPr txBox="1"/>
          <p:nvPr/>
        </p:nvSpPr>
        <p:spPr>
          <a:xfrm>
            <a:off x="10287000" y="1691640"/>
            <a:ext cx="1572768" cy="365760"/>
          </a:xfrm>
          <a:prstGeom prst="rect">
            <a:avLst/>
          </a:prstGeom>
          <a:noFill/>
        </p:spPr>
        <p:txBody>
          <a:bodyPr wrap="square">
            <a:spAutoFit/>
          </a:bodyPr>
          <a:lstStyle/>
          <a:p>
            <a:pPr algn="ctr"/>
            <a:r>
              <a:rPr sz="2200" b="1" i="0">
                <a:solidFill>
                  <a:srgbClr val="666666"/>
                </a:solidFill>
              </a:rPr>
              <a:t>6</a:t>
            </a:r>
          </a:p>
        </p:txBody>
      </p:sp>
      <p:sp>
        <p:nvSpPr>
          <p:cNvPr id="36" name="TextBox 35"/>
          <p:cNvSpPr txBox="1"/>
          <p:nvPr/>
        </p:nvSpPr>
        <p:spPr>
          <a:xfrm>
            <a:off x="10287000" y="2075688"/>
            <a:ext cx="1572768" cy="594360"/>
          </a:xfrm>
          <a:prstGeom prst="rect">
            <a:avLst/>
          </a:prstGeom>
          <a:noFill/>
        </p:spPr>
        <p:txBody>
          <a:bodyPr wrap="square">
            <a:spAutoFit/>
          </a:bodyPr>
          <a:lstStyle/>
          <a:p>
            <a:pPr algn="ctr"/>
            <a:r>
              <a:rPr sz="1200" b="1" i="0">
                <a:solidFill>
                  <a:srgbClr val="666666"/>
                </a:solidFill>
              </a:rPr>
              <a:t>Cierre Lote</a:t>
            </a:r>
          </a:p>
        </p:txBody>
      </p:sp>
      <p:sp>
        <p:nvSpPr>
          <p:cNvPr id="37" name="Rectangle 36"/>
          <p:cNvSpPr/>
          <p:nvPr/>
        </p:nvSpPr>
        <p:spPr>
          <a:xfrm>
            <a:off x="5102352" y="2971800"/>
            <a:ext cx="1572768" cy="4572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02352" y="3063240"/>
            <a:ext cx="1572768" cy="274320"/>
          </a:xfrm>
          <a:prstGeom prst="rect">
            <a:avLst/>
          </a:prstGeom>
          <a:noFill/>
        </p:spPr>
        <p:txBody>
          <a:bodyPr wrap="square">
            <a:spAutoFit/>
          </a:bodyPr>
          <a:lstStyle/>
          <a:p>
            <a:pPr algn="ctr"/>
            <a:r>
              <a:rPr sz="1000" b="1" i="0">
                <a:solidFill>
                  <a:srgbClr val="E06010"/>
                </a:solidFill>
              </a:rPr>
              <a:t>Estamos aqui</a:t>
            </a:r>
          </a:p>
        </p:txBody>
      </p:sp>
      <p:sp>
        <p:nvSpPr>
          <p:cNvPr id="39" name="Rectangle 38"/>
          <p:cNvSpPr/>
          <p:nvPr/>
        </p:nvSpPr>
        <p:spPr>
          <a:xfrm>
            <a:off x="320040" y="3429000"/>
            <a:ext cx="5394960" cy="2670048"/>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0040" y="3429000"/>
            <a:ext cx="5394960" cy="329184"/>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447288"/>
            <a:ext cx="5120640" cy="292608"/>
          </a:xfrm>
          <a:prstGeom prst="rect">
            <a:avLst/>
          </a:prstGeom>
          <a:noFill/>
        </p:spPr>
        <p:txBody>
          <a:bodyPr wrap="square">
            <a:spAutoFit/>
          </a:bodyPr>
          <a:lstStyle/>
          <a:p>
            <a:pPr algn="l"/>
            <a:r>
              <a:rPr sz="1200" b="1" i="0">
                <a:solidFill>
                  <a:srgbClr val="FFFFFF"/>
                </a:solidFill>
              </a:rPr>
              <a:t>Lo que esta completo</a:t>
            </a:r>
          </a:p>
        </p:txBody>
      </p:sp>
      <p:sp>
        <p:nvSpPr>
          <p:cNvPr id="42" name="TextBox 41"/>
          <p:cNvSpPr txBox="1"/>
          <p:nvPr/>
        </p:nvSpPr>
        <p:spPr>
          <a:xfrm>
            <a:off x="457200" y="3822191"/>
            <a:ext cx="5120640" cy="365760"/>
          </a:xfrm>
          <a:prstGeom prst="rect">
            <a:avLst/>
          </a:prstGeom>
          <a:noFill/>
        </p:spPr>
        <p:txBody>
          <a:bodyPr wrap="square">
            <a:spAutoFit/>
          </a:bodyPr>
          <a:lstStyle/>
          <a:p>
            <a:pPr algn="l"/>
            <a:r>
              <a:rPr sz="1100" b="0" i="0">
                <a:solidFill>
                  <a:srgbClr val="155724"/>
                </a:solidFill>
              </a:rPr>
              <a:t>ok  Dumpadas de mayo ingresadas al sistema</a:t>
            </a:r>
          </a:p>
        </p:txBody>
      </p:sp>
      <p:sp>
        <p:nvSpPr>
          <p:cNvPr id="43" name="TextBox 42"/>
          <p:cNvSpPr txBox="1"/>
          <p:nvPr/>
        </p:nvSpPr>
        <p:spPr>
          <a:xfrm>
            <a:off x="457200" y="4224528"/>
            <a:ext cx="5120640" cy="365760"/>
          </a:xfrm>
          <a:prstGeom prst="rect">
            <a:avLst/>
          </a:prstGeom>
          <a:noFill/>
        </p:spPr>
        <p:txBody>
          <a:bodyPr wrap="square">
            <a:spAutoFit/>
          </a:bodyPr>
          <a:lstStyle/>
          <a:p>
            <a:pPr algn="l"/>
            <a:r>
              <a:rPr sz="1100" b="0" i="0">
                <a:solidFill>
                  <a:srgbClr val="155724"/>
                </a:solidFill>
              </a:rPr>
              <a:t>ok  Envios de muestras registrados por dumpada</a:t>
            </a:r>
          </a:p>
        </p:txBody>
      </p:sp>
      <p:sp>
        <p:nvSpPr>
          <p:cNvPr id="44" name="TextBox 43"/>
          <p:cNvSpPr txBox="1"/>
          <p:nvPr/>
        </p:nvSpPr>
        <p:spPr>
          <a:xfrm>
            <a:off x="457200" y="4626864"/>
            <a:ext cx="5120640" cy="365760"/>
          </a:xfrm>
          <a:prstGeom prst="rect">
            <a:avLst/>
          </a:prstGeom>
          <a:noFill/>
        </p:spPr>
        <p:txBody>
          <a:bodyPr wrap="square">
            <a:spAutoFit/>
          </a:bodyPr>
          <a:lstStyle/>
          <a:p>
            <a:pPr algn="l"/>
            <a:r>
              <a:rPr sz="1100" b="0" i="0">
                <a:solidFill>
                  <a:srgbClr val="155724"/>
                </a:solidFill>
              </a:rPr>
              <a:t>ok  Cu Total, Cu Soluble y Humedad ingresados</a:t>
            </a:r>
          </a:p>
        </p:txBody>
      </p:sp>
      <p:sp>
        <p:nvSpPr>
          <p:cNvPr id="45" name="TextBox 44"/>
          <p:cNvSpPr txBox="1"/>
          <p:nvPr/>
        </p:nvSpPr>
        <p:spPr>
          <a:xfrm>
            <a:off x="457200" y="5029200"/>
            <a:ext cx="5120640" cy="365760"/>
          </a:xfrm>
          <a:prstGeom prst="rect">
            <a:avLst/>
          </a:prstGeom>
          <a:noFill/>
        </p:spPr>
        <p:txBody>
          <a:bodyPr wrap="square">
            <a:spAutoFit/>
          </a:bodyPr>
          <a:lstStyle/>
          <a:p>
            <a:pPr algn="l"/>
            <a:r>
              <a:rPr sz="1100" b="0" i="0">
                <a:solidFill>
                  <a:srgbClr val="155724"/>
                </a:solidFill>
              </a:rPr>
              <a:t>ok  Cu Insoluble calculado automaticamente</a:t>
            </a:r>
          </a:p>
        </p:txBody>
      </p:sp>
      <p:sp>
        <p:nvSpPr>
          <p:cNvPr id="46" name="TextBox 45"/>
          <p:cNvSpPr txBox="1"/>
          <p:nvPr/>
        </p:nvSpPr>
        <p:spPr>
          <a:xfrm>
            <a:off x="457200" y="5431536"/>
            <a:ext cx="5120640" cy="365760"/>
          </a:xfrm>
          <a:prstGeom prst="rect">
            <a:avLst/>
          </a:prstGeom>
          <a:noFill/>
        </p:spPr>
        <p:txBody>
          <a:bodyPr wrap="square">
            <a:spAutoFit/>
          </a:bodyPr>
          <a:lstStyle/>
          <a:p>
            <a:pPr algn="l"/>
            <a:r>
              <a:rPr sz="1100" b="0" i="0">
                <a:solidFill>
                  <a:srgbClr val="155724"/>
                </a:solidFill>
              </a:rPr>
              <a:t>ok  Todas las dumpadas en estado CON ANALISIS</a:t>
            </a:r>
          </a:p>
        </p:txBody>
      </p:sp>
      <p:sp>
        <p:nvSpPr>
          <p:cNvPr id="47" name="Rectangle 46"/>
          <p:cNvSpPr/>
          <p:nvPr/>
        </p:nvSpPr>
        <p:spPr>
          <a:xfrm>
            <a:off x="6035040" y="3429000"/>
            <a:ext cx="5833872" cy="2670048"/>
          </a:xfrm>
          <a:prstGeom prst="rect">
            <a:avLst/>
          </a:prstGeom>
          <a:solidFill>
            <a:srgbClr val="FFF3CD"/>
          </a:solidFill>
          <a:ln w="12700">
            <a:solidFill>
              <a:srgbClr val="E06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35040" y="3429000"/>
            <a:ext cx="5833872"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3447288"/>
            <a:ext cx="5577840" cy="292608"/>
          </a:xfrm>
          <a:prstGeom prst="rect">
            <a:avLst/>
          </a:prstGeom>
          <a:noFill/>
        </p:spPr>
        <p:txBody>
          <a:bodyPr wrap="square">
            <a:spAutoFit/>
          </a:bodyPr>
          <a:lstStyle/>
          <a:p>
            <a:pPr algn="l"/>
            <a:r>
              <a:rPr sz="1200" b="1" i="0">
                <a:solidFill>
                  <a:srgbClr val="FFFFFF"/>
                </a:solidFill>
              </a:rPr>
              <a:t>Proximo paso: Mezclas</a:t>
            </a:r>
          </a:p>
        </p:txBody>
      </p:sp>
      <p:sp>
        <p:nvSpPr>
          <p:cNvPr id="50" name="TextBox 49"/>
          <p:cNvSpPr txBox="1"/>
          <p:nvPr/>
        </p:nvSpPr>
        <p:spPr>
          <a:xfrm>
            <a:off x="6172200" y="3822191"/>
            <a:ext cx="5577840" cy="365760"/>
          </a:xfrm>
          <a:prstGeom prst="rect">
            <a:avLst/>
          </a:prstGeom>
          <a:noFill/>
        </p:spPr>
        <p:txBody>
          <a:bodyPr wrap="square">
            <a:spAutoFit/>
          </a:bodyPr>
          <a:lstStyle/>
          <a:p>
            <a:pPr algn="l"/>
            <a:r>
              <a:rPr sz="1100" b="0" i="0">
                <a:solidFill>
                  <a:srgbClr val="1A1A1A"/>
                </a:solidFill>
              </a:rPr>
              <a:t>-&gt;  Seleccionar dumpadas con analisis disponible</a:t>
            </a:r>
          </a:p>
        </p:txBody>
      </p:sp>
      <p:sp>
        <p:nvSpPr>
          <p:cNvPr id="51" name="TextBox 50"/>
          <p:cNvSpPr txBox="1"/>
          <p:nvPr/>
        </p:nvSpPr>
        <p:spPr>
          <a:xfrm>
            <a:off x="6172200" y="4224528"/>
            <a:ext cx="5577840" cy="365760"/>
          </a:xfrm>
          <a:prstGeom prst="rect">
            <a:avLst/>
          </a:prstGeom>
          <a:noFill/>
        </p:spPr>
        <p:txBody>
          <a:bodyPr wrap="square">
            <a:spAutoFit/>
          </a:bodyPr>
          <a:lstStyle/>
          <a:p>
            <a:pPr algn="l"/>
            <a:r>
              <a:rPr sz="1100" b="0" i="0">
                <a:solidFill>
                  <a:srgbClr val="1A1A1A"/>
                </a:solidFill>
              </a:rPr>
              <a:t>-&gt;  Agruparlas en mezclas segun ley objetivo</a:t>
            </a:r>
          </a:p>
        </p:txBody>
      </p:sp>
      <p:sp>
        <p:nvSpPr>
          <p:cNvPr id="52" name="TextBox 51"/>
          <p:cNvSpPr txBox="1"/>
          <p:nvPr/>
        </p:nvSpPr>
        <p:spPr>
          <a:xfrm>
            <a:off x="6172200" y="4626864"/>
            <a:ext cx="5577840" cy="365760"/>
          </a:xfrm>
          <a:prstGeom prst="rect">
            <a:avLst/>
          </a:prstGeom>
          <a:noFill/>
        </p:spPr>
        <p:txBody>
          <a:bodyPr wrap="square">
            <a:spAutoFit/>
          </a:bodyPr>
          <a:lstStyle/>
          <a:p>
            <a:pPr algn="l"/>
            <a:r>
              <a:rPr sz="1100" b="0" i="0">
                <a:solidFill>
                  <a:srgbClr val="1A1A1A"/>
                </a:solidFill>
              </a:rPr>
              <a:t>-&gt;  Verificar que la mezcla alcanza 1,3% Cu Ins.</a:t>
            </a:r>
          </a:p>
        </p:txBody>
      </p:sp>
      <p:sp>
        <p:nvSpPr>
          <p:cNvPr id="53" name="TextBox 52"/>
          <p:cNvSpPr txBox="1"/>
          <p:nvPr/>
        </p:nvSpPr>
        <p:spPr>
          <a:xfrm>
            <a:off x="6172200" y="5029200"/>
            <a:ext cx="5577840" cy="365760"/>
          </a:xfrm>
          <a:prstGeom prst="rect">
            <a:avLst/>
          </a:prstGeom>
          <a:noFill/>
        </p:spPr>
        <p:txBody>
          <a:bodyPr wrap="square">
            <a:spAutoFit/>
          </a:bodyPr>
          <a:lstStyle/>
          <a:p>
            <a:pPr algn="l"/>
            <a:r>
              <a:rPr sz="1100" b="0" i="0">
                <a:solidFill>
                  <a:srgbClr val="1A1A1A"/>
                </a:solidFill>
              </a:rPr>
              <a:t>-&gt;  Confirmar mezcla para habilitar el despacho</a:t>
            </a:r>
          </a:p>
        </p:txBody>
      </p:sp>
      <p:sp>
        <p:nvSpPr>
          <p:cNvPr id="54" name="TextBox 53"/>
          <p:cNvSpPr txBox="1"/>
          <p:nvPr/>
        </p:nvSpPr>
        <p:spPr>
          <a:xfrm>
            <a:off x="6172200" y="5486400"/>
            <a:ext cx="5577840" cy="457200"/>
          </a:xfrm>
          <a:prstGeom prst="rect">
            <a:avLst/>
          </a:prstGeom>
          <a:noFill/>
        </p:spPr>
        <p:txBody>
          <a:bodyPr wrap="square">
            <a:spAutoFit/>
          </a:bodyPr>
          <a:lstStyle/>
          <a:p>
            <a:pPr algn="l"/>
            <a:r>
              <a:rPr sz="1100" b="1" i="1">
                <a:solidFill>
                  <a:srgbClr val="E06010"/>
                </a:solidFill>
              </a:rPr>
              <a:t>La colaboradora esta lista para iniciar esta etapa.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Proximos Pasos</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Lo que se viene una vez completado el ingreso de dumpadas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143000"/>
            <a:ext cx="11521440" cy="16002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43000"/>
            <a:ext cx="777240" cy="160020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43000"/>
            <a:ext cx="777240" cy="1600200"/>
          </a:xfrm>
          <a:prstGeom prst="rect">
            <a:avLst/>
          </a:prstGeom>
          <a:noFill/>
        </p:spPr>
        <p:txBody>
          <a:bodyPr wrap="square">
            <a:spAutoFit/>
          </a:bodyPr>
          <a:lstStyle/>
          <a:p>
            <a:pPr algn="ctr"/>
            <a:r>
              <a:rPr sz="3200" b="1" i="0">
                <a:solidFill>
                  <a:srgbClr val="FFFFFF"/>
                </a:solidFill>
              </a:rPr>
              <a:t>4</a:t>
            </a:r>
          </a:p>
        </p:txBody>
      </p:sp>
      <p:sp>
        <p:nvSpPr>
          <p:cNvPr id="11" name="TextBox 10"/>
          <p:cNvSpPr txBox="1"/>
          <p:nvPr/>
        </p:nvSpPr>
        <p:spPr>
          <a:xfrm>
            <a:off x="1170432" y="1179576"/>
            <a:ext cx="2011680" cy="256032"/>
          </a:xfrm>
          <a:prstGeom prst="rect">
            <a:avLst/>
          </a:prstGeom>
          <a:noFill/>
        </p:spPr>
        <p:txBody>
          <a:bodyPr wrap="square">
            <a:spAutoFit/>
          </a:bodyPr>
          <a:lstStyle/>
          <a:p>
            <a:pPr algn="l"/>
            <a:r>
              <a:rPr sz="900" b="1" i="0">
                <a:solidFill>
                  <a:srgbClr val="D45000"/>
                </a:solidFill>
              </a:rPr>
              <a:t>PENDIENTE</a:t>
            </a:r>
          </a:p>
        </p:txBody>
      </p:sp>
      <p:sp>
        <p:nvSpPr>
          <p:cNvPr id="12" name="TextBox 11"/>
          <p:cNvSpPr txBox="1"/>
          <p:nvPr/>
        </p:nvSpPr>
        <p:spPr>
          <a:xfrm>
            <a:off x="1170432" y="1417320"/>
            <a:ext cx="5029200" cy="320040"/>
          </a:xfrm>
          <a:prstGeom prst="rect">
            <a:avLst/>
          </a:prstGeom>
          <a:noFill/>
        </p:spPr>
        <p:txBody>
          <a:bodyPr wrap="square">
            <a:spAutoFit/>
          </a:bodyPr>
          <a:lstStyle/>
          <a:p>
            <a:pPr algn="l"/>
            <a:r>
              <a:rPr sz="1400" b="1" i="0">
                <a:solidFill>
                  <a:srgbClr val="8B3A00"/>
                </a:solidFill>
              </a:rPr>
              <a:t>Creacion de Mezclas</a:t>
            </a:r>
          </a:p>
        </p:txBody>
      </p:sp>
      <p:sp>
        <p:nvSpPr>
          <p:cNvPr id="13" name="TextBox 12"/>
          <p:cNvSpPr txBox="1"/>
          <p:nvPr/>
        </p:nvSpPr>
        <p:spPr>
          <a:xfrm>
            <a:off x="1170432" y="1737360"/>
            <a:ext cx="6309360" cy="640080"/>
          </a:xfrm>
          <a:prstGeom prst="rect">
            <a:avLst/>
          </a:prstGeom>
          <a:noFill/>
        </p:spPr>
        <p:txBody>
          <a:bodyPr wrap="square">
            <a:spAutoFit/>
          </a:bodyPr>
          <a:lstStyle/>
          <a:p>
            <a:pPr algn="l"/>
            <a:r>
              <a:rPr sz="1050" b="0" i="0">
                <a:solidFill>
                  <a:srgbClr val="1A1A1A"/>
                </a:solidFill>
              </a:rPr>
              <a:t>Agrupar las dumpadas de mayo con analisis disponible en mezclas. El sistema calcula el promedio ponderado de ley y verifica que se alcance el objetivo de 1,3% Cu Insoluble.</a:t>
            </a:r>
          </a:p>
        </p:txBody>
      </p:sp>
      <p:sp>
        <p:nvSpPr>
          <p:cNvPr id="14" name="TextBox 13"/>
          <p:cNvSpPr txBox="1"/>
          <p:nvPr/>
        </p:nvSpPr>
        <p:spPr>
          <a:xfrm>
            <a:off x="7680960" y="1252728"/>
            <a:ext cx="4069080" cy="320040"/>
          </a:xfrm>
          <a:prstGeom prst="rect">
            <a:avLst/>
          </a:prstGeom>
          <a:noFill/>
        </p:spPr>
        <p:txBody>
          <a:bodyPr wrap="square">
            <a:spAutoFit/>
          </a:bodyPr>
          <a:lstStyle/>
          <a:p>
            <a:pPr algn="l"/>
            <a:r>
              <a:rPr sz="1000" b="0" i="0">
                <a:solidFill>
                  <a:srgbClr val="1A1A1A"/>
                </a:solidFill>
              </a:rPr>
              <a:t>- Seleccionar dumpadas por frente y ley</a:t>
            </a:r>
          </a:p>
        </p:txBody>
      </p:sp>
      <p:sp>
        <p:nvSpPr>
          <p:cNvPr id="15" name="TextBox 14"/>
          <p:cNvSpPr txBox="1"/>
          <p:nvPr/>
        </p:nvSpPr>
        <p:spPr>
          <a:xfrm>
            <a:off x="7680960" y="1600200"/>
            <a:ext cx="4069080" cy="320040"/>
          </a:xfrm>
          <a:prstGeom prst="rect">
            <a:avLst/>
          </a:prstGeom>
          <a:noFill/>
        </p:spPr>
        <p:txBody>
          <a:bodyPr wrap="square">
            <a:spAutoFit/>
          </a:bodyPr>
          <a:lstStyle/>
          <a:p>
            <a:pPr algn="l"/>
            <a:r>
              <a:rPr sz="1000" b="0" i="0">
                <a:solidFill>
                  <a:srgbClr val="1A1A1A"/>
                </a:solidFill>
              </a:rPr>
              <a:t>- Calcular promedio ponderado de ley</a:t>
            </a:r>
          </a:p>
        </p:txBody>
      </p:sp>
      <p:sp>
        <p:nvSpPr>
          <p:cNvPr id="16" name="TextBox 15"/>
          <p:cNvSpPr txBox="1"/>
          <p:nvPr/>
        </p:nvSpPr>
        <p:spPr>
          <a:xfrm>
            <a:off x="7680960" y="1947672"/>
            <a:ext cx="4069080" cy="320040"/>
          </a:xfrm>
          <a:prstGeom prst="rect">
            <a:avLst/>
          </a:prstGeom>
          <a:noFill/>
        </p:spPr>
        <p:txBody>
          <a:bodyPr wrap="square">
            <a:spAutoFit/>
          </a:bodyPr>
          <a:lstStyle/>
          <a:p>
            <a:pPr algn="l"/>
            <a:r>
              <a:rPr sz="1000" b="0" i="0">
                <a:solidFill>
                  <a:srgbClr val="1A1A1A"/>
                </a:solidFill>
              </a:rPr>
              <a:t>- Verificar cumplimiento del objetivo</a:t>
            </a:r>
          </a:p>
        </p:txBody>
      </p:sp>
      <p:sp>
        <p:nvSpPr>
          <p:cNvPr id="17" name="TextBox 16"/>
          <p:cNvSpPr txBox="1"/>
          <p:nvPr/>
        </p:nvSpPr>
        <p:spPr>
          <a:xfrm>
            <a:off x="7680960" y="2295144"/>
            <a:ext cx="4069080" cy="320040"/>
          </a:xfrm>
          <a:prstGeom prst="rect">
            <a:avLst/>
          </a:prstGeom>
          <a:noFill/>
        </p:spPr>
        <p:txBody>
          <a:bodyPr wrap="square">
            <a:spAutoFit/>
          </a:bodyPr>
          <a:lstStyle/>
          <a:p>
            <a:pPr algn="l"/>
            <a:r>
              <a:rPr sz="1000" b="0" i="0">
                <a:solidFill>
                  <a:srgbClr val="1A1A1A"/>
                </a:solidFill>
              </a:rPr>
              <a:t>- Confirmar mezcla para despacho</a:t>
            </a:r>
          </a:p>
        </p:txBody>
      </p:sp>
      <p:sp>
        <p:nvSpPr>
          <p:cNvPr id="18" name="Rectangle 17"/>
          <p:cNvSpPr/>
          <p:nvPr/>
        </p:nvSpPr>
        <p:spPr>
          <a:xfrm>
            <a:off x="7589520" y="1188720"/>
            <a:ext cx="45720" cy="1508760"/>
          </a:xfrm>
          <a:prstGeom prst="rect">
            <a:avLst/>
          </a:prstGeom>
          <a:solidFill>
            <a:srgbClr val="FD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2862072"/>
            <a:ext cx="11521440" cy="16002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2862072"/>
            <a:ext cx="777240" cy="16002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2862072"/>
            <a:ext cx="777240" cy="1600200"/>
          </a:xfrm>
          <a:prstGeom prst="rect">
            <a:avLst/>
          </a:prstGeom>
          <a:noFill/>
        </p:spPr>
        <p:txBody>
          <a:bodyPr wrap="square">
            <a:spAutoFit/>
          </a:bodyPr>
          <a:lstStyle/>
          <a:p>
            <a:pPr algn="ctr"/>
            <a:r>
              <a:rPr sz="3200" b="1" i="0">
                <a:solidFill>
                  <a:srgbClr val="FFFFFF"/>
                </a:solidFill>
              </a:rPr>
              <a:t>5</a:t>
            </a:r>
          </a:p>
        </p:txBody>
      </p:sp>
      <p:sp>
        <p:nvSpPr>
          <p:cNvPr id="22" name="TextBox 21"/>
          <p:cNvSpPr txBox="1"/>
          <p:nvPr/>
        </p:nvSpPr>
        <p:spPr>
          <a:xfrm>
            <a:off x="1170432" y="2898648"/>
            <a:ext cx="2011680" cy="256032"/>
          </a:xfrm>
          <a:prstGeom prst="rect">
            <a:avLst/>
          </a:prstGeom>
          <a:noFill/>
        </p:spPr>
        <p:txBody>
          <a:bodyPr wrap="square">
            <a:spAutoFit/>
          </a:bodyPr>
          <a:lstStyle/>
          <a:p>
            <a:pPr algn="l"/>
            <a:r>
              <a:rPr sz="900" b="1" i="0">
                <a:solidFill>
                  <a:srgbClr val="1A73E8"/>
                </a:solidFill>
              </a:rPr>
              <a:t>PENDIENTE</a:t>
            </a:r>
          </a:p>
        </p:txBody>
      </p:sp>
      <p:sp>
        <p:nvSpPr>
          <p:cNvPr id="23" name="TextBox 22"/>
          <p:cNvSpPr txBox="1"/>
          <p:nvPr/>
        </p:nvSpPr>
        <p:spPr>
          <a:xfrm>
            <a:off x="1170432" y="3136391"/>
            <a:ext cx="5029200" cy="320040"/>
          </a:xfrm>
          <a:prstGeom prst="rect">
            <a:avLst/>
          </a:prstGeom>
          <a:noFill/>
        </p:spPr>
        <p:txBody>
          <a:bodyPr wrap="square">
            <a:spAutoFit/>
          </a:bodyPr>
          <a:lstStyle/>
          <a:p>
            <a:pPr algn="l"/>
            <a:r>
              <a:rPr sz="1400" b="1" i="0">
                <a:solidFill>
                  <a:srgbClr val="8B3A00"/>
                </a:solidFill>
              </a:rPr>
              <a:t>Registro de Despacho</a:t>
            </a:r>
          </a:p>
        </p:txBody>
      </p:sp>
      <p:sp>
        <p:nvSpPr>
          <p:cNvPr id="24" name="TextBox 23"/>
          <p:cNvSpPr txBox="1"/>
          <p:nvPr/>
        </p:nvSpPr>
        <p:spPr>
          <a:xfrm>
            <a:off x="1170432" y="3456432"/>
            <a:ext cx="6309360" cy="640080"/>
          </a:xfrm>
          <a:prstGeom prst="rect">
            <a:avLst/>
          </a:prstGeom>
          <a:noFill/>
        </p:spPr>
        <p:txBody>
          <a:bodyPr wrap="square">
            <a:spAutoFit/>
          </a:bodyPr>
          <a:lstStyle/>
          <a:p>
            <a:pPr algn="l"/>
            <a:r>
              <a:rPr sz="1050" b="0" i="0">
                <a:solidFill>
                  <a:srgbClr val="1A1A1A"/>
                </a:solidFill>
              </a:rPr>
              <a:t>Crear los lotes de despacho y registrar cada camionada: empresa compradora, planta destino, patente del camion, conductor, peso bruto, tara y peso neto despachado.</a:t>
            </a:r>
          </a:p>
        </p:txBody>
      </p:sp>
      <p:sp>
        <p:nvSpPr>
          <p:cNvPr id="25" name="TextBox 24"/>
          <p:cNvSpPr txBox="1"/>
          <p:nvPr/>
        </p:nvSpPr>
        <p:spPr>
          <a:xfrm>
            <a:off x="7680960" y="2971800"/>
            <a:ext cx="4069080" cy="320040"/>
          </a:xfrm>
          <a:prstGeom prst="rect">
            <a:avLst/>
          </a:prstGeom>
          <a:noFill/>
        </p:spPr>
        <p:txBody>
          <a:bodyPr wrap="square">
            <a:spAutoFit/>
          </a:bodyPr>
          <a:lstStyle/>
          <a:p>
            <a:pPr algn="l"/>
            <a:r>
              <a:rPr sz="1000" b="0" i="0">
                <a:solidFill>
                  <a:srgbClr val="1A1A1A"/>
                </a:solidFill>
              </a:rPr>
              <a:t>- Crear lote asociado a empresa y planta</a:t>
            </a:r>
          </a:p>
        </p:txBody>
      </p:sp>
      <p:sp>
        <p:nvSpPr>
          <p:cNvPr id="26" name="TextBox 25"/>
          <p:cNvSpPr txBox="1"/>
          <p:nvPr/>
        </p:nvSpPr>
        <p:spPr>
          <a:xfrm>
            <a:off x="7680960" y="3319272"/>
            <a:ext cx="4069080" cy="320040"/>
          </a:xfrm>
          <a:prstGeom prst="rect">
            <a:avLst/>
          </a:prstGeom>
          <a:noFill/>
        </p:spPr>
        <p:txBody>
          <a:bodyPr wrap="square">
            <a:spAutoFit/>
          </a:bodyPr>
          <a:lstStyle/>
          <a:p>
            <a:pPr algn="l"/>
            <a:r>
              <a:rPr sz="1000" b="0" i="0">
                <a:solidFill>
                  <a:srgbClr val="1A1A1A"/>
                </a:solidFill>
              </a:rPr>
              <a:t>- Registrar cada camionada del mes</a:t>
            </a:r>
          </a:p>
        </p:txBody>
      </p:sp>
      <p:sp>
        <p:nvSpPr>
          <p:cNvPr id="27" name="TextBox 26"/>
          <p:cNvSpPr txBox="1"/>
          <p:nvPr/>
        </p:nvSpPr>
        <p:spPr>
          <a:xfrm>
            <a:off x="7680960" y="3666744"/>
            <a:ext cx="4069080" cy="320040"/>
          </a:xfrm>
          <a:prstGeom prst="rect">
            <a:avLst/>
          </a:prstGeom>
          <a:noFill/>
        </p:spPr>
        <p:txBody>
          <a:bodyPr wrap="square">
            <a:spAutoFit/>
          </a:bodyPr>
          <a:lstStyle/>
          <a:p>
            <a:pPr algn="l"/>
            <a:r>
              <a:rPr sz="1000" b="0" i="0">
                <a:solidFill>
                  <a:srgbClr val="1A1A1A"/>
                </a:solidFill>
              </a:rPr>
              <a:t>- Camionadas sin peso real: estado En Transito</a:t>
            </a:r>
          </a:p>
        </p:txBody>
      </p:sp>
      <p:sp>
        <p:nvSpPr>
          <p:cNvPr id="28" name="TextBox 27"/>
          <p:cNvSpPr txBox="1"/>
          <p:nvPr/>
        </p:nvSpPr>
        <p:spPr>
          <a:xfrm>
            <a:off x="7680960" y="4014216"/>
            <a:ext cx="4069080" cy="320040"/>
          </a:xfrm>
          <a:prstGeom prst="rect">
            <a:avLst/>
          </a:prstGeom>
          <a:noFill/>
        </p:spPr>
        <p:txBody>
          <a:bodyPr wrap="square">
            <a:spAutoFit/>
          </a:bodyPr>
          <a:lstStyle/>
          <a:p>
            <a:pPr algn="l"/>
            <a:r>
              <a:rPr sz="1000" b="0" i="0">
                <a:solidFill>
                  <a:srgbClr val="1A1A1A"/>
                </a:solidFill>
              </a:rPr>
              <a:t>- Verificar consistencia de datos</a:t>
            </a:r>
          </a:p>
        </p:txBody>
      </p:sp>
      <p:sp>
        <p:nvSpPr>
          <p:cNvPr id="29" name="Rectangle 28"/>
          <p:cNvSpPr/>
          <p:nvPr/>
        </p:nvSpPr>
        <p:spPr>
          <a:xfrm>
            <a:off x="7589520" y="2907791"/>
            <a:ext cx="45720" cy="1508760"/>
          </a:xfrm>
          <a:prstGeom prst="rect">
            <a:avLst/>
          </a:prstGeom>
          <a:solidFill>
            <a:srgbClr val="FD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 y="4581144"/>
            <a:ext cx="11521440" cy="16002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4581144"/>
            <a:ext cx="777240" cy="16002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4581144"/>
            <a:ext cx="777240" cy="1600200"/>
          </a:xfrm>
          <a:prstGeom prst="rect">
            <a:avLst/>
          </a:prstGeom>
          <a:noFill/>
        </p:spPr>
        <p:txBody>
          <a:bodyPr wrap="square">
            <a:spAutoFit/>
          </a:bodyPr>
          <a:lstStyle/>
          <a:p>
            <a:pPr algn="ctr"/>
            <a:r>
              <a:rPr sz="3200" b="1" i="0">
                <a:solidFill>
                  <a:srgbClr val="FFFFFF"/>
                </a:solidFill>
              </a:rPr>
              <a:t>6</a:t>
            </a:r>
          </a:p>
        </p:txBody>
      </p:sp>
      <p:sp>
        <p:nvSpPr>
          <p:cNvPr id="33" name="TextBox 32"/>
          <p:cNvSpPr txBox="1"/>
          <p:nvPr/>
        </p:nvSpPr>
        <p:spPr>
          <a:xfrm>
            <a:off x="1170432" y="4617720"/>
            <a:ext cx="2011680" cy="256032"/>
          </a:xfrm>
          <a:prstGeom prst="rect">
            <a:avLst/>
          </a:prstGeom>
          <a:noFill/>
        </p:spPr>
        <p:txBody>
          <a:bodyPr wrap="square">
            <a:spAutoFit/>
          </a:bodyPr>
          <a:lstStyle/>
          <a:p>
            <a:pPr algn="l"/>
            <a:r>
              <a:rPr sz="900" b="1" i="0">
                <a:solidFill>
                  <a:srgbClr val="28A745"/>
                </a:solidFill>
              </a:rPr>
              <a:t>PENDIENTE</a:t>
            </a:r>
          </a:p>
        </p:txBody>
      </p:sp>
      <p:sp>
        <p:nvSpPr>
          <p:cNvPr id="34" name="TextBox 33"/>
          <p:cNvSpPr txBox="1"/>
          <p:nvPr/>
        </p:nvSpPr>
        <p:spPr>
          <a:xfrm>
            <a:off x="1170432" y="4855464"/>
            <a:ext cx="5029200" cy="320040"/>
          </a:xfrm>
          <a:prstGeom prst="rect">
            <a:avLst/>
          </a:prstGeom>
          <a:noFill/>
        </p:spPr>
        <p:txBody>
          <a:bodyPr wrap="square">
            <a:spAutoFit/>
          </a:bodyPr>
          <a:lstStyle/>
          <a:p>
            <a:pPr algn="l"/>
            <a:r>
              <a:rPr sz="1400" b="1" i="0">
                <a:solidFill>
                  <a:srgbClr val="8B3A00"/>
                </a:solidFill>
              </a:rPr>
              <a:t>Recepcion y Cierre de Lote</a:t>
            </a:r>
          </a:p>
        </p:txBody>
      </p:sp>
      <p:sp>
        <p:nvSpPr>
          <p:cNvPr id="35" name="TextBox 34"/>
          <p:cNvSpPr txBox="1"/>
          <p:nvPr/>
        </p:nvSpPr>
        <p:spPr>
          <a:xfrm>
            <a:off x="1170432" y="5175504"/>
            <a:ext cx="6309360" cy="640080"/>
          </a:xfrm>
          <a:prstGeom prst="rect">
            <a:avLst/>
          </a:prstGeom>
          <a:noFill/>
        </p:spPr>
        <p:txBody>
          <a:bodyPr wrap="square">
            <a:spAutoFit/>
          </a:bodyPr>
          <a:lstStyle/>
          <a:p>
            <a:pPr algn="l"/>
            <a:r>
              <a:rPr sz="1050" b="0" i="0">
                <a:solidFill>
                  <a:srgbClr val="1A1A1A"/>
                </a:solidFill>
              </a:rPr>
              <a:t>Ingresar los tickets de la planta con el peso real medido en bascula y cerrar cada lote. El sistema calcula la diferencia de tonelaje y marca el lote como Despachado.</a:t>
            </a:r>
          </a:p>
        </p:txBody>
      </p:sp>
      <p:sp>
        <p:nvSpPr>
          <p:cNvPr id="36" name="TextBox 35"/>
          <p:cNvSpPr txBox="1"/>
          <p:nvPr/>
        </p:nvSpPr>
        <p:spPr>
          <a:xfrm>
            <a:off x="7680960" y="4690872"/>
            <a:ext cx="4069080" cy="320040"/>
          </a:xfrm>
          <a:prstGeom prst="rect">
            <a:avLst/>
          </a:prstGeom>
          <a:noFill/>
        </p:spPr>
        <p:txBody>
          <a:bodyPr wrap="square">
            <a:spAutoFit/>
          </a:bodyPr>
          <a:lstStyle/>
          <a:p>
            <a:pPr algn="l"/>
            <a:r>
              <a:rPr sz="1000" b="0" i="0">
                <a:solidFill>
                  <a:srgbClr val="1A1A1A"/>
                </a:solidFill>
              </a:rPr>
              <a:t>- Ingresar N de ticket y peso real por camionada</a:t>
            </a:r>
          </a:p>
        </p:txBody>
      </p:sp>
      <p:sp>
        <p:nvSpPr>
          <p:cNvPr id="37" name="TextBox 36"/>
          <p:cNvSpPr txBox="1"/>
          <p:nvPr/>
        </p:nvSpPr>
        <p:spPr>
          <a:xfrm>
            <a:off x="7680960" y="5038344"/>
            <a:ext cx="4069080" cy="320040"/>
          </a:xfrm>
          <a:prstGeom prst="rect">
            <a:avLst/>
          </a:prstGeom>
          <a:noFill/>
        </p:spPr>
        <p:txBody>
          <a:bodyPr wrap="square">
            <a:spAutoFit/>
          </a:bodyPr>
          <a:lstStyle/>
          <a:p>
            <a:pPr algn="l"/>
            <a:r>
              <a:rPr sz="1000" b="0" i="0">
                <a:solidFill>
                  <a:srgbClr val="1A1A1A"/>
                </a:solidFill>
              </a:rPr>
              <a:t>- Confirmar recepcion</a:t>
            </a:r>
          </a:p>
        </p:txBody>
      </p:sp>
      <p:sp>
        <p:nvSpPr>
          <p:cNvPr id="38" name="TextBox 37"/>
          <p:cNvSpPr txBox="1"/>
          <p:nvPr/>
        </p:nvSpPr>
        <p:spPr>
          <a:xfrm>
            <a:off x="7680960" y="5385816"/>
            <a:ext cx="4069080" cy="320040"/>
          </a:xfrm>
          <a:prstGeom prst="rect">
            <a:avLst/>
          </a:prstGeom>
          <a:noFill/>
        </p:spPr>
        <p:txBody>
          <a:bodyPr wrap="square">
            <a:spAutoFit/>
          </a:bodyPr>
          <a:lstStyle/>
          <a:p>
            <a:pPr algn="l"/>
            <a:r>
              <a:rPr sz="1000" b="0" i="0">
                <a:solidFill>
                  <a:srgbClr val="1A1A1A"/>
                </a:solidFill>
              </a:rPr>
              <a:t>- Cerrar lote — estado DESPACHADO</a:t>
            </a:r>
          </a:p>
        </p:txBody>
      </p:sp>
      <p:sp>
        <p:nvSpPr>
          <p:cNvPr id="39" name="TextBox 38"/>
          <p:cNvSpPr txBox="1"/>
          <p:nvPr/>
        </p:nvSpPr>
        <p:spPr>
          <a:xfrm>
            <a:off x="7680960" y="5733288"/>
            <a:ext cx="4069080" cy="320040"/>
          </a:xfrm>
          <a:prstGeom prst="rect">
            <a:avLst/>
          </a:prstGeom>
          <a:noFill/>
        </p:spPr>
        <p:txBody>
          <a:bodyPr wrap="square">
            <a:spAutoFit/>
          </a:bodyPr>
          <a:lstStyle/>
          <a:p>
            <a:pPr algn="l"/>
            <a:r>
              <a:rPr sz="1000" b="0" i="0">
                <a:solidFill>
                  <a:srgbClr val="1A1A1A"/>
                </a:solidFill>
              </a:rPr>
              <a:t>- Ciclo del mes de mayo completado</a:t>
            </a:r>
          </a:p>
        </p:txBody>
      </p:sp>
      <p:sp>
        <p:nvSpPr>
          <p:cNvPr id="40" name="Rectangle 39"/>
          <p:cNvSpPr/>
          <p:nvPr/>
        </p:nvSpPr>
        <p:spPr>
          <a:xfrm>
            <a:off x="7589520" y="4626864"/>
            <a:ext cx="45720" cy="1508760"/>
          </a:xfrm>
          <a:prstGeom prst="rect">
            <a:avLst/>
          </a:prstGeom>
          <a:solidFill>
            <a:srgbClr val="FD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Conclusion</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Resumen del avance y estado del proceso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12880" cy="274320"/>
          </a:xfrm>
          <a:prstGeom prst="rect">
            <a:avLst/>
          </a:prstGeom>
          <a:noFill/>
        </p:spPr>
        <p:txBody>
          <a:bodyPr wrap="square">
            <a:spAutoFit/>
          </a:bodyPr>
          <a:lstStyle/>
          <a:p>
            <a:pPr algn="ctr"/>
            <a:r>
              <a:rPr sz="900" b="0" i="0">
                <a:solidFill>
                  <a:srgbClr val="FFFFFF"/>
                </a:solidFill>
              </a:rPr>
              <a:t>Sistema de Produccion M3H  |  Dispatch — Avance Ingreso Mayo 2026  |  Uso Interno</a:t>
            </a:r>
          </a:p>
        </p:txBody>
      </p:sp>
      <p:sp>
        <p:nvSpPr>
          <p:cNvPr id="8" name="Rectangle 7"/>
          <p:cNvSpPr/>
          <p:nvPr/>
        </p:nvSpPr>
        <p:spPr>
          <a:xfrm>
            <a:off x="320040" y="1115568"/>
            <a:ext cx="11548872" cy="132588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15568"/>
            <a:ext cx="91440" cy="132588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161288"/>
            <a:ext cx="3657600" cy="274320"/>
          </a:xfrm>
          <a:prstGeom prst="rect">
            <a:avLst/>
          </a:prstGeom>
          <a:noFill/>
        </p:spPr>
        <p:txBody>
          <a:bodyPr wrap="square">
            <a:spAutoFit/>
          </a:bodyPr>
          <a:lstStyle/>
          <a:p>
            <a:pPr algn="l"/>
            <a:r>
              <a:rPr sz="1200" b="1" i="0">
                <a:solidFill>
                  <a:srgbClr val="E06010"/>
                </a:solidFill>
              </a:rPr>
              <a:t>Resumen del avance</a:t>
            </a:r>
          </a:p>
        </p:txBody>
      </p:sp>
      <p:sp>
        <p:nvSpPr>
          <p:cNvPr id="11" name="TextBox 10"/>
          <p:cNvSpPr txBox="1"/>
          <p:nvPr/>
        </p:nvSpPr>
        <p:spPr>
          <a:xfrm>
            <a:off x="530352" y="1444752"/>
            <a:ext cx="11201400" cy="896112"/>
          </a:xfrm>
          <a:prstGeom prst="rect">
            <a:avLst/>
          </a:prstGeom>
          <a:noFill/>
        </p:spPr>
        <p:txBody>
          <a:bodyPr wrap="square">
            <a:spAutoFit/>
          </a:bodyPr>
          <a:lstStyle/>
          <a:p>
            <a:pPr algn="l"/>
            <a:r>
              <a:rPr sz="1200" b="0" i="0">
                <a:solidFill>
                  <a:srgbClr val="1A1A1A"/>
                </a:solidFill>
              </a:rPr>
              <a:t>La colaboradora ha completado satisfactoriamente las primeras tres etapas del flujo de Dispatch para el mes de mayo: ingreso de dumpadas, registro de envio de muestras al laboratorio e ingreso de leyes del analisis quimico. Actualmente se encuentra en la etapa final de este bloque y esta lista para iniciar la creacion de mezclas.</a:t>
            </a:r>
          </a:p>
        </p:txBody>
      </p:sp>
      <p:sp>
        <p:nvSpPr>
          <p:cNvPr id="12" name="Rectangle 11"/>
          <p:cNvSpPr/>
          <p:nvPr/>
        </p:nvSpPr>
        <p:spPr>
          <a:xfrm>
            <a:off x="320040" y="2578608"/>
            <a:ext cx="3822191" cy="1234440"/>
          </a:xfrm>
          <a:prstGeom prst="rect">
            <a:avLst/>
          </a:prstGeom>
          <a:solidFill>
            <a:srgbClr val="D4EDDA"/>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578608"/>
            <a:ext cx="3822191" cy="329184"/>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578608"/>
            <a:ext cx="3822191" cy="329184"/>
          </a:xfrm>
          <a:prstGeom prst="rect">
            <a:avLst/>
          </a:prstGeom>
          <a:noFill/>
        </p:spPr>
        <p:txBody>
          <a:bodyPr wrap="square">
            <a:spAutoFit/>
          </a:bodyPr>
          <a:lstStyle/>
          <a:p>
            <a:pPr algn="ctr"/>
            <a:r>
              <a:rPr sz="1200" b="1" i="0">
                <a:solidFill>
                  <a:srgbClr val="FFFFFF"/>
                </a:solidFill>
              </a:rPr>
              <a:t>Completado</a:t>
            </a:r>
          </a:p>
        </p:txBody>
      </p:sp>
      <p:sp>
        <p:nvSpPr>
          <p:cNvPr id="15" name="TextBox 14"/>
          <p:cNvSpPr txBox="1"/>
          <p:nvPr/>
        </p:nvSpPr>
        <p:spPr>
          <a:xfrm>
            <a:off x="320040" y="2944368"/>
            <a:ext cx="3822191" cy="804672"/>
          </a:xfrm>
          <a:prstGeom prst="rect">
            <a:avLst/>
          </a:prstGeom>
          <a:noFill/>
        </p:spPr>
        <p:txBody>
          <a:bodyPr wrap="square">
            <a:spAutoFit/>
          </a:bodyPr>
          <a:lstStyle/>
          <a:p>
            <a:pPr algn="ctr"/>
            <a:r>
              <a:rPr sz="1300" b="1" i="0">
                <a:solidFill>
                  <a:srgbClr val="28A745"/>
                </a:solidFill>
              </a:rPr>
              <a:t>3 de 6 etapas
concluidas</a:t>
            </a:r>
          </a:p>
        </p:txBody>
      </p:sp>
      <p:sp>
        <p:nvSpPr>
          <p:cNvPr id="16" name="Rectangle 15"/>
          <p:cNvSpPr/>
          <p:nvPr/>
        </p:nvSpPr>
        <p:spPr>
          <a:xfrm>
            <a:off x="4270248" y="2578608"/>
            <a:ext cx="3822191" cy="1234440"/>
          </a:xfrm>
          <a:prstGeom prst="rect">
            <a:avLst/>
          </a:prstGeom>
          <a:solidFill>
            <a:srgbClr val="FFF3CD"/>
          </a:solidFill>
          <a:ln w="12700">
            <a:solidFill>
              <a:srgbClr val="E06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0248" y="2578608"/>
            <a:ext cx="3822191"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578608"/>
            <a:ext cx="3822191" cy="329184"/>
          </a:xfrm>
          <a:prstGeom prst="rect">
            <a:avLst/>
          </a:prstGeom>
          <a:noFill/>
        </p:spPr>
        <p:txBody>
          <a:bodyPr wrap="square">
            <a:spAutoFit/>
          </a:bodyPr>
          <a:lstStyle/>
          <a:p>
            <a:pPr algn="ctr"/>
            <a:r>
              <a:rPr sz="1200" b="1" i="0">
                <a:solidFill>
                  <a:srgbClr val="FFFFFF"/>
                </a:solidFill>
              </a:rPr>
              <a:t>En progreso</a:t>
            </a:r>
          </a:p>
        </p:txBody>
      </p:sp>
      <p:sp>
        <p:nvSpPr>
          <p:cNvPr id="19" name="TextBox 18"/>
          <p:cNvSpPr txBox="1"/>
          <p:nvPr/>
        </p:nvSpPr>
        <p:spPr>
          <a:xfrm>
            <a:off x="4270248" y="2944368"/>
            <a:ext cx="3822191" cy="804672"/>
          </a:xfrm>
          <a:prstGeom prst="rect">
            <a:avLst/>
          </a:prstGeom>
          <a:noFill/>
        </p:spPr>
        <p:txBody>
          <a:bodyPr wrap="square">
            <a:spAutoFit/>
          </a:bodyPr>
          <a:lstStyle/>
          <a:p>
            <a:pPr algn="ctr"/>
            <a:r>
              <a:rPr sz="1300" b="1" i="0">
                <a:solidFill>
                  <a:srgbClr val="E06010"/>
                </a:solidFill>
              </a:rPr>
              <a:t>Finalizando ingreso —
iniciando Mezclas</a:t>
            </a:r>
          </a:p>
        </p:txBody>
      </p:sp>
      <p:sp>
        <p:nvSpPr>
          <p:cNvPr id="20" name="Rectangle 19"/>
          <p:cNvSpPr/>
          <p:nvPr/>
        </p:nvSpPr>
        <p:spPr>
          <a:xfrm>
            <a:off x="8220456" y="2578608"/>
            <a:ext cx="3822191" cy="1234440"/>
          </a:xfrm>
          <a:prstGeom prst="rect">
            <a:avLst/>
          </a:prstGeom>
          <a:solidFill>
            <a:srgbClr val="E8E8E8"/>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0456" y="2578608"/>
            <a:ext cx="3822191" cy="329184"/>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456" y="2578608"/>
            <a:ext cx="3822191" cy="329184"/>
          </a:xfrm>
          <a:prstGeom prst="rect">
            <a:avLst/>
          </a:prstGeom>
          <a:noFill/>
        </p:spPr>
        <p:txBody>
          <a:bodyPr wrap="square">
            <a:spAutoFit/>
          </a:bodyPr>
          <a:lstStyle/>
          <a:p>
            <a:pPr algn="ctr"/>
            <a:r>
              <a:rPr sz="1200" b="1" i="0">
                <a:solidFill>
                  <a:srgbClr val="FFFFFF"/>
                </a:solidFill>
              </a:rPr>
              <a:t>Pendiente</a:t>
            </a:r>
          </a:p>
        </p:txBody>
      </p:sp>
      <p:sp>
        <p:nvSpPr>
          <p:cNvPr id="23" name="TextBox 22"/>
          <p:cNvSpPr txBox="1"/>
          <p:nvPr/>
        </p:nvSpPr>
        <p:spPr>
          <a:xfrm>
            <a:off x="8220456" y="2944368"/>
            <a:ext cx="3822191" cy="804672"/>
          </a:xfrm>
          <a:prstGeom prst="rect">
            <a:avLst/>
          </a:prstGeom>
          <a:noFill/>
        </p:spPr>
        <p:txBody>
          <a:bodyPr wrap="square">
            <a:spAutoFit/>
          </a:bodyPr>
          <a:lstStyle/>
          <a:p>
            <a:pPr algn="ctr"/>
            <a:r>
              <a:rPr sz="1300" b="1" i="0">
                <a:solidFill>
                  <a:srgbClr val="666666"/>
                </a:solidFill>
              </a:rPr>
              <a:t>3 etapas por realizar
(Mezclas, Desp., Cierre)</a:t>
            </a:r>
          </a:p>
        </p:txBody>
      </p:sp>
      <p:sp>
        <p:nvSpPr>
          <p:cNvPr id="24" name="Rectangle 23"/>
          <p:cNvSpPr/>
          <p:nvPr/>
        </p:nvSpPr>
        <p:spPr>
          <a:xfrm>
            <a:off x="320040" y="3950208"/>
            <a:ext cx="11548872"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050791"/>
            <a:ext cx="3657600" cy="274320"/>
          </a:xfrm>
          <a:prstGeom prst="rect">
            <a:avLst/>
          </a:prstGeom>
          <a:noFill/>
        </p:spPr>
        <p:txBody>
          <a:bodyPr wrap="square">
            <a:spAutoFit/>
          </a:bodyPr>
          <a:lstStyle/>
          <a:p>
            <a:pPr algn="l"/>
            <a:r>
              <a:rPr sz="1200" b="1" i="0">
                <a:solidFill>
                  <a:srgbClr val="8B3A00"/>
                </a:solidFill>
              </a:rPr>
              <a:t>Puntos clave del proceso:</a:t>
            </a:r>
          </a:p>
        </p:txBody>
      </p:sp>
      <p:sp>
        <p:nvSpPr>
          <p:cNvPr id="26" name="Rectangle 25"/>
          <p:cNvSpPr/>
          <p:nvPr/>
        </p:nvSpPr>
        <p:spPr>
          <a:xfrm>
            <a:off x="320040" y="4389120"/>
            <a:ext cx="11548872"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4389120"/>
            <a:ext cx="54864" cy="347472"/>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425696"/>
            <a:ext cx="11292840" cy="274320"/>
          </a:xfrm>
          <a:prstGeom prst="rect">
            <a:avLst/>
          </a:prstGeom>
          <a:noFill/>
        </p:spPr>
        <p:txBody>
          <a:bodyPr wrap="square">
            <a:spAutoFit/>
          </a:bodyPr>
          <a:lstStyle/>
          <a:p>
            <a:pPr algn="l"/>
            <a:r>
              <a:rPr sz="1100" b="0" i="0">
                <a:solidFill>
                  <a:srgbClr val="1A1A1A"/>
                </a:solidFill>
              </a:rPr>
              <a:t>La colaboradora maneja los primeros 3 pasos del flujo con autonomia.</a:t>
            </a:r>
          </a:p>
        </p:txBody>
      </p:sp>
      <p:sp>
        <p:nvSpPr>
          <p:cNvPr id="29" name="Rectangle 28"/>
          <p:cNvSpPr/>
          <p:nvPr/>
        </p:nvSpPr>
        <p:spPr>
          <a:xfrm>
            <a:off x="320040" y="4773168"/>
            <a:ext cx="11548872" cy="34747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 y="4773168"/>
            <a:ext cx="54864" cy="347472"/>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809744"/>
            <a:ext cx="11292840" cy="274320"/>
          </a:xfrm>
          <a:prstGeom prst="rect">
            <a:avLst/>
          </a:prstGeom>
          <a:noFill/>
        </p:spPr>
        <p:txBody>
          <a:bodyPr wrap="square">
            <a:spAutoFit/>
          </a:bodyPr>
          <a:lstStyle/>
          <a:p>
            <a:pPr algn="l"/>
            <a:r>
              <a:rPr sz="1100" b="0" i="0">
                <a:solidFill>
                  <a:srgbClr val="1A1A1A"/>
                </a:solidFill>
              </a:rPr>
              <a:t>Todos los datos de mayo estan en estado CON ANALISIS — listos para mezclar.</a:t>
            </a:r>
          </a:p>
        </p:txBody>
      </p:sp>
      <p:sp>
        <p:nvSpPr>
          <p:cNvPr id="32" name="Rectangle 31"/>
          <p:cNvSpPr/>
          <p:nvPr/>
        </p:nvSpPr>
        <p:spPr>
          <a:xfrm>
            <a:off x="320040" y="5157216"/>
            <a:ext cx="11548872" cy="34747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5157216"/>
            <a:ext cx="54864" cy="347472"/>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193792"/>
            <a:ext cx="11292840" cy="274320"/>
          </a:xfrm>
          <a:prstGeom prst="rect">
            <a:avLst/>
          </a:prstGeom>
          <a:noFill/>
        </p:spPr>
        <p:txBody>
          <a:bodyPr wrap="square">
            <a:spAutoFit/>
          </a:bodyPr>
          <a:lstStyle/>
          <a:p>
            <a:pPr algn="l"/>
            <a:r>
              <a:rPr sz="1100" b="0" i="0">
                <a:solidFill>
                  <a:srgbClr val="1A1A1A"/>
                </a:solidFill>
              </a:rPr>
              <a:t>La trazabilidad del flujo es completa: cada dumpada tiene su muestra y su ley registradas.</a:t>
            </a:r>
          </a:p>
        </p:txBody>
      </p:sp>
      <p:sp>
        <p:nvSpPr>
          <p:cNvPr id="35" name="Rectangle 34"/>
          <p:cNvSpPr/>
          <p:nvPr/>
        </p:nvSpPr>
        <p:spPr>
          <a:xfrm>
            <a:off x="320040" y="5541264"/>
            <a:ext cx="11548872" cy="34747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0040" y="5541264"/>
            <a:ext cx="54864" cy="347472"/>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577840"/>
            <a:ext cx="11292840" cy="274320"/>
          </a:xfrm>
          <a:prstGeom prst="rect">
            <a:avLst/>
          </a:prstGeom>
          <a:noFill/>
        </p:spPr>
        <p:txBody>
          <a:bodyPr wrap="square">
            <a:spAutoFit/>
          </a:bodyPr>
          <a:lstStyle/>
          <a:p>
            <a:pPr algn="l"/>
            <a:r>
              <a:rPr sz="1100" b="0" i="0">
                <a:solidFill>
                  <a:srgbClr val="1A1A1A"/>
                </a:solidFill>
              </a:rPr>
              <a:t>El siguiente hito es la creacion de mezclas y el despacho de los lotes de mayo.</a:t>
            </a:r>
          </a:p>
        </p:txBody>
      </p:sp>
      <p:sp>
        <p:nvSpPr>
          <p:cNvPr id="38" name="Rectangle 37"/>
          <p:cNvSpPr/>
          <p:nvPr/>
        </p:nvSpPr>
        <p:spPr>
          <a:xfrm>
            <a:off x="320040" y="5989320"/>
            <a:ext cx="11548872" cy="384048"/>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007608"/>
            <a:ext cx="11338560" cy="347472"/>
          </a:xfrm>
          <a:prstGeom prst="rect">
            <a:avLst/>
          </a:prstGeom>
          <a:noFill/>
        </p:spPr>
        <p:txBody>
          <a:bodyPr wrap="square">
            <a:spAutoFit/>
          </a:bodyPr>
          <a:lstStyle/>
          <a:p>
            <a:pPr algn="ctr"/>
            <a:r>
              <a:rPr sz="1150" b="1" i="0">
                <a:solidFill>
                  <a:srgbClr val="FFFFFF"/>
                </a:solidFill>
              </a:rPr>
              <a:t>El proceso avanza de manera ordenada. La colaboradora esta adquiriendo el manejo del sistema.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